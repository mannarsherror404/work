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9235440" cy="109728"/>
          </a:xfrm>
          <a:prstGeom prst="rect">
            <a:avLst/>
          </a:prstGeom>
          <a:solidFill>
            <a:srgbClr val="D5D0C2"/>
          </a:solidFill>
          <a:ln w="12700">
            <a:solidFill>
              <a:srgbClr val="D5D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19488" y="210312"/>
            <a:ext cx="841248" cy="201168"/>
          </a:xfrm>
          <a:prstGeom prst="rect">
            <a:avLst/>
          </a:prstGeom>
          <a:solidFill>
            <a:srgbClr val="3B3833"/>
          </a:solidFill>
          <a:ln w="12700">
            <a:solidFill>
              <a:srgbClr val="3B3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32764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3B3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TEJAS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475720" y="62910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10698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60120" y="1298448"/>
            <a:ext cx="512064" cy="457200"/>
          </a:xfrm>
          <a:prstGeom prst="rect">
            <a:avLst/>
          </a:prstGeom>
          <a:solidFill>
            <a:srgbClr val="3B3833"/>
          </a:solidFill>
          <a:ln w="12700">
            <a:solidFill>
              <a:srgbClr val="3B38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8988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54480" y="1298448"/>
            <a:ext cx="4224528" cy="457200"/>
          </a:xfrm>
          <a:prstGeom prst="rect">
            <a:avLst/>
          </a:prstGeom>
          <a:solidFill>
            <a:srgbClr val="F6F4EF"/>
          </a:solidFill>
          <a:ln w="12700">
            <a:solidFill>
              <a:srgbClr val="DED9CC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14264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Context, Problem definition, Scope, Baseline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1792224"/>
            <a:ext cx="512064" cy="457200"/>
          </a:xfrm>
          <a:prstGeom prst="rect">
            <a:avLst/>
          </a:prstGeom>
          <a:solidFill>
            <a:srgbClr val="D6D1C5"/>
          </a:solidFill>
          <a:ln w="12700">
            <a:solidFill>
              <a:srgbClr val="D6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88366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54480" y="1792224"/>
            <a:ext cx="4224528" cy="457200"/>
          </a:xfrm>
          <a:prstGeom prst="rect">
            <a:avLst/>
          </a:prstGeom>
          <a:solidFill>
            <a:srgbClr val="F6F4EF">
              <a:alpha val="80000"/>
            </a:srgbClr>
          </a:solidFill>
          <a:ln w="12700">
            <a:solidFill>
              <a:srgbClr val="DED9CC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1920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vs Projected Performance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2286000"/>
            <a:ext cx="512064" cy="457200"/>
          </a:xfrm>
          <a:prstGeom prst="rect">
            <a:avLst/>
          </a:prstGeom>
          <a:solidFill>
            <a:srgbClr val="D6D1C5"/>
          </a:solidFill>
          <a:ln w="12700">
            <a:solidFill>
              <a:srgbClr val="D6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37744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54480" y="2286000"/>
            <a:ext cx="4224528" cy="457200"/>
          </a:xfrm>
          <a:prstGeom prst="rect">
            <a:avLst/>
          </a:prstGeom>
          <a:solidFill>
            <a:srgbClr val="F6F4EF">
              <a:alpha val="80000"/>
            </a:srgbClr>
          </a:solidFill>
          <a:ln w="12700">
            <a:solidFill>
              <a:srgbClr val="DED9CC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64208" y="24140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Solution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0120" y="2779776"/>
            <a:ext cx="512064" cy="457200"/>
          </a:xfrm>
          <a:prstGeom prst="rect">
            <a:avLst/>
          </a:prstGeom>
          <a:solidFill>
            <a:srgbClr val="D6D1C5"/>
          </a:solidFill>
          <a:ln w="12700">
            <a:solidFill>
              <a:srgbClr val="D6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8712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554480" y="2779776"/>
            <a:ext cx="4224528" cy="457200"/>
          </a:xfrm>
          <a:prstGeom prst="rect">
            <a:avLst/>
          </a:prstGeom>
          <a:solidFill>
            <a:srgbClr val="F6F4EF">
              <a:alpha val="80000"/>
            </a:srgbClr>
          </a:solidFill>
          <a:ln w="12700">
            <a:solidFill>
              <a:srgbClr val="DED9CC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64208" y="29077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methodology &amp; theory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0120" y="3273552"/>
            <a:ext cx="512064" cy="457200"/>
          </a:xfrm>
          <a:prstGeom prst="rect">
            <a:avLst/>
          </a:prstGeom>
          <a:solidFill>
            <a:srgbClr val="D6D1C5"/>
          </a:solidFill>
          <a:ln w="12700">
            <a:solidFill>
              <a:srgbClr val="D6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36499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554480" y="3273552"/>
            <a:ext cx="4224528" cy="457200"/>
          </a:xfrm>
          <a:prstGeom prst="rect">
            <a:avLst/>
          </a:prstGeom>
          <a:solidFill>
            <a:srgbClr val="F6F4EF">
              <a:alpha val="80000"/>
            </a:srgbClr>
          </a:solidFill>
          <a:ln w="12700">
            <a:solidFill>
              <a:srgbClr val="DED9CC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34015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Design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0120" y="3767328"/>
            <a:ext cx="512064" cy="457200"/>
          </a:xfrm>
          <a:prstGeom prst="rect">
            <a:avLst/>
          </a:prstGeom>
          <a:solidFill>
            <a:srgbClr val="D6D1C5"/>
          </a:solidFill>
          <a:ln w="12700">
            <a:solidFill>
              <a:srgbClr val="D6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85876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554480" y="3767328"/>
            <a:ext cx="4224528" cy="457200"/>
          </a:xfrm>
          <a:prstGeom prst="rect">
            <a:avLst/>
          </a:prstGeom>
          <a:solidFill>
            <a:srgbClr val="F6F4EF">
              <a:alpha val="80000"/>
            </a:srgbClr>
          </a:solidFill>
          <a:ln w="12700">
            <a:solidFill>
              <a:srgbClr val="DED9CC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64208" y="389534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Milestone &amp; Timeline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0120" y="4261104"/>
            <a:ext cx="512064" cy="457200"/>
          </a:xfrm>
          <a:prstGeom prst="rect">
            <a:avLst/>
          </a:prstGeom>
          <a:solidFill>
            <a:srgbClr val="D6D1C5"/>
          </a:solidFill>
          <a:ln w="12700">
            <a:solidFill>
              <a:srgbClr val="D6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3525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554480" y="4261104"/>
            <a:ext cx="4224528" cy="457200"/>
          </a:xfrm>
          <a:prstGeom prst="rect">
            <a:avLst/>
          </a:prstGeom>
          <a:solidFill>
            <a:srgbClr val="F6F4EF">
              <a:alpha val="80000"/>
            </a:srgbClr>
          </a:solidFill>
          <a:ln w="12700">
            <a:solidFill>
              <a:srgbClr val="DED9CC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64208" y="43891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Availability &amp; Constraints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60120" y="4754880"/>
            <a:ext cx="512064" cy="457200"/>
          </a:xfrm>
          <a:prstGeom prst="rect">
            <a:avLst/>
          </a:prstGeom>
          <a:solidFill>
            <a:srgbClr val="D6D1C5"/>
          </a:solidFill>
          <a:ln w="12700">
            <a:solidFill>
              <a:srgbClr val="D6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84632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554480" y="4754880"/>
            <a:ext cx="4224528" cy="457200"/>
          </a:xfrm>
          <a:prstGeom prst="rect">
            <a:avLst/>
          </a:prstGeom>
          <a:solidFill>
            <a:srgbClr val="F6F4EF">
              <a:alpha val="80000"/>
            </a:srgbClr>
          </a:solidFill>
          <a:ln w="12700">
            <a:solidFill>
              <a:srgbClr val="DED9CC">
                <a:alpha val="7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64208" y="48828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and Governance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60120" y="5248656"/>
            <a:ext cx="512064" cy="457200"/>
          </a:xfrm>
          <a:prstGeom prst="rect">
            <a:avLst/>
          </a:prstGeom>
          <a:solidFill>
            <a:srgbClr val="D6D1C5"/>
          </a:solidFill>
          <a:ln w="12700">
            <a:solidFill>
              <a:srgbClr val="D6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534009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554480" y="5248656"/>
            <a:ext cx="4224528" cy="457200"/>
          </a:xfrm>
          <a:prstGeom prst="rect">
            <a:avLst/>
          </a:prstGeom>
          <a:solidFill>
            <a:srgbClr val="F6F4EF">
              <a:alpha val="80000"/>
            </a:srgbClr>
          </a:solidFill>
          <a:ln w="12700">
            <a:solidFill>
              <a:srgbClr val="DED9CC">
                <a:alpha val="7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64208" y="53766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and Mitigation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1234440"/>
            <a:ext cx="4023360" cy="3429000"/>
          </a:xfrm>
          <a:prstGeom prst="rect">
            <a:avLst/>
          </a:prstGeom>
          <a:solidFill>
            <a:srgbClr val="D9D4C8">
              <a:alpha val="82000"/>
            </a:srgbClr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93408" y="1700784"/>
            <a:ext cx="34290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Blast Furnace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HMT Prediction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</a:t>
            </a:r>
            <a:endParaRPr lang="en-US" sz="2500" dirty="0"/>
          </a:p>
        </p:txBody>
      </p:sp>
      <p:sp>
        <p:nvSpPr>
          <p:cNvPr id="45" name="Shape 43"/>
          <p:cNvSpPr/>
          <p:nvPr/>
        </p:nvSpPr>
        <p:spPr>
          <a:xfrm>
            <a:off x="6812280" y="2798064"/>
            <a:ext cx="3063240" cy="1371600"/>
          </a:xfrm>
          <a:prstGeom prst="arc">
            <a:avLst/>
          </a:prstGeom>
          <a:noFill/>
          <a:ln w="25400">
            <a:solidFill>
              <a:srgbClr val="A49A8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76288" y="3977640"/>
            <a:ext cx="1051560" cy="411480"/>
          </a:xfrm>
          <a:prstGeom prst="chevron">
            <a:avLst/>
          </a:prstGeom>
          <a:solidFill>
            <a:srgbClr val="3B3833"/>
          </a:solidFill>
          <a:ln w="12700">
            <a:solidFill>
              <a:srgbClr val="3B38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9400" y="4892040"/>
            <a:ext cx="3886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RIST-RAFT baseline + ML prediction to keep HMT in operating range and reduce RAR.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9235440" cy="109728"/>
          </a:xfrm>
          <a:prstGeom prst="rect">
            <a:avLst/>
          </a:prstGeom>
          <a:solidFill>
            <a:srgbClr val="D5D0C2"/>
          </a:solidFill>
          <a:ln w="12700">
            <a:solidFill>
              <a:srgbClr val="D5D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19488" y="210312"/>
            <a:ext cx="841248" cy="201168"/>
          </a:xfrm>
          <a:prstGeom prst="rect">
            <a:avLst/>
          </a:prstGeom>
          <a:solidFill>
            <a:srgbClr val="3B3833"/>
          </a:solidFill>
          <a:ln w="12700">
            <a:solidFill>
              <a:srgbClr val="3B3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32764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3B3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TEJAS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475720" y="62910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21792" y="566928"/>
            <a:ext cx="10698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Context, Problem definition, Scope, Baseline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11430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Blast Furnace | HMT Prediction Use-Case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30632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1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554480"/>
            <a:ext cx="3063240" cy="320040"/>
          </a:xfrm>
          <a:prstGeom prst="rect">
            <a:avLst/>
          </a:prstGeom>
          <a:solidFill>
            <a:srgbClr val="3B3833"/>
          </a:solidFill>
          <a:ln w="12700">
            <a:solidFill>
              <a:srgbClr val="3B3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627632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029968"/>
            <a:ext cx="2770632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Blast furnace converts iron ore into pig iron through reduction using coke. Efficiency and productivity are directly linked to Hot Metal Temperature (HMT).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995928" y="1554480"/>
            <a:ext cx="30632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1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5928" y="1554480"/>
            <a:ext cx="3063240" cy="320040"/>
          </a:xfrm>
          <a:prstGeom prst="rect">
            <a:avLst/>
          </a:prstGeom>
          <a:solidFill>
            <a:srgbClr val="3B3833"/>
          </a:solidFill>
          <a:ln w="12700">
            <a:solidFill>
              <a:srgbClr val="3B38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5656" y="1627632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42232" y="2029968"/>
            <a:ext cx="2770632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HMT response is slow (~8 hours) and both high / low temperatures impact performance, maintenance cost and slag extraction.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333488" y="1554480"/>
            <a:ext cx="30632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1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33488" y="1554480"/>
            <a:ext cx="3063240" cy="320040"/>
          </a:xfrm>
          <a:prstGeom prst="rect">
            <a:avLst/>
          </a:prstGeom>
          <a:solidFill>
            <a:srgbClr val="3B3833"/>
          </a:solidFill>
          <a:ln w="12700">
            <a:solidFill>
              <a:srgbClr val="3B38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3216" y="1627632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79792" y="2029968"/>
            <a:ext cx="2770632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RIST-RAFT baseline and ML prediction layer to guide operating changes for PCI, moisture, oxygen enrichment and coke rate.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8368" y="4251960"/>
            <a:ext cx="9738360" cy="1325880"/>
          </a:xfrm>
          <a:prstGeom prst="rect">
            <a:avLst/>
          </a:prstGeom>
          <a:solidFill>
            <a:srgbClr val="E7E3D7"/>
          </a:solidFill>
          <a:ln w="12700">
            <a:solidFill>
              <a:srgbClr val="C7C1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074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3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Inputs / Manipulated Levers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8680" y="4736592"/>
            <a:ext cx="199339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7C1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786884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 blast temperature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3200400" y="4736592"/>
            <a:ext cx="199339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7C1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4786884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 blast volume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5532120" y="4736592"/>
            <a:ext cx="199339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7C1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5272" y="4786884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PCI rate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7863840" y="4736592"/>
            <a:ext cx="199339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7C1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36992" y="4786884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Moisture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868680" y="5084064"/>
            <a:ext cx="199339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7C1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134356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Oxygen enrichment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3200400" y="5084064"/>
            <a:ext cx="199339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7C1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5134356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Coke rate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5532120" y="5084064"/>
            <a:ext cx="199339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7C1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05272" y="5134356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Ore / coke ratio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7863840" y="5084064"/>
            <a:ext cx="199339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7C1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36992" y="5134356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Blast pressure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658368" y="5806440"/>
            <a:ext cx="9875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Target: keep HMT within ~1480-1500C and reduce Reducing Agent Ratio through timely operator guidance.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9235440" cy="109728"/>
          </a:xfrm>
          <a:prstGeom prst="rect">
            <a:avLst/>
          </a:prstGeom>
          <a:solidFill>
            <a:srgbClr val="D5D0C2"/>
          </a:solidFill>
          <a:ln w="12700">
            <a:solidFill>
              <a:srgbClr val="D5D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19488" y="210312"/>
            <a:ext cx="841248" cy="201168"/>
          </a:xfrm>
          <a:prstGeom prst="rect">
            <a:avLst/>
          </a:prstGeom>
          <a:solidFill>
            <a:srgbClr val="3B3833"/>
          </a:solidFill>
          <a:ln w="12700">
            <a:solidFill>
              <a:srgbClr val="3B3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32764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3B3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TEJAS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475720" y="62910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21792" y="566928"/>
            <a:ext cx="10698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Solution Design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58368" y="111556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furnace data to prescriptive operator guidance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74520"/>
            <a:ext cx="1874520" cy="566928"/>
          </a:xfrm>
          <a:prstGeom prst="chevron">
            <a:avLst/>
          </a:prstGeom>
          <a:solidFill>
            <a:srgbClr val="A49A83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048256"/>
            <a:ext cx="1508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 Layer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828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C7C1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971800"/>
            <a:ext cx="157276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Historian / DCS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quality data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logs &amp; recipes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743200" y="1874520"/>
            <a:ext cx="1874520" cy="566928"/>
          </a:xfrm>
          <a:prstGeom prst="chevron">
            <a:avLst/>
          </a:prstGeom>
          <a:solidFill>
            <a:srgbClr val="A49A83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2048256"/>
            <a:ext cx="1508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 Layer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24912" y="2788920"/>
            <a:ext cx="1828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C7C1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52928" y="2971800"/>
            <a:ext cx="157276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Shutdown filtering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/ invalid sensor filtering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averaging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828032" y="1874520"/>
            <a:ext cx="1874520" cy="566928"/>
          </a:xfrm>
          <a:prstGeom prst="chevron">
            <a:avLst/>
          </a:prstGeom>
          <a:solidFill>
            <a:srgbClr val="3B3833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048256"/>
            <a:ext cx="1508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Layer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09744" y="2788920"/>
            <a:ext cx="1828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C7C1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971800"/>
            <a:ext cx="157276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RIST-RAFT baseline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HMT prediction ML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recommendation logic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912864" y="1874520"/>
            <a:ext cx="1874520" cy="566928"/>
          </a:xfrm>
          <a:prstGeom prst="chevron">
            <a:avLst/>
          </a:prstGeom>
          <a:solidFill>
            <a:srgbClr val="A49A83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048256"/>
            <a:ext cx="1508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Layer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94576" y="2788920"/>
            <a:ext cx="1828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C7C1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2971800"/>
            <a:ext cx="157276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PCI / moisture suggestions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Coke &amp; blast-rate checks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handling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997696" y="1874520"/>
            <a:ext cx="1874520" cy="566928"/>
          </a:xfrm>
          <a:prstGeom prst="chevron">
            <a:avLst/>
          </a:prstGeom>
          <a:solidFill>
            <a:srgbClr val="A49A83"/>
          </a:solidFill>
          <a:ln w="12700">
            <a:solidFill>
              <a:srgbClr val="F6F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5712" y="2048256"/>
            <a:ext cx="1508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Layer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79408" y="2788920"/>
            <a:ext cx="1828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C7C1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07424" y="2971800"/>
            <a:ext cx="157276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30-min recommendations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action points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HMT range monitoring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051560" y="4645152"/>
            <a:ext cx="9052560" cy="960120"/>
          </a:xfrm>
          <a:prstGeom prst="rect">
            <a:avLst/>
          </a:prstGeom>
          <a:solidFill>
            <a:srgbClr val="EEEAE1"/>
          </a:solidFill>
          <a:ln w="12700">
            <a:solidFill>
              <a:srgbClr val="C7C1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47823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3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operating rhythm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325880" y="5074920"/>
            <a:ext cx="42519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6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HMT well in advance (~8-hour response window) using historical and high-frequency signals.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5715000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60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reverse RIST-RAFT recommendations to control PCI, moisture and coke-rate levers.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1234440" y="578815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output is guidance, not automation: plant team validates suggestions before operational changes.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JSW / PwC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 Furnace Performance Improvement</dc:title>
  <dc:subject>Blast Furnace HMT Prediction starter slides</dc:subject>
  <dc:creator>Codex</dc:creator>
  <cp:lastModifiedBy>Codex</cp:lastModifiedBy>
  <cp:revision>1</cp:revision>
  <dcterms:created xsi:type="dcterms:W3CDTF">2026-06-04T00:09:23Z</dcterms:created>
  <dcterms:modified xsi:type="dcterms:W3CDTF">2026-06-04T00:09:23Z</dcterms:modified>
</cp:coreProperties>
</file>