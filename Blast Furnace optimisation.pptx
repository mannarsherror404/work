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p:restoredTop sz="94610"/>
  </p:normalViewPr>
  <p:slideViewPr>
    <p:cSldViewPr snapToGrid="0" snapToObjects="1">
      <p:cViewPr varScale="1">
        <p:scale>
          <a:sx n="120" d="100"/>
          <a:sy n="120" d="100"/>
        </p:scale>
        <p:origin x="18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800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082C1D5-68C1-DF78-02AF-49F16F2CA72A}"/>
              </a:ext>
            </a:extLst>
          </p:cNvPr>
          <p:cNvPicPr>
            <a:picLocks noChangeAspect="1"/>
          </p:cNvPicPr>
          <p:nvPr/>
        </p:nvPicPr>
        <p:blipFill>
          <a:blip r:embed="rId3"/>
          <a:stretch>
            <a:fillRect/>
          </a:stretch>
        </p:blipFill>
        <p:spPr>
          <a:xfrm>
            <a:off x="7616952" y="0"/>
            <a:ext cx="4572000" cy="6858000"/>
          </a:xfrm>
          <a:prstGeom prst="rect">
            <a:avLst/>
          </a:prstGeom>
        </p:spPr>
      </p:pic>
      <p:sp>
        <p:nvSpPr>
          <p:cNvPr id="4" name="Text 2"/>
          <p:cNvSpPr/>
          <p:nvPr/>
        </p:nvSpPr>
        <p:spPr>
          <a:xfrm>
            <a:off x="10607040" y="320040"/>
            <a:ext cx="1097280" cy="310896"/>
          </a:xfrm>
          <a:prstGeom prst="rect">
            <a:avLst/>
          </a:prstGeom>
          <a:noFill/>
          <a:ln/>
        </p:spPr>
        <p:txBody>
          <a:bodyPr wrap="square" lIns="0" tIns="0" rIns="0" bIns="0" rtlCol="0" anchor="ctr"/>
          <a:lstStyle/>
          <a:p>
            <a:pPr marL="0" indent="0" algn="r">
              <a:buNone/>
            </a:pPr>
            <a:endParaRPr lang="en-US" sz="2600" dirty="0"/>
          </a:p>
        </p:txBody>
      </p:sp>
      <p:sp>
        <p:nvSpPr>
          <p:cNvPr id="5" name="Text 3"/>
          <p:cNvSpPr/>
          <p:nvPr/>
        </p:nvSpPr>
        <p:spPr>
          <a:xfrm>
            <a:off x="10195560" y="667512"/>
            <a:ext cx="1508760" cy="164592"/>
          </a:xfrm>
          <a:prstGeom prst="rect">
            <a:avLst/>
          </a:prstGeom>
          <a:noFill/>
          <a:ln/>
        </p:spPr>
        <p:txBody>
          <a:bodyPr wrap="square" lIns="0" tIns="0" rIns="0" bIns="0" rtlCol="0" anchor="ctr"/>
          <a:lstStyle/>
          <a:p>
            <a:pPr marL="0" indent="0" algn="r">
              <a:buNone/>
            </a:pPr>
            <a:endParaRPr lang="en-US" sz="800" dirty="0"/>
          </a:p>
        </p:txBody>
      </p:sp>
      <p:sp>
        <p:nvSpPr>
          <p:cNvPr id="6" name="Text 4"/>
          <p:cNvSpPr/>
          <p:nvPr/>
        </p:nvSpPr>
        <p:spPr>
          <a:xfrm>
            <a:off x="804672" y="1548765"/>
            <a:ext cx="6583680" cy="1280160"/>
          </a:xfrm>
          <a:prstGeom prst="rect">
            <a:avLst/>
          </a:prstGeom>
          <a:noFill/>
          <a:ln/>
        </p:spPr>
        <p:txBody>
          <a:bodyPr wrap="square" lIns="0" tIns="0" rIns="0" bIns="0" rtlCol="0" anchor="ctr"/>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Blast Furnace Optimization</a:t>
            </a:r>
            <a:endParaRPr lang="en-US" sz="4000" dirty="0"/>
          </a:p>
          <a:p>
            <a:pPr marL="0" indent="0">
              <a:buNone/>
            </a:pPr>
            <a:r>
              <a:rPr lang="en-US" sz="4000" b="1" dirty="0">
                <a:solidFill>
                  <a:srgbClr val="FFFFFF"/>
                </a:solidFill>
                <a:latin typeface="Aptos Display" pitchFamily="34" charset="0"/>
                <a:ea typeface="Aptos Display" pitchFamily="34" charset="-122"/>
                <a:cs typeface="Aptos Display" pitchFamily="34" charset="-120"/>
              </a:rPr>
              <a:t>Approach Note</a:t>
            </a:r>
            <a:endParaRPr lang="en-US" sz="4000" dirty="0"/>
          </a:p>
        </p:txBody>
      </p:sp>
      <p:sp>
        <p:nvSpPr>
          <p:cNvPr id="7" name="Text 5"/>
          <p:cNvSpPr/>
          <p:nvPr/>
        </p:nvSpPr>
        <p:spPr>
          <a:xfrm>
            <a:off x="804672" y="3209544"/>
            <a:ext cx="4937760" cy="219456"/>
          </a:xfrm>
          <a:prstGeom prst="rect">
            <a:avLst/>
          </a:prstGeom>
          <a:noFill/>
          <a:ln/>
        </p:spPr>
        <p:txBody>
          <a:bodyPr wrap="square" lIns="0" tIns="0" rIns="0" bIns="0" rtlCol="0" anchor="ctr"/>
          <a:lstStyle/>
          <a:p>
            <a:pPr marL="0" indent="0">
              <a:buNone/>
            </a:pPr>
            <a:r>
              <a:rPr lang="en-US" sz="1300" dirty="0">
                <a:solidFill>
                  <a:srgbClr val="D9E3F0"/>
                </a:solidFill>
                <a:latin typeface="Aptos" pitchFamily="34" charset="0"/>
                <a:ea typeface="Aptos" pitchFamily="34" charset="-122"/>
                <a:cs typeface="Aptos" pitchFamily="34" charset="-120"/>
              </a:rPr>
              <a:t>RIST-RAFT | HMT Prediction | ETA CO2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2</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Agenda</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41248" y="1417320"/>
            <a:ext cx="1965960" cy="4526280"/>
          </a:xfrm>
          <a:prstGeom prst="rect">
            <a:avLst/>
          </a:prstGeom>
          <a:solidFill>
            <a:srgbClr val="B63A3B"/>
          </a:solidFill>
          <a:ln w="12700">
            <a:solidFill>
              <a:srgbClr val="9E2A2B">
                <a:alpha val="0"/>
              </a:srgbClr>
            </a:solidFill>
            <a:prstDash val="solid"/>
          </a:ln>
        </p:spPr>
        <p:txBody>
          <a:bodyPr/>
          <a:lstStyle/>
          <a:p>
            <a:endParaRPr lang="en-US"/>
          </a:p>
        </p:txBody>
      </p:sp>
      <p:sp>
        <p:nvSpPr>
          <p:cNvPr id="11" name="Text 9"/>
          <p:cNvSpPr/>
          <p:nvPr/>
        </p:nvSpPr>
        <p:spPr>
          <a:xfrm>
            <a:off x="1325880" y="3657600"/>
            <a:ext cx="914400" cy="310896"/>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Index</a:t>
            </a:r>
            <a:endParaRPr lang="en-US" sz="2200" dirty="0"/>
          </a:p>
        </p:txBody>
      </p:sp>
      <p:sp>
        <p:nvSpPr>
          <p:cNvPr id="12" name="Shape 10"/>
          <p:cNvSpPr/>
          <p:nvPr/>
        </p:nvSpPr>
        <p:spPr>
          <a:xfrm>
            <a:off x="3063240" y="1325880"/>
            <a:ext cx="7406640" cy="4800600"/>
          </a:xfrm>
          <a:prstGeom prst="rect">
            <a:avLst/>
          </a:prstGeom>
          <a:solidFill>
            <a:srgbClr val="FFFFFF"/>
          </a:solidFill>
          <a:ln w="15240">
            <a:solidFill>
              <a:srgbClr val="D9D4CA"/>
            </a:solidFill>
            <a:prstDash val="solid"/>
          </a:ln>
        </p:spPr>
        <p:txBody>
          <a:bodyPr/>
          <a:lstStyle/>
          <a:p>
            <a:endParaRPr lang="en-US"/>
          </a:p>
        </p:txBody>
      </p:sp>
      <p:sp>
        <p:nvSpPr>
          <p:cNvPr id="13" name="Text 11"/>
          <p:cNvSpPr/>
          <p:nvPr/>
        </p:nvSpPr>
        <p:spPr>
          <a:xfrm>
            <a:off x="3383280" y="1645920"/>
            <a:ext cx="6720840" cy="4297680"/>
          </a:xfrm>
          <a:prstGeom prst="rect">
            <a:avLst/>
          </a:prstGeom>
          <a:noFill/>
          <a:ln/>
        </p:spPr>
        <p:txBody>
          <a:bodyPr wrap="square" lIns="0" tIns="0" rIns="0" bIns="0" rtlCol="0" anchor="ctr"/>
          <a:lstStyle/>
          <a:p>
            <a:pPr marL="457200" indent="-457200">
              <a:buAutoNum type="arabicPeriod"/>
            </a:pPr>
            <a:r>
              <a:rPr lang="en-US" sz="1900" b="1" dirty="0">
                <a:solidFill>
                  <a:srgbClr val="14213D"/>
                </a:solidFill>
                <a:latin typeface="Aptos" pitchFamily="34" charset="0"/>
                <a:ea typeface="Aptos" pitchFamily="34" charset="-122"/>
                <a:cs typeface="Aptos" pitchFamily="34" charset="-120"/>
              </a:rPr>
              <a:t>Executive summary and business context</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Blast furnace process and operating challenge</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Data landscape and preprocessing approach</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Use case 1: RIST-RAFT methodology and outputs</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Use case 2: HMT prediction approach </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Use case 3: ETA CO2 </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Integrated advisory framework</a:t>
            </a:r>
          </a:p>
          <a:p>
            <a:pPr marL="457200" indent="-457200">
              <a:buAutoNum type="arabicPeriod"/>
            </a:pPr>
            <a:r>
              <a:rPr lang="en-US" sz="1900" b="1" dirty="0">
                <a:solidFill>
                  <a:srgbClr val="14213D"/>
                </a:solidFill>
                <a:latin typeface="Aptos" pitchFamily="34" charset="0"/>
                <a:ea typeface="Aptos" pitchFamily="34" charset="-122"/>
                <a:cs typeface="Aptos" pitchFamily="34" charset="-120"/>
              </a:rPr>
              <a:t>Roadmap and next steps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3</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Executive Summary</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347472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321868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Objective</a:t>
            </a:r>
            <a:endParaRPr lang="en-US" sz="1500" dirty="0"/>
          </a:p>
        </p:txBody>
      </p:sp>
      <p:sp>
        <p:nvSpPr>
          <p:cNvPr id="12" name="Text 10"/>
          <p:cNvSpPr/>
          <p:nvPr/>
        </p:nvSpPr>
        <p:spPr>
          <a:xfrm>
            <a:off x="996696" y="1655064"/>
            <a:ext cx="321868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Develop a blast furnace advisory framework that combines first-principles logic and predictive analytics to improve hot metal temperature visibility and support operator decision-making.</a:t>
            </a:r>
            <a:endParaRPr lang="en-US" sz="1150" dirty="0"/>
          </a:p>
        </p:txBody>
      </p:sp>
      <p:sp>
        <p:nvSpPr>
          <p:cNvPr id="13" name="Shape 11"/>
          <p:cNvSpPr/>
          <p:nvPr/>
        </p:nvSpPr>
        <p:spPr>
          <a:xfrm>
            <a:off x="4526280" y="1325880"/>
            <a:ext cx="315468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4654296" y="1417320"/>
            <a:ext cx="28986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Primary Use Cases</a:t>
            </a:r>
            <a:endParaRPr lang="en-US" sz="1500" dirty="0"/>
          </a:p>
        </p:txBody>
      </p:sp>
      <p:sp>
        <p:nvSpPr>
          <p:cNvPr id="15" name="Text 13"/>
          <p:cNvSpPr/>
          <p:nvPr/>
        </p:nvSpPr>
        <p:spPr>
          <a:xfrm>
            <a:off x="4654296" y="1655064"/>
            <a:ext cx="289864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1. RIST-RAFT for blast rate and coke rate guidance</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2. HMT prediction for early temperature visibility</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3. ETA CO2 as a gas-state linked supporting use case</a:t>
            </a:r>
            <a:endParaRPr lang="en-US" sz="1150" dirty="0"/>
          </a:p>
        </p:txBody>
      </p:sp>
      <p:sp>
        <p:nvSpPr>
          <p:cNvPr id="16" name="Shape 14"/>
          <p:cNvSpPr/>
          <p:nvPr/>
        </p:nvSpPr>
        <p:spPr>
          <a:xfrm>
            <a:off x="7863840" y="1325880"/>
            <a:ext cx="342900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17" name="Text 15"/>
          <p:cNvSpPr/>
          <p:nvPr/>
        </p:nvSpPr>
        <p:spPr>
          <a:xfrm>
            <a:off x="7991856" y="1417320"/>
            <a:ext cx="31729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Business Intent</a:t>
            </a:r>
            <a:endParaRPr lang="en-US" sz="1500" dirty="0"/>
          </a:p>
        </p:txBody>
      </p:sp>
      <p:sp>
        <p:nvSpPr>
          <p:cNvPr id="18" name="Text 16"/>
          <p:cNvSpPr/>
          <p:nvPr/>
        </p:nvSpPr>
        <p:spPr>
          <a:xfrm>
            <a:off x="7991856" y="1655064"/>
            <a:ext cx="317296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Reduce hot metal temperature variability, improve operating consistency, and provide structured recommendations on controllable parameters such as coke, PCI, oxygen enrichment and blast-related conditions.</a:t>
            </a:r>
            <a:endParaRPr lang="en-US" sz="1150" dirty="0"/>
          </a:p>
        </p:txBody>
      </p:sp>
      <p:sp>
        <p:nvSpPr>
          <p:cNvPr id="19" name="Text 17"/>
          <p:cNvSpPr/>
          <p:nvPr/>
        </p:nvSpPr>
        <p:spPr>
          <a:xfrm>
            <a:off x="1005840" y="3657600"/>
            <a:ext cx="10332720" cy="2011680"/>
          </a:xfrm>
          <a:prstGeom prst="rect">
            <a:avLst/>
          </a:prstGeom>
          <a:noFill/>
          <a:ln/>
        </p:spPr>
        <p:txBody>
          <a:bodyPr wrap="square" lIns="25400" tIns="25400" rIns="25400" bIns="25400" rtlCol="0" anchor="t"/>
          <a:lstStyle/>
          <a:p>
            <a:pPr marL="152400" indent="-152400">
              <a:buSzPct val="100000"/>
              <a:buChar char="•"/>
            </a:pPr>
            <a:r>
              <a:rPr lang="en-US" sz="1600" dirty="0">
                <a:solidFill>
                  <a:srgbClr val="1A1F2E"/>
                </a:solidFill>
                <a:latin typeface="Aptos" pitchFamily="34" charset="0"/>
                <a:ea typeface="Aptos" pitchFamily="34" charset="-122"/>
                <a:cs typeface="Aptos" pitchFamily="34" charset="-120"/>
              </a:rPr>
              <a:t>Blast furnace performance is strongly linked to thermal balance, gas behavior, burden descent and tap-hole operating conditions.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4</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Business Context and Problem Statement</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5212080" cy="4526280"/>
          </a:xfrm>
          <a:prstGeom prst="roundRect">
            <a:avLst>
              <a:gd name="adj" fmla="val 1010"/>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49560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Why this matters</a:t>
            </a:r>
            <a:endParaRPr lang="en-US" sz="1500" dirty="0"/>
          </a:p>
        </p:txBody>
      </p:sp>
      <p:sp>
        <p:nvSpPr>
          <p:cNvPr id="12" name="Text 10"/>
          <p:cNvSpPr/>
          <p:nvPr/>
        </p:nvSpPr>
        <p:spPr>
          <a:xfrm>
            <a:off x="996696" y="1655064"/>
            <a:ext cx="4956048" cy="41239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Hot metal temperature directly influences blast furnace productivity, fuel efficiency, slag handling, and downstream steelmaking quality.</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Low HMT can create a chilling effect and make slag extraction difficult. High HMT can reduce efficiency and increase equipment deterioration risk.</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The process is dynamically slow, which limits manual reaction time and makes forward-looking guidance valuable.</a:t>
            </a:r>
            <a:endParaRPr lang="en-US" sz="1150" dirty="0"/>
          </a:p>
        </p:txBody>
      </p:sp>
      <p:sp>
        <p:nvSpPr>
          <p:cNvPr id="13" name="Shape 11"/>
          <p:cNvSpPr/>
          <p:nvPr/>
        </p:nvSpPr>
        <p:spPr>
          <a:xfrm>
            <a:off x="6400800" y="1371600"/>
            <a:ext cx="1828800" cy="256032"/>
          </a:xfrm>
          <a:prstGeom prst="roundRect">
            <a:avLst>
              <a:gd name="adj" fmla="val 14286"/>
            </a:avLst>
          </a:prstGeom>
          <a:solidFill>
            <a:srgbClr val="EAF2FF"/>
          </a:solidFill>
          <a:ln w="12700">
            <a:solidFill>
              <a:srgbClr val="1F5AA6">
                <a:alpha val="0"/>
              </a:srgbClr>
            </a:solidFill>
            <a:prstDash val="solid"/>
          </a:ln>
        </p:spPr>
        <p:txBody>
          <a:bodyPr/>
          <a:lstStyle/>
          <a:p>
            <a:endParaRPr lang="en-US"/>
          </a:p>
        </p:txBody>
      </p:sp>
      <p:sp>
        <p:nvSpPr>
          <p:cNvPr id="14" name="Text 12"/>
          <p:cNvSpPr/>
          <p:nvPr/>
        </p:nvSpPr>
        <p:spPr>
          <a:xfrm>
            <a:off x="6400800" y="1399032"/>
            <a:ext cx="1828800" cy="164592"/>
          </a:xfrm>
          <a:prstGeom prst="rect">
            <a:avLst/>
          </a:prstGeom>
          <a:noFill/>
          <a:ln/>
        </p:spPr>
        <p:txBody>
          <a:bodyPr wrap="square" lIns="0" tIns="0" rIns="0" bIns="0" rtlCol="0" anchor="ctr"/>
          <a:lstStyle/>
          <a:p>
            <a:pPr marL="0" indent="0" algn="ctr">
              <a:buNone/>
            </a:pPr>
            <a:r>
              <a:rPr lang="en-US" sz="1000" b="1" dirty="0">
                <a:solidFill>
                  <a:srgbClr val="1F5AA6"/>
                </a:solidFill>
                <a:latin typeface="Aptos" pitchFamily="34" charset="0"/>
                <a:ea typeface="Aptos" pitchFamily="34" charset="-122"/>
                <a:cs typeface="Aptos" pitchFamily="34" charset="-120"/>
              </a:rPr>
              <a:t>Operational challenges</a:t>
            </a:r>
            <a:endParaRPr lang="en-US" sz="1000" dirty="0"/>
          </a:p>
        </p:txBody>
      </p:sp>
      <p:sp>
        <p:nvSpPr>
          <p:cNvPr id="15" name="Text 13"/>
          <p:cNvSpPr/>
          <p:nvPr/>
        </p:nvSpPr>
        <p:spPr>
          <a:xfrm>
            <a:off x="6355080" y="1737360"/>
            <a:ext cx="4572000" cy="4480560"/>
          </a:xfrm>
          <a:prstGeom prst="rect">
            <a:avLst/>
          </a:prstGeom>
          <a:noFill/>
          <a:ln/>
        </p:spPr>
        <p:txBody>
          <a:bodyPr wrap="square" lIns="25400" tIns="25400" rIns="25400" bIns="25400" rtlCol="0" anchor="t"/>
          <a:lstStyle/>
          <a:p>
            <a:pPr marL="152400" indent="-152400">
              <a:buSzPct val="100000"/>
              <a:buChar char="•"/>
            </a:pPr>
            <a:r>
              <a:rPr lang="en-US" sz="1500" dirty="0">
                <a:solidFill>
                  <a:srgbClr val="1A1F2E"/>
                </a:solidFill>
                <a:latin typeface="Aptos" pitchFamily="34" charset="0"/>
                <a:ea typeface="Aptos" pitchFamily="34" charset="-122"/>
                <a:cs typeface="Aptos" pitchFamily="34" charset="-120"/>
              </a:rPr>
              <a:t>Multiple tap holes with variable operating conditions</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Maintenance can affect tap-hole behavior and measured temperatures</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Gas anomalies, permeability issues and drainage inefficiencies influence furnace state</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Low gas utilisation can indicate declining temperature trend</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Liquid retention time must be minimized to avoid quality drift</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Operators need early warning rather than after-the-fact diagnosis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5</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Use Case Overview</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16736"/>
            <a:ext cx="3429000" cy="3666744"/>
          </a:xfrm>
          <a:prstGeom prst="roundRect">
            <a:avLst>
              <a:gd name="adj" fmla="val 1333"/>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508760"/>
            <a:ext cx="31729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Use Case 1</a:t>
            </a:r>
            <a:endParaRPr lang="en-US" sz="1500" dirty="0"/>
          </a:p>
          <a:p>
            <a:pPr marL="0" indent="0">
              <a:buNone/>
            </a:pPr>
            <a:r>
              <a:rPr lang="en-US" sz="1500" b="1" dirty="0">
                <a:solidFill>
                  <a:srgbClr val="14213D"/>
                </a:solidFill>
                <a:latin typeface="Aptos Display" pitchFamily="34" charset="0"/>
                <a:ea typeface="Aptos Display" pitchFamily="34" charset="-122"/>
                <a:cs typeface="Aptos Display" pitchFamily="34" charset="-120"/>
              </a:rPr>
              <a:t>RIST-RAFT</a:t>
            </a:r>
            <a:endParaRPr lang="en-US" sz="1500" dirty="0"/>
          </a:p>
        </p:txBody>
      </p:sp>
      <p:sp>
        <p:nvSpPr>
          <p:cNvPr id="12" name="Text 10"/>
          <p:cNvSpPr/>
          <p:nvPr/>
        </p:nvSpPr>
        <p:spPr>
          <a:xfrm>
            <a:off x="996696" y="1932813"/>
            <a:ext cx="3172968" cy="2977515"/>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First-principles / domain model used to estimate blast rate and coke rate under different operating conditions, with plant-level correction factors to improve practical fit.</a:t>
            </a:r>
            <a:endParaRPr lang="en-US" sz="1150" dirty="0"/>
          </a:p>
        </p:txBody>
      </p:sp>
      <p:sp>
        <p:nvSpPr>
          <p:cNvPr id="13" name="Shape 11"/>
          <p:cNvSpPr/>
          <p:nvPr/>
        </p:nvSpPr>
        <p:spPr>
          <a:xfrm>
            <a:off x="4407408" y="1316736"/>
            <a:ext cx="3429000" cy="3666744"/>
          </a:xfrm>
          <a:prstGeom prst="roundRect">
            <a:avLst>
              <a:gd name="adj" fmla="val 1333"/>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4535424" y="1508760"/>
            <a:ext cx="31729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Use Case 2</a:t>
            </a:r>
            <a:endParaRPr lang="en-US" sz="1500" dirty="0"/>
          </a:p>
          <a:p>
            <a:pPr marL="0" indent="0">
              <a:buNone/>
            </a:pPr>
            <a:r>
              <a:rPr lang="en-US" sz="1500" b="1" dirty="0">
                <a:solidFill>
                  <a:srgbClr val="14213D"/>
                </a:solidFill>
                <a:latin typeface="Aptos Display" pitchFamily="34" charset="0"/>
                <a:ea typeface="Aptos Display" pitchFamily="34" charset="-122"/>
                <a:cs typeface="Aptos Display" pitchFamily="34" charset="-120"/>
              </a:rPr>
              <a:t>HMT Prediction</a:t>
            </a:r>
            <a:endParaRPr lang="en-US" sz="1500" dirty="0"/>
          </a:p>
        </p:txBody>
      </p:sp>
      <p:sp>
        <p:nvSpPr>
          <p:cNvPr id="15" name="Text 13"/>
          <p:cNvSpPr/>
          <p:nvPr/>
        </p:nvSpPr>
        <p:spPr>
          <a:xfrm>
            <a:off x="4518279" y="1932813"/>
            <a:ext cx="3172968" cy="2977515"/>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Data-driven model to predict hot metal temperature in advance, helping operators intervene on controllable levers before the process moves outside the desired range.</a:t>
            </a:r>
            <a:endParaRPr lang="en-US" sz="1150" dirty="0"/>
          </a:p>
        </p:txBody>
      </p:sp>
      <p:sp>
        <p:nvSpPr>
          <p:cNvPr id="16" name="Shape 14"/>
          <p:cNvSpPr/>
          <p:nvPr/>
        </p:nvSpPr>
        <p:spPr>
          <a:xfrm>
            <a:off x="7955280" y="1316736"/>
            <a:ext cx="3337560" cy="3666744"/>
          </a:xfrm>
          <a:prstGeom prst="roundRect">
            <a:avLst>
              <a:gd name="adj" fmla="val 1370"/>
            </a:avLst>
          </a:prstGeom>
          <a:solidFill>
            <a:srgbClr val="F8F6F1"/>
          </a:solidFill>
          <a:ln w="12700">
            <a:solidFill>
              <a:srgbClr val="D9D4CA"/>
            </a:solidFill>
            <a:prstDash val="solid"/>
          </a:ln>
        </p:spPr>
        <p:txBody>
          <a:bodyPr/>
          <a:lstStyle/>
          <a:p>
            <a:endParaRPr lang="en-US"/>
          </a:p>
        </p:txBody>
      </p:sp>
      <p:sp>
        <p:nvSpPr>
          <p:cNvPr id="17" name="Text 15"/>
          <p:cNvSpPr/>
          <p:nvPr/>
        </p:nvSpPr>
        <p:spPr>
          <a:xfrm>
            <a:off x="8083296" y="1508760"/>
            <a:ext cx="308152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Use Case 3</a:t>
            </a:r>
            <a:endParaRPr lang="en-US" sz="1500" dirty="0"/>
          </a:p>
          <a:p>
            <a:pPr marL="0" indent="0">
              <a:buNone/>
            </a:pPr>
            <a:r>
              <a:rPr lang="en-US" sz="1500" b="1" dirty="0">
                <a:solidFill>
                  <a:srgbClr val="14213D"/>
                </a:solidFill>
                <a:latin typeface="Aptos Display" pitchFamily="34" charset="0"/>
                <a:ea typeface="Aptos Display" pitchFamily="34" charset="-122"/>
                <a:cs typeface="Aptos Display" pitchFamily="34" charset="-120"/>
              </a:rPr>
              <a:t>ETA CO2</a:t>
            </a:r>
            <a:endParaRPr lang="en-US" sz="1500" dirty="0"/>
          </a:p>
        </p:txBody>
      </p:sp>
      <p:sp>
        <p:nvSpPr>
          <p:cNvPr id="18" name="Text 16"/>
          <p:cNvSpPr/>
          <p:nvPr/>
        </p:nvSpPr>
        <p:spPr>
          <a:xfrm>
            <a:off x="8076628" y="1932813"/>
            <a:ext cx="3081528" cy="2977515"/>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Supporting gas-linked use case based on available CO / CO2 measurements, intended to strengthen interpretation of furnace state and operating response.</a:t>
            </a:r>
            <a:endParaRPr lang="en-US" sz="1150" dirty="0"/>
          </a:p>
        </p:txBody>
      </p:sp>
      <p:sp>
        <p:nvSpPr>
          <p:cNvPr id="19" name="Shape 17"/>
          <p:cNvSpPr/>
          <p:nvPr/>
        </p:nvSpPr>
        <p:spPr>
          <a:xfrm>
            <a:off x="3794760" y="5312663"/>
            <a:ext cx="1005840" cy="347472"/>
          </a:xfrm>
          <a:prstGeom prst="chevron">
            <a:avLst/>
          </a:prstGeom>
          <a:solidFill>
            <a:srgbClr val="1F5AA6"/>
          </a:solidFill>
          <a:ln w="12700">
            <a:solidFill>
              <a:srgbClr val="1F5AA6">
                <a:alpha val="0"/>
              </a:srgbClr>
            </a:solidFill>
            <a:prstDash val="solid"/>
          </a:ln>
        </p:spPr>
        <p:txBody>
          <a:bodyPr/>
          <a:lstStyle/>
          <a:p>
            <a:endParaRPr lang="en-US"/>
          </a:p>
        </p:txBody>
      </p:sp>
      <p:sp>
        <p:nvSpPr>
          <p:cNvPr id="20" name="Shape 18"/>
          <p:cNvSpPr/>
          <p:nvPr/>
        </p:nvSpPr>
        <p:spPr>
          <a:xfrm>
            <a:off x="7391402" y="5312091"/>
            <a:ext cx="1005840" cy="347472"/>
          </a:xfrm>
          <a:prstGeom prst="chevron">
            <a:avLst/>
          </a:prstGeom>
          <a:solidFill>
            <a:srgbClr val="1F5AA6"/>
          </a:solidFill>
          <a:ln w="12700">
            <a:solidFill>
              <a:srgbClr val="1F5AA6">
                <a:alpha val="0"/>
              </a:srgbClr>
            </a:solidFill>
            <a:prstDash val="solid"/>
          </a:ln>
        </p:spPr>
        <p:txBody>
          <a:bodyPr/>
          <a:lstStyle/>
          <a:p>
            <a:endParaRPr lang="en-US"/>
          </a:p>
        </p:txBody>
      </p:sp>
      <p:sp>
        <p:nvSpPr>
          <p:cNvPr id="21" name="Text 19"/>
          <p:cNvSpPr/>
          <p:nvPr/>
        </p:nvSpPr>
        <p:spPr>
          <a:xfrm>
            <a:off x="2011680" y="5897880"/>
            <a:ext cx="8138160" cy="256032"/>
          </a:xfrm>
          <a:prstGeom prst="rect">
            <a:avLst/>
          </a:prstGeom>
          <a:noFill/>
          <a:ln/>
        </p:spPr>
        <p:txBody>
          <a:bodyPr wrap="square" lIns="0" tIns="0" rIns="0" bIns="0" rtlCol="0" anchor="ctr"/>
          <a:lstStyle/>
          <a:p>
            <a:pPr marL="0" indent="0" algn="ctr">
              <a:buNone/>
            </a:pPr>
            <a:r>
              <a:rPr lang="en-US" sz="1400" dirty="0">
                <a:solidFill>
                  <a:srgbClr val="5F6B7A"/>
                </a:solidFill>
                <a:latin typeface="Aptos" pitchFamily="34" charset="0"/>
                <a:ea typeface="Aptos" pitchFamily="34" charset="-122"/>
                <a:cs typeface="Aptos" pitchFamily="34" charset="-120"/>
              </a:rPr>
              <a:t>Combined together, these use cases support a structured advisory layer for blast furnace operation.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6</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Blast Furnace Process Understanding</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3291840" cy="4297680"/>
          </a:xfrm>
          <a:prstGeom prst="roundRect">
            <a:avLst>
              <a:gd name="adj" fmla="val 1389"/>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303580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Top Inputs</a:t>
            </a:r>
            <a:endParaRPr lang="en-US" sz="1500" dirty="0"/>
          </a:p>
        </p:txBody>
      </p:sp>
      <p:sp>
        <p:nvSpPr>
          <p:cNvPr id="12" name="Text 10"/>
          <p:cNvSpPr/>
          <p:nvPr/>
        </p:nvSpPr>
        <p:spPr>
          <a:xfrm>
            <a:off x="996696" y="1655064"/>
            <a:ext cx="3035808" cy="38953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Iron carrier: iron ore, pellet and sinter</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Carbon carrier: coke</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Additives: limestone, dolomite and silica</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These are charged from the top of the furnace at room temperature.</a:t>
            </a:r>
            <a:endParaRPr lang="en-US" sz="1150" dirty="0"/>
          </a:p>
        </p:txBody>
      </p:sp>
      <p:sp>
        <p:nvSpPr>
          <p:cNvPr id="13" name="Shape 11"/>
          <p:cNvSpPr/>
          <p:nvPr/>
        </p:nvSpPr>
        <p:spPr>
          <a:xfrm>
            <a:off x="4434840" y="1325880"/>
            <a:ext cx="3154680" cy="4297680"/>
          </a:xfrm>
          <a:prstGeom prst="roundRect">
            <a:avLst>
              <a:gd name="adj" fmla="val 1449"/>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4562856" y="1417320"/>
            <a:ext cx="28986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Bottom / Tuyere Inputs</a:t>
            </a:r>
            <a:endParaRPr lang="en-US" sz="1500" dirty="0"/>
          </a:p>
        </p:txBody>
      </p:sp>
      <p:sp>
        <p:nvSpPr>
          <p:cNvPr id="15" name="Text 13"/>
          <p:cNvSpPr/>
          <p:nvPr/>
        </p:nvSpPr>
        <p:spPr>
          <a:xfrm>
            <a:off x="4562856" y="1655064"/>
            <a:ext cx="2898648" cy="38953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Hot blast air is heated before oxygen addition.</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Reducing gases and fuels are introduced through tuyere-side operation.</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PCI, moisture and oxygen enrichment influence thermal balance and process kinetics.</a:t>
            </a:r>
            <a:endParaRPr lang="en-US" sz="1150" dirty="0"/>
          </a:p>
        </p:txBody>
      </p:sp>
      <p:sp>
        <p:nvSpPr>
          <p:cNvPr id="16" name="Shape 14"/>
          <p:cNvSpPr/>
          <p:nvPr/>
        </p:nvSpPr>
        <p:spPr>
          <a:xfrm>
            <a:off x="7863840" y="1325880"/>
            <a:ext cx="3429000" cy="4297680"/>
          </a:xfrm>
          <a:prstGeom prst="roundRect">
            <a:avLst>
              <a:gd name="adj" fmla="val 1333"/>
            </a:avLst>
          </a:prstGeom>
          <a:solidFill>
            <a:srgbClr val="F8F6F1"/>
          </a:solidFill>
          <a:ln w="12700">
            <a:solidFill>
              <a:srgbClr val="D9D4CA"/>
            </a:solidFill>
            <a:prstDash val="solid"/>
          </a:ln>
        </p:spPr>
        <p:txBody>
          <a:bodyPr/>
          <a:lstStyle/>
          <a:p>
            <a:endParaRPr lang="en-US"/>
          </a:p>
        </p:txBody>
      </p:sp>
      <p:sp>
        <p:nvSpPr>
          <p:cNvPr id="17" name="Text 15"/>
          <p:cNvSpPr/>
          <p:nvPr/>
        </p:nvSpPr>
        <p:spPr>
          <a:xfrm>
            <a:off x="7991856" y="1417320"/>
            <a:ext cx="31729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Outputs</a:t>
            </a:r>
            <a:endParaRPr lang="en-US" sz="1500" dirty="0"/>
          </a:p>
        </p:txBody>
      </p:sp>
      <p:sp>
        <p:nvSpPr>
          <p:cNvPr id="18" name="Text 16"/>
          <p:cNvSpPr/>
          <p:nvPr/>
        </p:nvSpPr>
        <p:spPr>
          <a:xfrm>
            <a:off x="7991856" y="1655064"/>
            <a:ext cx="3172968" cy="38953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Tap-hole output: molten pig iron (liquid state) + slag + chemistry indicators such as C, Si, S, P and Mn.</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Top output: reducing gases and by-products including CO, CO2, H2, H2O and N2.</a:t>
            </a:r>
            <a:endParaRPr lang="en-US" sz="1150" dirty="0"/>
          </a:p>
        </p:txBody>
      </p:sp>
      <p:sp>
        <p:nvSpPr>
          <p:cNvPr id="19" name="Text 17"/>
          <p:cNvSpPr/>
          <p:nvPr/>
        </p:nvSpPr>
        <p:spPr>
          <a:xfrm>
            <a:off x="914400" y="5897880"/>
            <a:ext cx="10149840" cy="228600"/>
          </a:xfrm>
          <a:prstGeom prst="rect">
            <a:avLst/>
          </a:prstGeom>
          <a:noFill/>
          <a:ln/>
        </p:spPr>
        <p:txBody>
          <a:bodyPr wrap="square" lIns="0" tIns="0" rIns="0" bIns="0" rtlCol="0" anchor="ctr"/>
          <a:lstStyle/>
          <a:p>
            <a:pPr marL="0" indent="0" algn="ctr">
              <a:buNone/>
            </a:pPr>
            <a:r>
              <a:rPr lang="en-US" sz="1350" dirty="0">
                <a:solidFill>
                  <a:srgbClr val="5F6B7A"/>
                </a:solidFill>
                <a:latin typeface="Aptos" pitchFamily="34" charset="0"/>
                <a:ea typeface="Aptos" pitchFamily="34" charset="-122"/>
                <a:cs typeface="Aptos" pitchFamily="34" charset="-120"/>
              </a:rPr>
              <a:t>The RIST framework models the blast furnace through conservation of mass and energy, linking operating inputs to thermal and material outputs.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7</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Data Landscape and Operational Constraints</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3749040" cy="4480560"/>
          </a:xfrm>
          <a:prstGeom prst="roundRect">
            <a:avLst>
              <a:gd name="adj" fmla="val 1220"/>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349300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Available / Referenced Variables</a:t>
            </a:r>
            <a:endParaRPr lang="en-US" sz="1500" dirty="0"/>
          </a:p>
        </p:txBody>
      </p:sp>
      <p:sp>
        <p:nvSpPr>
          <p:cNvPr id="12" name="Text 10"/>
          <p:cNvSpPr/>
          <p:nvPr/>
        </p:nvSpPr>
        <p:spPr>
          <a:xfrm>
            <a:off x="996696" y="1655064"/>
            <a:ext cx="3493008" cy="4078224"/>
          </a:xfrm>
          <a:prstGeom prst="rect">
            <a:avLst/>
          </a:prstGeom>
          <a:noFill/>
          <a:ln/>
        </p:spPr>
        <p:txBody>
          <a:bodyPr wrap="square" lIns="0" tIns="0" rIns="0" bIns="0" rtlCol="0" anchor="t"/>
          <a:lstStyle/>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Hot blast temperature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Blast rate / pressure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PCI rate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Moisture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Oxygen flow / enrichment</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ETA CO / top gas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Permeability</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Tap-hole temperatures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RAFT</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BFG at tuyere openings</a:t>
            </a:r>
            <a:endParaRPr lang="en-US" sz="1150" dirty="0"/>
          </a:p>
        </p:txBody>
      </p:sp>
      <p:sp>
        <p:nvSpPr>
          <p:cNvPr id="13" name="Shape 11"/>
          <p:cNvSpPr/>
          <p:nvPr/>
        </p:nvSpPr>
        <p:spPr>
          <a:xfrm>
            <a:off x="4800600" y="1325880"/>
            <a:ext cx="2971800" cy="4480560"/>
          </a:xfrm>
          <a:prstGeom prst="roundRect">
            <a:avLst>
              <a:gd name="adj" fmla="val 1538"/>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4928616" y="1417320"/>
            <a:ext cx="27157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Operational Notes</a:t>
            </a:r>
            <a:endParaRPr lang="en-US" sz="1500" dirty="0"/>
          </a:p>
        </p:txBody>
      </p:sp>
      <p:sp>
        <p:nvSpPr>
          <p:cNvPr id="15" name="Text 13"/>
          <p:cNvSpPr/>
          <p:nvPr/>
        </p:nvSpPr>
        <p:spPr>
          <a:xfrm>
            <a:off x="4928616" y="1655064"/>
            <a:ext cx="2715768" cy="4078224"/>
          </a:xfrm>
          <a:prstGeom prst="rect">
            <a:avLst/>
          </a:prstGeom>
          <a:noFill/>
          <a:ln/>
        </p:spPr>
        <p:txBody>
          <a:bodyPr wrap="square" lIns="0" tIns="0" rIns="0" bIns="0" rtlCol="0" anchor="t"/>
          <a:lstStyle/>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16-17 tappings per day</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2 to 4 temperature readings per tap</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Tap remains open for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3-4 tap holes in operation</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Typically, 2 tap holes open during daytime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Maintenance can leave one tap hole unavailable periodically</a:t>
            </a:r>
            <a:endParaRPr lang="en-US" sz="1150" dirty="0"/>
          </a:p>
        </p:txBody>
      </p:sp>
      <p:sp>
        <p:nvSpPr>
          <p:cNvPr id="16" name="Shape 14"/>
          <p:cNvSpPr/>
          <p:nvPr/>
        </p:nvSpPr>
        <p:spPr>
          <a:xfrm>
            <a:off x="7973568" y="1336513"/>
            <a:ext cx="3291840" cy="4480560"/>
          </a:xfrm>
          <a:prstGeom prst="roundRect">
            <a:avLst>
              <a:gd name="adj" fmla="val 1389"/>
            </a:avLst>
          </a:prstGeom>
          <a:solidFill>
            <a:srgbClr val="F8F6F1"/>
          </a:solidFill>
          <a:ln w="12700">
            <a:solidFill>
              <a:srgbClr val="D9D4CA"/>
            </a:solidFill>
            <a:prstDash val="solid"/>
          </a:ln>
        </p:spPr>
        <p:txBody>
          <a:bodyPr/>
          <a:lstStyle/>
          <a:p>
            <a:endParaRPr lang="en-US"/>
          </a:p>
        </p:txBody>
      </p:sp>
      <p:sp>
        <p:nvSpPr>
          <p:cNvPr id="17" name="Text 15"/>
          <p:cNvSpPr/>
          <p:nvPr/>
        </p:nvSpPr>
        <p:spPr>
          <a:xfrm>
            <a:off x="8101584" y="1417320"/>
            <a:ext cx="303580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Observed Constraints</a:t>
            </a:r>
            <a:endParaRPr lang="en-US" sz="1500" dirty="0"/>
          </a:p>
        </p:txBody>
      </p:sp>
      <p:sp>
        <p:nvSpPr>
          <p:cNvPr id="18" name="Text 16"/>
          <p:cNvSpPr/>
          <p:nvPr/>
        </p:nvSpPr>
        <p:spPr>
          <a:xfrm>
            <a:off x="8101584" y="1655064"/>
            <a:ext cx="3035808" cy="4078224"/>
          </a:xfrm>
          <a:prstGeom prst="rect">
            <a:avLst/>
          </a:prstGeom>
          <a:noFill/>
          <a:ln/>
        </p:spPr>
        <p:txBody>
          <a:bodyPr wrap="square" lIns="0" tIns="0" rIns="0" bIns="0" rtlCol="0" anchor="t"/>
          <a:lstStyle/>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Gas analyser quality matters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Practically slag is not measured directly</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Low gas utilisation may indicate temperature drop</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Sensor cross-checking is required</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Burden descent uniformity is observed via multiple sensors / radars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8</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Use Case 1: RIST-RAFT Methodology and Outputs</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4572000" cy="4526280"/>
          </a:xfrm>
          <a:prstGeom prst="roundRect">
            <a:avLst>
              <a:gd name="adj" fmla="val 1010"/>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43159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Model Logic</a:t>
            </a:r>
            <a:endParaRPr lang="en-US" sz="1500" dirty="0"/>
          </a:p>
        </p:txBody>
      </p:sp>
      <p:sp>
        <p:nvSpPr>
          <p:cNvPr id="12" name="Text 10"/>
          <p:cNvSpPr/>
          <p:nvPr/>
        </p:nvSpPr>
        <p:spPr>
          <a:xfrm>
            <a:off x="996696" y="1655064"/>
            <a:ext cx="4315968" cy="41239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RIST-RAFT uses mass and enthalpy balancing equations to estimate blast furnace operating conditions. The model calculates blast rate and coke rate by solving the system iteratively from an initial assumption until the equations converge.</a:t>
            </a:r>
            <a:endParaRPr lang="en-US" sz="1150" dirty="0"/>
          </a:p>
        </p:txBody>
      </p:sp>
      <p:sp>
        <p:nvSpPr>
          <p:cNvPr id="13" name="Shape 11"/>
          <p:cNvSpPr/>
          <p:nvPr/>
        </p:nvSpPr>
        <p:spPr>
          <a:xfrm>
            <a:off x="5760720" y="1417320"/>
            <a:ext cx="1554480" cy="256032"/>
          </a:xfrm>
          <a:prstGeom prst="roundRect">
            <a:avLst>
              <a:gd name="adj" fmla="val 14286"/>
            </a:avLst>
          </a:prstGeom>
          <a:solidFill>
            <a:srgbClr val="EAF2FF"/>
          </a:solidFill>
          <a:ln w="12700">
            <a:solidFill>
              <a:srgbClr val="1F5AA6">
                <a:alpha val="0"/>
              </a:srgbClr>
            </a:solidFill>
            <a:prstDash val="solid"/>
          </a:ln>
        </p:spPr>
        <p:txBody>
          <a:bodyPr/>
          <a:lstStyle/>
          <a:p>
            <a:endParaRPr lang="en-US"/>
          </a:p>
        </p:txBody>
      </p:sp>
      <p:sp>
        <p:nvSpPr>
          <p:cNvPr id="14" name="Text 12"/>
          <p:cNvSpPr/>
          <p:nvPr/>
        </p:nvSpPr>
        <p:spPr>
          <a:xfrm>
            <a:off x="5760720" y="1444752"/>
            <a:ext cx="1554480" cy="164592"/>
          </a:xfrm>
          <a:prstGeom prst="rect">
            <a:avLst/>
          </a:prstGeom>
          <a:noFill/>
          <a:ln/>
        </p:spPr>
        <p:txBody>
          <a:bodyPr wrap="square" lIns="0" tIns="0" rIns="0" bIns="0" rtlCol="0" anchor="ctr"/>
          <a:lstStyle/>
          <a:p>
            <a:pPr marL="0" indent="0" algn="ctr">
              <a:buNone/>
            </a:pPr>
            <a:r>
              <a:rPr lang="en-US" sz="1000" b="1" dirty="0">
                <a:solidFill>
                  <a:srgbClr val="1F5AA6"/>
                </a:solidFill>
                <a:latin typeface="Aptos" pitchFamily="34" charset="0"/>
                <a:ea typeface="Aptos" pitchFamily="34" charset="-122"/>
                <a:cs typeface="Aptos" pitchFamily="34" charset="-120"/>
              </a:rPr>
              <a:t>Core outputs</a:t>
            </a:r>
            <a:endParaRPr lang="en-US" sz="1000" dirty="0"/>
          </a:p>
        </p:txBody>
      </p:sp>
      <p:sp>
        <p:nvSpPr>
          <p:cNvPr id="15" name="Text 13"/>
          <p:cNvSpPr/>
          <p:nvPr/>
        </p:nvSpPr>
        <p:spPr>
          <a:xfrm>
            <a:off x="5669280" y="1783080"/>
            <a:ext cx="4846320" cy="1737360"/>
          </a:xfrm>
          <a:prstGeom prst="rect">
            <a:avLst/>
          </a:prstGeom>
          <a:noFill/>
          <a:ln/>
        </p:spPr>
        <p:txBody>
          <a:bodyPr wrap="square" lIns="25400" tIns="25400" rIns="25400" bIns="25400" rtlCol="0" anchor="t"/>
          <a:lstStyle/>
          <a:p>
            <a:pPr marL="152400" indent="-152400">
              <a:buSzPct val="100000"/>
              <a:buChar char="•"/>
            </a:pPr>
            <a:r>
              <a:rPr lang="en-US" sz="1500" dirty="0">
                <a:solidFill>
                  <a:srgbClr val="1A1F2E"/>
                </a:solidFill>
                <a:latin typeface="Aptos" pitchFamily="34" charset="0"/>
                <a:ea typeface="Aptos" pitchFamily="34" charset="-122"/>
                <a:cs typeface="Aptos" pitchFamily="34" charset="-120"/>
              </a:rPr>
              <a:t>Calculated Blast Rate</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Calculated Coke Rate</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Interpretive operating pattern view: left-side behaviour indicates unfavourable condition, right-side behaviour indicates favourable condition</a:t>
            </a:r>
            <a:endParaRPr lang="en-US" sz="1500" dirty="0"/>
          </a:p>
        </p:txBody>
      </p:sp>
      <p:sp>
        <p:nvSpPr>
          <p:cNvPr id="16" name="Shape 14"/>
          <p:cNvSpPr/>
          <p:nvPr/>
        </p:nvSpPr>
        <p:spPr>
          <a:xfrm>
            <a:off x="5760720" y="3657600"/>
            <a:ext cx="1508760" cy="256032"/>
          </a:xfrm>
          <a:prstGeom prst="roundRect">
            <a:avLst>
              <a:gd name="adj" fmla="val 14286"/>
            </a:avLst>
          </a:prstGeom>
          <a:solidFill>
            <a:srgbClr val="EAF2FF"/>
          </a:solidFill>
          <a:ln w="12700">
            <a:solidFill>
              <a:srgbClr val="1F5AA6">
                <a:alpha val="0"/>
              </a:srgbClr>
            </a:solidFill>
            <a:prstDash val="solid"/>
          </a:ln>
        </p:spPr>
        <p:txBody>
          <a:bodyPr/>
          <a:lstStyle/>
          <a:p>
            <a:endParaRPr lang="en-US"/>
          </a:p>
        </p:txBody>
      </p:sp>
      <p:sp>
        <p:nvSpPr>
          <p:cNvPr id="17" name="Text 15"/>
          <p:cNvSpPr/>
          <p:nvPr/>
        </p:nvSpPr>
        <p:spPr>
          <a:xfrm>
            <a:off x="5760720" y="3685032"/>
            <a:ext cx="1508760" cy="164592"/>
          </a:xfrm>
          <a:prstGeom prst="rect">
            <a:avLst/>
          </a:prstGeom>
          <a:noFill/>
          <a:ln/>
        </p:spPr>
        <p:txBody>
          <a:bodyPr wrap="square" lIns="0" tIns="0" rIns="0" bIns="0" rtlCol="0" anchor="ctr"/>
          <a:lstStyle/>
          <a:p>
            <a:pPr marL="0" indent="0" algn="ctr">
              <a:buNone/>
            </a:pPr>
            <a:r>
              <a:rPr lang="en-US" sz="1000" b="1" dirty="0">
                <a:solidFill>
                  <a:srgbClr val="1F5AA6"/>
                </a:solidFill>
                <a:latin typeface="Aptos" pitchFamily="34" charset="0"/>
                <a:ea typeface="Aptos" pitchFamily="34" charset="-122"/>
                <a:cs typeface="Aptos" pitchFamily="34" charset="-120"/>
              </a:rPr>
              <a:t>Guidance use</a:t>
            </a:r>
            <a:endParaRPr lang="en-US" sz="1000" dirty="0"/>
          </a:p>
        </p:txBody>
      </p:sp>
      <p:sp>
        <p:nvSpPr>
          <p:cNvPr id="18" name="Text 16"/>
          <p:cNvSpPr/>
          <p:nvPr/>
        </p:nvSpPr>
        <p:spPr>
          <a:xfrm>
            <a:off x="5669280" y="3977640"/>
            <a:ext cx="4754880" cy="1920240"/>
          </a:xfrm>
          <a:prstGeom prst="rect">
            <a:avLst/>
          </a:prstGeom>
          <a:noFill/>
          <a:ln/>
        </p:spPr>
        <p:txBody>
          <a:bodyPr wrap="square" lIns="25400" tIns="25400" rIns="25400" bIns="25400" rtlCol="0" anchor="t"/>
          <a:lstStyle/>
          <a:p>
            <a:pPr marL="152400" indent="-152400">
              <a:buSzPct val="100000"/>
              <a:buChar char="•"/>
            </a:pPr>
            <a:r>
              <a:rPr lang="en-US" sz="1500" dirty="0">
                <a:solidFill>
                  <a:srgbClr val="1A1F2E"/>
                </a:solidFill>
                <a:latin typeface="Aptos" pitchFamily="34" charset="0"/>
                <a:ea typeface="Aptos" pitchFamily="34" charset="-122"/>
                <a:cs typeface="Aptos" pitchFamily="34" charset="-120"/>
              </a:rPr>
              <a:t>Model can be used to study different operating conditions by changing furnace parameters</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Guidance is referenced as being generated every 30 minutes</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Reverse RIST-RAFT logic can be used to study how controllable variables influence HMT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9</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RIST-RAFT Calibration and Recommendation Logic</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3520440" cy="4389120"/>
          </a:xfrm>
          <a:prstGeom prst="roundRect">
            <a:avLst>
              <a:gd name="adj" fmla="val 1299"/>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326440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Calibration against plant</a:t>
            </a:r>
            <a:endParaRPr lang="en-US" sz="1500" dirty="0"/>
          </a:p>
        </p:txBody>
      </p:sp>
      <p:sp>
        <p:nvSpPr>
          <p:cNvPr id="12" name="Text 10"/>
          <p:cNvSpPr/>
          <p:nvPr/>
        </p:nvSpPr>
        <p:spPr>
          <a:xfrm>
            <a:off x="996696" y="1655064"/>
            <a:ext cx="3264408" cy="398678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Model-predicted coke rate is expected to be lower than actual plant coke rate because plant losses exceed the losses explicitly represented in the simplified model.</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Hence, plant-tested correction factors are used to reconcile the model with operating reality.</a:t>
            </a:r>
            <a:endParaRPr lang="en-US" sz="1150" dirty="0"/>
          </a:p>
        </p:txBody>
      </p:sp>
      <p:sp>
        <p:nvSpPr>
          <p:cNvPr id="13" name="Shape 11"/>
          <p:cNvSpPr/>
          <p:nvPr/>
        </p:nvSpPr>
        <p:spPr>
          <a:xfrm>
            <a:off x="4572000" y="1325880"/>
            <a:ext cx="2926080" cy="2011680"/>
          </a:xfrm>
          <a:prstGeom prst="roundRect">
            <a:avLst>
              <a:gd name="adj" fmla="val 2273"/>
            </a:avLst>
          </a:prstGeom>
          <a:solidFill>
            <a:srgbClr val="EAF2FF"/>
          </a:solidFill>
          <a:ln w="12700">
            <a:solidFill>
              <a:srgbClr val="D9D4CA"/>
            </a:solidFill>
            <a:prstDash val="solid"/>
          </a:ln>
        </p:spPr>
        <p:txBody>
          <a:bodyPr/>
          <a:lstStyle/>
          <a:p>
            <a:endParaRPr lang="en-US"/>
          </a:p>
        </p:txBody>
      </p:sp>
      <p:sp>
        <p:nvSpPr>
          <p:cNvPr id="14" name="Text 12"/>
          <p:cNvSpPr/>
          <p:nvPr/>
        </p:nvSpPr>
        <p:spPr>
          <a:xfrm>
            <a:off x="4700016" y="1417320"/>
            <a:ext cx="26700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Blast Rate correction</a:t>
            </a:r>
            <a:endParaRPr lang="en-US" sz="1500" dirty="0"/>
          </a:p>
        </p:txBody>
      </p:sp>
      <p:sp>
        <p:nvSpPr>
          <p:cNvPr id="15" name="Text 13"/>
          <p:cNvSpPr/>
          <p:nvPr/>
        </p:nvSpPr>
        <p:spPr>
          <a:xfrm>
            <a:off x="4700016" y="1655064"/>
            <a:ext cx="2670048" cy="16093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Corrected value = Model predicted value / Correction factor</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BF_1: 1.03</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BF_2: 1.02</a:t>
            </a:r>
            <a:endParaRPr lang="en-US" sz="1150" dirty="0"/>
          </a:p>
        </p:txBody>
      </p:sp>
      <p:sp>
        <p:nvSpPr>
          <p:cNvPr id="16" name="Shape 14"/>
          <p:cNvSpPr/>
          <p:nvPr/>
        </p:nvSpPr>
        <p:spPr>
          <a:xfrm>
            <a:off x="4572000" y="3703320"/>
            <a:ext cx="2926080" cy="2011680"/>
          </a:xfrm>
          <a:prstGeom prst="roundRect">
            <a:avLst>
              <a:gd name="adj" fmla="val 2273"/>
            </a:avLst>
          </a:prstGeom>
          <a:solidFill>
            <a:srgbClr val="EAF2FF"/>
          </a:solidFill>
          <a:ln w="12700">
            <a:solidFill>
              <a:srgbClr val="D9D4CA"/>
            </a:solidFill>
            <a:prstDash val="solid"/>
          </a:ln>
        </p:spPr>
        <p:txBody>
          <a:bodyPr/>
          <a:lstStyle/>
          <a:p>
            <a:endParaRPr lang="en-US"/>
          </a:p>
        </p:txBody>
      </p:sp>
      <p:sp>
        <p:nvSpPr>
          <p:cNvPr id="17" name="Text 15"/>
          <p:cNvSpPr/>
          <p:nvPr/>
        </p:nvSpPr>
        <p:spPr>
          <a:xfrm>
            <a:off x="4700016" y="3794760"/>
            <a:ext cx="26700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Coke Rate correction</a:t>
            </a:r>
            <a:endParaRPr lang="en-US" sz="1500" dirty="0"/>
          </a:p>
        </p:txBody>
      </p:sp>
      <p:sp>
        <p:nvSpPr>
          <p:cNvPr id="18" name="Text 16"/>
          <p:cNvSpPr/>
          <p:nvPr/>
        </p:nvSpPr>
        <p:spPr>
          <a:xfrm>
            <a:off x="4700016" y="4032504"/>
            <a:ext cx="2670048" cy="16093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Corrected value = Model predicted value / Correction factor</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BF_1: 0.96</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BF_2: 0.94</a:t>
            </a:r>
            <a:endParaRPr lang="en-US" sz="1150" dirty="0"/>
          </a:p>
        </p:txBody>
      </p:sp>
      <p:sp>
        <p:nvSpPr>
          <p:cNvPr id="19" name="Shape 17"/>
          <p:cNvSpPr/>
          <p:nvPr/>
        </p:nvSpPr>
        <p:spPr>
          <a:xfrm>
            <a:off x="7726680" y="1325880"/>
            <a:ext cx="3566160" cy="4389120"/>
          </a:xfrm>
          <a:prstGeom prst="roundRect">
            <a:avLst>
              <a:gd name="adj" fmla="val 1282"/>
            </a:avLst>
          </a:prstGeom>
          <a:solidFill>
            <a:srgbClr val="F8F6F1"/>
          </a:solidFill>
          <a:ln w="12700">
            <a:solidFill>
              <a:srgbClr val="D9D4CA"/>
            </a:solidFill>
            <a:prstDash val="solid"/>
          </a:ln>
        </p:spPr>
        <p:txBody>
          <a:bodyPr/>
          <a:lstStyle/>
          <a:p>
            <a:endParaRPr lang="en-US"/>
          </a:p>
        </p:txBody>
      </p:sp>
      <p:sp>
        <p:nvSpPr>
          <p:cNvPr id="20" name="Text 18"/>
          <p:cNvSpPr/>
          <p:nvPr/>
        </p:nvSpPr>
        <p:spPr>
          <a:xfrm>
            <a:off x="7854696" y="1417320"/>
            <a:ext cx="331012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Recommendation scenarios</a:t>
            </a:r>
            <a:endParaRPr lang="en-US" sz="1500" dirty="0"/>
          </a:p>
        </p:txBody>
      </p:sp>
      <p:sp>
        <p:nvSpPr>
          <p:cNvPr id="21" name="Text 19"/>
          <p:cNvSpPr/>
          <p:nvPr/>
        </p:nvSpPr>
        <p:spPr>
          <a:xfrm>
            <a:off x="7854696" y="1655064"/>
            <a:ext cx="3310128" cy="398678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Reverse RIST-RAFT notes indicate that, under selected fixed conditions, the model can be used to explore how HMT responds to changes in PCI, moisture, oxygen enrichment and RAFT.</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This becomes the bridge between descriptive physics and operator guidance.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10</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Use Case 2: HMT Prediction</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325880"/>
            <a:ext cx="3657600" cy="4572000"/>
          </a:xfrm>
          <a:prstGeom prst="roundRect">
            <a:avLst>
              <a:gd name="adj" fmla="val 1250"/>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417320"/>
            <a:ext cx="34015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Use Case Objective</a:t>
            </a:r>
            <a:endParaRPr lang="en-US" sz="1500" dirty="0"/>
          </a:p>
        </p:txBody>
      </p:sp>
      <p:sp>
        <p:nvSpPr>
          <p:cNvPr id="12" name="Text 10"/>
          <p:cNvSpPr/>
          <p:nvPr/>
        </p:nvSpPr>
        <p:spPr>
          <a:xfrm>
            <a:off x="996696" y="1655064"/>
            <a:ext cx="3401568" cy="41696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Predict hot metal temperature sufficiently in advance to help operators intervene before the process drifts outside the desired range.</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Project notes indicate an intended prediction horizon of ~8 hours for decision support.</a:t>
            </a:r>
            <a:endParaRPr lang="en-US" sz="1150" dirty="0"/>
          </a:p>
        </p:txBody>
      </p:sp>
      <p:sp>
        <p:nvSpPr>
          <p:cNvPr id="13" name="Shape 11"/>
          <p:cNvSpPr/>
          <p:nvPr/>
        </p:nvSpPr>
        <p:spPr>
          <a:xfrm>
            <a:off x="4709160" y="1325880"/>
            <a:ext cx="3108960" cy="4572000"/>
          </a:xfrm>
          <a:prstGeom prst="roundRect">
            <a:avLst>
              <a:gd name="adj" fmla="val 1471"/>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4837176" y="1417320"/>
            <a:ext cx="285292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Data and Preparation</a:t>
            </a:r>
            <a:endParaRPr lang="en-US" sz="1500" dirty="0"/>
          </a:p>
        </p:txBody>
      </p:sp>
      <p:sp>
        <p:nvSpPr>
          <p:cNvPr id="15" name="Text 13"/>
          <p:cNvSpPr/>
          <p:nvPr/>
        </p:nvSpPr>
        <p:spPr>
          <a:xfrm>
            <a:off x="4837176" y="1655064"/>
            <a:ext cx="2852928" cy="41696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Data window: 1-Jan-2023 to 31-Mar-2024</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Frequency: every 10 minutes</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Rows: 62K+</a:t>
            </a: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Remaining after prep: ~48K</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Cleaning includes shutdown filtering, removal of zero sensor values, moisture sanity checks, and outlier handling.</a:t>
            </a:r>
            <a:endParaRPr lang="en-US" sz="1150" dirty="0"/>
          </a:p>
        </p:txBody>
      </p:sp>
      <p:sp>
        <p:nvSpPr>
          <p:cNvPr id="16" name="Shape 14"/>
          <p:cNvSpPr/>
          <p:nvPr/>
        </p:nvSpPr>
        <p:spPr>
          <a:xfrm>
            <a:off x="8046720" y="1325880"/>
            <a:ext cx="3200400" cy="4572000"/>
          </a:xfrm>
          <a:prstGeom prst="roundRect">
            <a:avLst>
              <a:gd name="adj" fmla="val 1429"/>
            </a:avLst>
          </a:prstGeom>
          <a:solidFill>
            <a:srgbClr val="F8F6F1"/>
          </a:solidFill>
          <a:ln w="12700">
            <a:solidFill>
              <a:srgbClr val="D9D4CA"/>
            </a:solidFill>
            <a:prstDash val="solid"/>
          </a:ln>
        </p:spPr>
        <p:txBody>
          <a:bodyPr/>
          <a:lstStyle/>
          <a:p>
            <a:endParaRPr lang="en-US"/>
          </a:p>
        </p:txBody>
      </p:sp>
      <p:sp>
        <p:nvSpPr>
          <p:cNvPr id="17" name="Text 15"/>
          <p:cNvSpPr/>
          <p:nvPr/>
        </p:nvSpPr>
        <p:spPr>
          <a:xfrm>
            <a:off x="8174736" y="1417320"/>
            <a:ext cx="29443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Modeling Notes</a:t>
            </a:r>
            <a:endParaRPr lang="en-US" sz="1500" dirty="0"/>
          </a:p>
        </p:txBody>
      </p:sp>
      <p:sp>
        <p:nvSpPr>
          <p:cNvPr id="18" name="Text 16"/>
          <p:cNvSpPr/>
          <p:nvPr/>
        </p:nvSpPr>
        <p:spPr>
          <a:xfrm>
            <a:off x="8174736" y="1655064"/>
            <a:ext cx="2944368" cy="41696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Feature candidates include hot blast flow, hot blast temperature, PCI, moisture, oxygen flow, ETA CO, permeability, blast air pressure, top gas temperature and HMT history.</a:t>
            </a:r>
            <a:endParaRPr lang="en-US" sz="1150" dirty="0"/>
          </a:p>
          <a:p>
            <a:pPr marL="0" indent="0">
              <a:buNone/>
            </a:pPr>
            <a:endParaRPr lang="en-US" sz="1150" dirty="0"/>
          </a:p>
          <a:p>
            <a:pPr marL="0" indent="0">
              <a:buNone/>
            </a:pPr>
            <a:r>
              <a:rPr lang="en-US" sz="1150" dirty="0">
                <a:solidFill>
                  <a:srgbClr val="1A1F2E"/>
                </a:solidFill>
                <a:latin typeface="Aptos" pitchFamily="34" charset="0"/>
                <a:ea typeface="Aptos" pitchFamily="34" charset="-122"/>
                <a:cs typeface="Aptos" pitchFamily="34" charset="-120"/>
              </a:rPr>
              <a:t>RFR is noted as the strongest performer in the current material.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11</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HMT Feature Logic and Temporal Averaging</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Text 8"/>
          <p:cNvSpPr/>
          <p:nvPr/>
        </p:nvSpPr>
        <p:spPr>
          <a:xfrm>
            <a:off x="914400" y="1371600"/>
            <a:ext cx="10241280" cy="1051560"/>
          </a:xfrm>
          <a:prstGeom prst="rect">
            <a:avLst/>
          </a:prstGeom>
          <a:noFill/>
          <a:ln/>
        </p:spPr>
        <p:txBody>
          <a:bodyPr wrap="square" lIns="25400" tIns="25400" rIns="25400" bIns="25400" rtlCol="0" anchor="t"/>
          <a:lstStyle/>
          <a:p>
            <a:pPr marL="152400" indent="-152400">
              <a:buSzPct val="100000"/>
              <a:buChar char="•"/>
            </a:pPr>
            <a:r>
              <a:rPr lang="en-US" sz="1500" dirty="0">
                <a:solidFill>
                  <a:srgbClr val="1A1F2E"/>
                </a:solidFill>
                <a:latin typeface="Aptos" pitchFamily="34" charset="0"/>
                <a:ea typeface="Aptos" pitchFamily="34" charset="-122"/>
                <a:cs typeface="Aptos" pitchFamily="34" charset="-120"/>
              </a:rPr>
              <a:t>The process is dynamically slow, so past data is weighted more heavily than current instant values.</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Project notes reference both normal averaging and Gaussian-style temporal weighting.</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The objective is to tune the historical window by variable to improve predictive fit.</a:t>
            </a:r>
            <a:endParaRPr lang="en-US" sz="1500" dirty="0"/>
          </a:p>
        </p:txBody>
      </p:sp>
      <p:sp>
        <p:nvSpPr>
          <p:cNvPr id="11" name="Shape 9"/>
          <p:cNvSpPr/>
          <p:nvPr/>
        </p:nvSpPr>
        <p:spPr>
          <a:xfrm>
            <a:off x="914400" y="2194560"/>
            <a:ext cx="3017520" cy="3108960"/>
          </a:xfrm>
          <a:prstGeom prst="roundRect">
            <a:avLst>
              <a:gd name="adj" fmla="val 1515"/>
            </a:avLst>
          </a:prstGeom>
          <a:solidFill>
            <a:srgbClr val="F8F6F1"/>
          </a:solidFill>
          <a:ln w="12700">
            <a:solidFill>
              <a:srgbClr val="D9D4CA"/>
            </a:solidFill>
            <a:prstDash val="solid"/>
          </a:ln>
        </p:spPr>
        <p:txBody>
          <a:bodyPr/>
          <a:lstStyle/>
          <a:p>
            <a:endParaRPr lang="en-US"/>
          </a:p>
        </p:txBody>
      </p:sp>
      <p:sp>
        <p:nvSpPr>
          <p:cNvPr id="12" name="Text 10"/>
          <p:cNvSpPr/>
          <p:nvPr/>
        </p:nvSpPr>
        <p:spPr>
          <a:xfrm>
            <a:off x="1042416" y="2286000"/>
            <a:ext cx="276148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Illustrative feature windows</a:t>
            </a:r>
            <a:endParaRPr lang="en-US" sz="1500" dirty="0"/>
          </a:p>
        </p:txBody>
      </p:sp>
      <p:sp>
        <p:nvSpPr>
          <p:cNvPr id="13" name="Text 11"/>
          <p:cNvSpPr/>
          <p:nvPr/>
        </p:nvSpPr>
        <p:spPr>
          <a:xfrm>
            <a:off x="1042416" y="2523744"/>
            <a:ext cx="2761488" cy="2706624"/>
          </a:xfrm>
          <a:prstGeom prst="rect">
            <a:avLst/>
          </a:prstGeom>
          <a:noFill/>
          <a:ln/>
        </p:spPr>
        <p:txBody>
          <a:bodyPr wrap="square" lIns="0" tIns="0" rIns="0" bIns="0" rtlCol="0" anchor="t"/>
          <a:lstStyle/>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Hot Blast Volume: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ETA CO: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Top gas temperature: 1 hour</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Permeability: 1 hour</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Hot Blast Temperature: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Blast Pressure: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PCI Rate: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Oxygen Flow: 2 hours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Moisture: 1 hour</a:t>
            </a:r>
            <a:endParaRPr lang="en-US" sz="1150" dirty="0"/>
          </a:p>
        </p:txBody>
      </p:sp>
      <p:sp>
        <p:nvSpPr>
          <p:cNvPr id="14" name="Shape 12"/>
          <p:cNvSpPr/>
          <p:nvPr/>
        </p:nvSpPr>
        <p:spPr>
          <a:xfrm>
            <a:off x="4160520" y="2194560"/>
            <a:ext cx="3383280" cy="3108960"/>
          </a:xfrm>
          <a:prstGeom prst="roundRect">
            <a:avLst>
              <a:gd name="adj" fmla="val 1471"/>
            </a:avLst>
          </a:prstGeom>
          <a:solidFill>
            <a:srgbClr val="F8F6F1"/>
          </a:solidFill>
          <a:ln w="12700">
            <a:solidFill>
              <a:srgbClr val="D9D4CA"/>
            </a:solidFill>
            <a:prstDash val="solid"/>
          </a:ln>
        </p:spPr>
        <p:txBody>
          <a:bodyPr/>
          <a:lstStyle/>
          <a:p>
            <a:endParaRPr lang="en-US"/>
          </a:p>
        </p:txBody>
      </p:sp>
      <p:sp>
        <p:nvSpPr>
          <p:cNvPr id="15" name="Text 13"/>
          <p:cNvSpPr/>
          <p:nvPr/>
        </p:nvSpPr>
        <p:spPr>
          <a:xfrm>
            <a:off x="4288536" y="2286000"/>
            <a:ext cx="31272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EDA notes</a:t>
            </a:r>
            <a:endParaRPr lang="en-US" sz="1500" dirty="0"/>
          </a:p>
        </p:txBody>
      </p:sp>
      <p:sp>
        <p:nvSpPr>
          <p:cNvPr id="16" name="Text 14"/>
          <p:cNvSpPr/>
          <p:nvPr/>
        </p:nvSpPr>
        <p:spPr>
          <a:xfrm>
            <a:off x="4288536" y="2523744"/>
            <a:ext cx="3127248" cy="2706624"/>
          </a:xfrm>
          <a:prstGeom prst="rect">
            <a:avLst/>
          </a:prstGeom>
          <a:noFill/>
          <a:ln/>
        </p:spPr>
        <p:txBody>
          <a:bodyPr wrap="square" lIns="0" tIns="0" rIns="0" bIns="0" rtlCol="0" anchor="t"/>
          <a:lstStyle/>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Box plots used for variable-wise outlier checks</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Target variable filtered using HMT min/max range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Std scaler applied in -1 to +1 range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Performance judged through RMSE and MAE</a:t>
            </a: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Feature importance threshold referenced at &gt; 0.05</a:t>
            </a:r>
            <a:endParaRPr lang="en-US" sz="1150" dirty="0"/>
          </a:p>
        </p:txBody>
      </p:sp>
      <p:sp>
        <p:nvSpPr>
          <p:cNvPr id="17" name="Shape 15"/>
          <p:cNvSpPr/>
          <p:nvPr/>
        </p:nvSpPr>
        <p:spPr>
          <a:xfrm>
            <a:off x="7754112" y="2194560"/>
            <a:ext cx="3474720" cy="3108960"/>
          </a:xfrm>
          <a:prstGeom prst="roundRect">
            <a:avLst>
              <a:gd name="adj" fmla="val 1471"/>
            </a:avLst>
          </a:prstGeom>
          <a:solidFill>
            <a:srgbClr val="F8F6F1"/>
          </a:solidFill>
          <a:ln w="12700">
            <a:solidFill>
              <a:srgbClr val="D9D4CA"/>
            </a:solidFill>
            <a:prstDash val="solid"/>
          </a:ln>
        </p:spPr>
        <p:txBody>
          <a:bodyPr/>
          <a:lstStyle/>
          <a:p>
            <a:endParaRPr lang="en-US"/>
          </a:p>
        </p:txBody>
      </p:sp>
      <p:sp>
        <p:nvSpPr>
          <p:cNvPr id="18" name="Text 16"/>
          <p:cNvSpPr/>
          <p:nvPr/>
        </p:nvSpPr>
        <p:spPr>
          <a:xfrm>
            <a:off x="7882128" y="2286000"/>
            <a:ext cx="321868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Operational interpretation</a:t>
            </a:r>
            <a:endParaRPr lang="en-US" sz="1500" dirty="0"/>
          </a:p>
        </p:txBody>
      </p:sp>
      <p:sp>
        <p:nvSpPr>
          <p:cNvPr id="19" name="Text 17"/>
          <p:cNvSpPr/>
          <p:nvPr/>
        </p:nvSpPr>
        <p:spPr>
          <a:xfrm>
            <a:off x="7882128" y="2523744"/>
            <a:ext cx="3218688" cy="2706624"/>
          </a:xfrm>
          <a:prstGeom prst="rect">
            <a:avLst/>
          </a:prstGeom>
          <a:noFill/>
          <a:ln/>
        </p:spPr>
        <p:txBody>
          <a:bodyPr wrap="square" lIns="0" tIns="0" rIns="0" bIns="0" rtlCol="0" anchor="t"/>
          <a:lstStyle/>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A strong HMT signal can guide actions on PCI, moisture and coke-related settings.</a:t>
            </a:r>
            <a:endParaRPr lang="en-US" sz="1150" dirty="0"/>
          </a:p>
          <a:p>
            <a:pPr marL="228600" indent="-228600">
              <a:buFont typeface="+mj-lt"/>
              <a:buAutoNum type="arabicPeriod"/>
            </a:pPr>
            <a:endParaRPr lang="en-US" sz="1150" dirty="0"/>
          </a:p>
          <a:p>
            <a:pPr marL="228600" indent="-228600">
              <a:buFont typeface="+mj-lt"/>
              <a:buAutoNum type="arabicPeriod"/>
            </a:pPr>
            <a:r>
              <a:rPr lang="en-US" sz="1150" dirty="0">
                <a:solidFill>
                  <a:srgbClr val="1A1F2E"/>
                </a:solidFill>
                <a:latin typeface="Aptos" pitchFamily="34" charset="0"/>
                <a:ea typeface="Aptos" pitchFamily="34" charset="-122"/>
                <a:cs typeface="Aptos" pitchFamily="34" charset="-120"/>
              </a:rPr>
              <a:t>The notes also connect HMT control to lower RAR and better blast furnace efficiency.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12</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Use Case 3: ETA CO2</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1051560" y="1645920"/>
            <a:ext cx="3840480" cy="3291840"/>
          </a:xfrm>
          <a:prstGeom prst="roundRect">
            <a:avLst>
              <a:gd name="adj" fmla="val 1389"/>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1179576" y="1737360"/>
            <a:ext cx="35844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Current understanding</a:t>
            </a:r>
            <a:endParaRPr lang="en-US" sz="1500" dirty="0"/>
          </a:p>
        </p:txBody>
      </p:sp>
      <p:sp>
        <p:nvSpPr>
          <p:cNvPr id="12" name="Text 10"/>
          <p:cNvSpPr/>
          <p:nvPr/>
        </p:nvSpPr>
        <p:spPr>
          <a:xfrm>
            <a:off x="1179576" y="1975104"/>
            <a:ext cx="3584448" cy="2889504"/>
          </a:xfrm>
          <a:prstGeom prst="rect">
            <a:avLst/>
          </a:prstGeom>
          <a:noFill/>
          <a:ln/>
        </p:spPr>
        <p:txBody>
          <a:bodyPr wrap="square" lIns="0" tIns="0" rIns="0" bIns="0" rtlCol="0" anchor="t"/>
          <a:lstStyle/>
          <a:p>
            <a:pPr marL="0" indent="0">
              <a:buNone/>
            </a:pPr>
            <a:r>
              <a:rPr lang="en-US" sz="1150" dirty="0"/>
              <a:t>-</a:t>
            </a:r>
          </a:p>
        </p:txBody>
      </p:sp>
      <p:sp>
        <p:nvSpPr>
          <p:cNvPr id="13" name="Shape 11"/>
          <p:cNvSpPr/>
          <p:nvPr/>
        </p:nvSpPr>
        <p:spPr>
          <a:xfrm>
            <a:off x="5212080" y="1645920"/>
            <a:ext cx="4983480" cy="3291840"/>
          </a:xfrm>
          <a:prstGeom prst="roundRect">
            <a:avLst>
              <a:gd name="adj" fmla="val 1389"/>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5340096" y="1737360"/>
            <a:ext cx="47274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Potential role</a:t>
            </a:r>
            <a:endParaRPr lang="en-US" sz="1500" dirty="0"/>
          </a:p>
        </p:txBody>
      </p:sp>
      <p:sp>
        <p:nvSpPr>
          <p:cNvPr id="15" name="Text 13"/>
          <p:cNvSpPr/>
          <p:nvPr/>
        </p:nvSpPr>
        <p:spPr>
          <a:xfrm>
            <a:off x="5340096" y="1975104"/>
            <a:ext cx="4727448" cy="288950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ETA CO2 can be positioned as a supporting gas-state intelligence layer.</a:t>
            </a:r>
            <a:endParaRPr lang="en-US" sz="1150" dirty="0"/>
          </a:p>
          <a:p>
            <a:pPr marL="0" indent="0">
              <a:buNone/>
            </a:pPr>
            <a:endParaRPr lang="en-US" sz="1150" dirty="0"/>
          </a:p>
          <a:p>
            <a:pPr marL="0" indent="0">
              <a:buNone/>
            </a:pPr>
            <a:r>
              <a:rPr lang="en-US" sz="1150" dirty="0">
                <a:solidFill>
                  <a:srgbClr val="1A1F2E"/>
                </a:solidFill>
                <a:latin typeface="Aptos" pitchFamily="34" charset="0"/>
              </a:rPr>
              <a:t>- </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13</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Integrated Advisory Framework</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Shape 8"/>
          <p:cNvSpPr/>
          <p:nvPr/>
        </p:nvSpPr>
        <p:spPr>
          <a:xfrm>
            <a:off x="868680" y="1828800"/>
            <a:ext cx="246888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11" name="Text 9"/>
          <p:cNvSpPr/>
          <p:nvPr/>
        </p:nvSpPr>
        <p:spPr>
          <a:xfrm>
            <a:off x="996696" y="1920240"/>
            <a:ext cx="22128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Step 1</a:t>
            </a:r>
            <a:endParaRPr lang="en-US" sz="1500" dirty="0"/>
          </a:p>
        </p:txBody>
      </p:sp>
      <p:sp>
        <p:nvSpPr>
          <p:cNvPr id="12" name="Text 10"/>
          <p:cNvSpPr/>
          <p:nvPr/>
        </p:nvSpPr>
        <p:spPr>
          <a:xfrm>
            <a:off x="996696" y="2157984"/>
            <a:ext cx="221284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Acquire process, gas and tap-hole data</a:t>
            </a:r>
            <a:endParaRPr lang="en-US" sz="1150" dirty="0"/>
          </a:p>
        </p:txBody>
      </p:sp>
      <p:sp>
        <p:nvSpPr>
          <p:cNvPr id="13" name="Shape 11"/>
          <p:cNvSpPr/>
          <p:nvPr/>
        </p:nvSpPr>
        <p:spPr>
          <a:xfrm>
            <a:off x="3566160" y="1828800"/>
            <a:ext cx="246888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14" name="Text 12"/>
          <p:cNvSpPr/>
          <p:nvPr/>
        </p:nvSpPr>
        <p:spPr>
          <a:xfrm>
            <a:off x="3694176" y="1920240"/>
            <a:ext cx="22128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Step 2</a:t>
            </a:r>
            <a:endParaRPr lang="en-US" sz="1500" dirty="0"/>
          </a:p>
        </p:txBody>
      </p:sp>
      <p:sp>
        <p:nvSpPr>
          <p:cNvPr id="15" name="Text 13"/>
          <p:cNvSpPr/>
          <p:nvPr/>
        </p:nvSpPr>
        <p:spPr>
          <a:xfrm>
            <a:off x="3694176" y="2157984"/>
            <a:ext cx="221284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Use HMT prediction to identify expected temperature drift</a:t>
            </a:r>
            <a:endParaRPr lang="en-US" sz="1150" dirty="0"/>
          </a:p>
        </p:txBody>
      </p:sp>
      <p:sp>
        <p:nvSpPr>
          <p:cNvPr id="16" name="Shape 14"/>
          <p:cNvSpPr/>
          <p:nvPr/>
        </p:nvSpPr>
        <p:spPr>
          <a:xfrm>
            <a:off x="6263640" y="1828800"/>
            <a:ext cx="246888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17" name="Text 15"/>
          <p:cNvSpPr/>
          <p:nvPr/>
        </p:nvSpPr>
        <p:spPr>
          <a:xfrm>
            <a:off x="6391656" y="1920240"/>
            <a:ext cx="22128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Step 3</a:t>
            </a:r>
            <a:endParaRPr lang="en-US" sz="1500" dirty="0"/>
          </a:p>
        </p:txBody>
      </p:sp>
      <p:sp>
        <p:nvSpPr>
          <p:cNvPr id="18" name="Text 16"/>
          <p:cNvSpPr/>
          <p:nvPr/>
        </p:nvSpPr>
        <p:spPr>
          <a:xfrm>
            <a:off x="6391656" y="2157984"/>
            <a:ext cx="221284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Use RIST-RAFT logic to translate process state into blast rate / coke rate guidance</a:t>
            </a:r>
            <a:endParaRPr lang="en-US" sz="1150" dirty="0"/>
          </a:p>
        </p:txBody>
      </p:sp>
      <p:sp>
        <p:nvSpPr>
          <p:cNvPr id="19" name="Shape 17"/>
          <p:cNvSpPr/>
          <p:nvPr/>
        </p:nvSpPr>
        <p:spPr>
          <a:xfrm>
            <a:off x="8961120" y="1828800"/>
            <a:ext cx="2240280" cy="1828800"/>
          </a:xfrm>
          <a:prstGeom prst="roundRect">
            <a:avLst>
              <a:gd name="adj" fmla="val 2500"/>
            </a:avLst>
          </a:prstGeom>
          <a:solidFill>
            <a:srgbClr val="F8F6F1"/>
          </a:solidFill>
          <a:ln w="12700">
            <a:solidFill>
              <a:srgbClr val="D9D4CA"/>
            </a:solidFill>
            <a:prstDash val="solid"/>
          </a:ln>
        </p:spPr>
        <p:txBody>
          <a:bodyPr/>
          <a:lstStyle/>
          <a:p>
            <a:endParaRPr lang="en-US"/>
          </a:p>
        </p:txBody>
      </p:sp>
      <p:sp>
        <p:nvSpPr>
          <p:cNvPr id="20" name="Text 18"/>
          <p:cNvSpPr/>
          <p:nvPr/>
        </p:nvSpPr>
        <p:spPr>
          <a:xfrm>
            <a:off x="9089136" y="1920240"/>
            <a:ext cx="198424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Step 4</a:t>
            </a:r>
            <a:endParaRPr lang="en-US" sz="1500" dirty="0"/>
          </a:p>
        </p:txBody>
      </p:sp>
      <p:sp>
        <p:nvSpPr>
          <p:cNvPr id="21" name="Text 19"/>
          <p:cNvSpPr/>
          <p:nvPr/>
        </p:nvSpPr>
        <p:spPr>
          <a:xfrm>
            <a:off x="9089136" y="2157984"/>
            <a:ext cx="1984248" cy="142646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Support operator response on controllable levers</a:t>
            </a:r>
            <a:endParaRPr lang="en-US" sz="1150" dirty="0"/>
          </a:p>
        </p:txBody>
      </p:sp>
      <p:sp>
        <p:nvSpPr>
          <p:cNvPr id="22" name="Shape 20"/>
          <p:cNvSpPr/>
          <p:nvPr/>
        </p:nvSpPr>
        <p:spPr>
          <a:xfrm>
            <a:off x="3278124" y="2532887"/>
            <a:ext cx="347472" cy="310896"/>
          </a:xfrm>
          <a:prstGeom prst="chevron">
            <a:avLst/>
          </a:prstGeom>
          <a:solidFill>
            <a:srgbClr val="1F5AA6"/>
          </a:solidFill>
          <a:ln w="12700">
            <a:solidFill>
              <a:srgbClr val="1F5AA6">
                <a:alpha val="0"/>
              </a:srgbClr>
            </a:solidFill>
            <a:prstDash val="solid"/>
          </a:ln>
        </p:spPr>
        <p:txBody>
          <a:bodyPr/>
          <a:lstStyle/>
          <a:p>
            <a:endParaRPr lang="en-US"/>
          </a:p>
        </p:txBody>
      </p:sp>
      <p:sp>
        <p:nvSpPr>
          <p:cNvPr id="23" name="Shape 21"/>
          <p:cNvSpPr/>
          <p:nvPr/>
        </p:nvSpPr>
        <p:spPr>
          <a:xfrm>
            <a:off x="5975604" y="2532887"/>
            <a:ext cx="347472" cy="310896"/>
          </a:xfrm>
          <a:prstGeom prst="chevron">
            <a:avLst/>
          </a:prstGeom>
          <a:solidFill>
            <a:srgbClr val="1F5AA6"/>
          </a:solidFill>
          <a:ln w="12700">
            <a:solidFill>
              <a:srgbClr val="1F5AA6">
                <a:alpha val="0"/>
              </a:srgbClr>
            </a:solidFill>
            <a:prstDash val="solid"/>
          </a:ln>
        </p:spPr>
        <p:txBody>
          <a:bodyPr/>
          <a:lstStyle/>
          <a:p>
            <a:endParaRPr lang="en-US"/>
          </a:p>
        </p:txBody>
      </p:sp>
      <p:sp>
        <p:nvSpPr>
          <p:cNvPr id="24" name="Shape 22"/>
          <p:cNvSpPr/>
          <p:nvPr/>
        </p:nvSpPr>
        <p:spPr>
          <a:xfrm>
            <a:off x="8659368" y="2532887"/>
            <a:ext cx="347472" cy="310896"/>
          </a:xfrm>
          <a:prstGeom prst="chevron">
            <a:avLst/>
          </a:prstGeom>
          <a:solidFill>
            <a:srgbClr val="1F5AA6"/>
          </a:solidFill>
          <a:ln w="12700">
            <a:solidFill>
              <a:srgbClr val="1F5AA6">
                <a:alpha val="0"/>
              </a:srgbClr>
            </a:solidFill>
            <a:prstDash val="solid"/>
          </a:ln>
        </p:spPr>
        <p:txBody>
          <a:bodyPr/>
          <a:lstStyle/>
          <a:p>
            <a:endParaRPr lang="en-US"/>
          </a:p>
        </p:txBody>
      </p:sp>
      <p:sp>
        <p:nvSpPr>
          <p:cNvPr id="25" name="Text 23"/>
          <p:cNvSpPr/>
          <p:nvPr/>
        </p:nvSpPr>
        <p:spPr>
          <a:xfrm>
            <a:off x="914400" y="4160520"/>
            <a:ext cx="2377440" cy="201168"/>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Logic</a:t>
            </a:r>
            <a:endParaRPr lang="en-US" sz="1500" dirty="0"/>
          </a:p>
        </p:txBody>
      </p:sp>
      <p:sp>
        <p:nvSpPr>
          <p:cNvPr id="26" name="Text 24"/>
          <p:cNvSpPr/>
          <p:nvPr/>
        </p:nvSpPr>
        <p:spPr>
          <a:xfrm>
            <a:off x="914400" y="4480560"/>
            <a:ext cx="10058400" cy="1371600"/>
          </a:xfrm>
          <a:prstGeom prst="rect">
            <a:avLst/>
          </a:prstGeom>
          <a:noFill/>
          <a:ln/>
        </p:spPr>
        <p:txBody>
          <a:bodyPr wrap="square" lIns="25400" tIns="25400" rIns="25400" bIns="25400" rtlCol="0" anchor="t"/>
          <a:lstStyle/>
          <a:p>
            <a:pPr marL="152400" indent="-152400">
              <a:buSzPct val="100000"/>
              <a:buChar char="•"/>
            </a:pPr>
            <a:r>
              <a:rPr lang="en-US" sz="1500" dirty="0">
                <a:solidFill>
                  <a:srgbClr val="1A1F2E"/>
                </a:solidFill>
                <a:latin typeface="Aptos" pitchFamily="34" charset="0"/>
                <a:ea typeface="Aptos" pitchFamily="34" charset="-122"/>
                <a:cs typeface="Aptos" pitchFamily="34" charset="-120"/>
              </a:rPr>
              <a:t>If predicted HMT declines, investigate moisture, gas utilisation, PCI response and coke/blast settings.</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If temperature is retained too long before tapping, quality drift such as silicon rise may occur.</a:t>
            </a:r>
            <a:endParaRPr lang="en-US" sz="1500" dirty="0"/>
          </a:p>
          <a:p>
            <a:pPr marL="152400" indent="-152400">
              <a:buSzPct val="100000"/>
              <a:buChar char="•"/>
            </a:pPr>
            <a:r>
              <a:rPr lang="en-US" sz="1500" dirty="0">
                <a:solidFill>
                  <a:srgbClr val="1A1F2E"/>
                </a:solidFill>
                <a:latin typeface="Aptos" pitchFamily="34" charset="0"/>
                <a:ea typeface="Aptos" pitchFamily="34" charset="-122"/>
                <a:cs typeface="Aptos" pitchFamily="34" charset="-120"/>
              </a:rPr>
              <a:t>ETA CO2 can strengthen interpretation of furnace gas behaviour in the same decision loop.</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F4F0E8"/>
          </a:solidFill>
          <a:ln w="12700">
            <a:solidFill>
              <a:srgbClr val="F4F0E8">
                <a:alpha val="0"/>
              </a:srgbClr>
            </a:solidFill>
            <a:prstDash val="solid"/>
          </a:ln>
        </p:spPr>
        <p:txBody>
          <a:bodyPr/>
          <a:lstStyle/>
          <a:p>
            <a:endParaRPr lang="en-US"/>
          </a:p>
        </p:txBody>
      </p:sp>
      <p:sp>
        <p:nvSpPr>
          <p:cNvPr id="3" name="Shape 1"/>
          <p:cNvSpPr/>
          <p:nvPr/>
        </p:nvSpPr>
        <p:spPr>
          <a:xfrm>
            <a:off x="10588752" y="0"/>
            <a:ext cx="1600200" cy="201168"/>
          </a:xfrm>
          <a:prstGeom prst="rect">
            <a:avLst/>
          </a:prstGeom>
          <a:solidFill>
            <a:srgbClr val="1A1F2E"/>
          </a:solidFill>
          <a:ln w="12700">
            <a:solidFill>
              <a:srgbClr val="1A1F2E">
                <a:alpha val="0"/>
              </a:srgbClr>
            </a:solidFill>
            <a:prstDash val="solid"/>
          </a:ln>
        </p:spPr>
        <p:txBody>
          <a:bodyPr/>
          <a:lstStyle/>
          <a:p>
            <a:endParaRPr lang="en-US"/>
          </a:p>
        </p:txBody>
      </p:sp>
      <p:sp>
        <p:nvSpPr>
          <p:cNvPr id="4" name="Text 2"/>
          <p:cNvSpPr/>
          <p:nvPr/>
        </p:nvSpPr>
        <p:spPr>
          <a:xfrm>
            <a:off x="10835640" y="347472"/>
            <a:ext cx="1005840" cy="256032"/>
          </a:xfrm>
          <a:prstGeom prst="rect">
            <a:avLst/>
          </a:prstGeom>
          <a:noFill/>
          <a:ln/>
        </p:spPr>
        <p:txBody>
          <a:bodyPr wrap="square" lIns="0" tIns="0" rIns="0" bIns="0" rtlCol="0" anchor="ctr"/>
          <a:lstStyle/>
          <a:p>
            <a:pPr marL="0" indent="0" algn="r">
              <a:buNone/>
            </a:pPr>
            <a:r>
              <a:rPr lang="en-US" sz="2000" b="1" dirty="0">
                <a:solidFill>
                  <a:srgbClr val="1F5AA6"/>
                </a:solidFill>
                <a:latin typeface="Aptos Display" pitchFamily="34" charset="0"/>
                <a:ea typeface="Aptos Display" pitchFamily="34" charset="-122"/>
                <a:cs typeface="Aptos Display" pitchFamily="34" charset="-120"/>
              </a:rPr>
              <a:t>JSW</a:t>
            </a:r>
            <a:endParaRPr lang="en-US" sz="2000" dirty="0"/>
          </a:p>
        </p:txBody>
      </p:sp>
      <p:sp>
        <p:nvSpPr>
          <p:cNvPr id="5" name="Text 3"/>
          <p:cNvSpPr/>
          <p:nvPr/>
        </p:nvSpPr>
        <p:spPr>
          <a:xfrm>
            <a:off x="10561320" y="594360"/>
            <a:ext cx="1234440" cy="164592"/>
          </a:xfrm>
          <a:prstGeom prst="rect">
            <a:avLst/>
          </a:prstGeom>
          <a:noFill/>
          <a:ln/>
        </p:spPr>
        <p:txBody>
          <a:bodyPr wrap="square" lIns="0" tIns="0" rIns="0" bIns="0" rtlCol="0" anchor="ctr"/>
          <a:lstStyle/>
          <a:p>
            <a:pPr marL="0" indent="0" algn="r">
              <a:buNone/>
            </a:pPr>
            <a:r>
              <a:rPr lang="en-US" sz="700" dirty="0">
                <a:solidFill>
                  <a:srgbClr val="B63A3B"/>
                </a:solidFill>
                <a:latin typeface="Aptos" pitchFamily="34" charset="0"/>
                <a:ea typeface="Aptos" pitchFamily="34" charset="-122"/>
                <a:cs typeface="Aptos" pitchFamily="34" charset="-120"/>
              </a:rPr>
              <a:t>Better Everyday</a:t>
            </a:r>
            <a:endParaRPr lang="en-US" sz="700" dirty="0"/>
          </a:p>
        </p:txBody>
      </p:sp>
      <p:sp>
        <p:nvSpPr>
          <p:cNvPr id="6" name="Text 4"/>
          <p:cNvSpPr/>
          <p:nvPr/>
        </p:nvSpPr>
        <p:spPr>
          <a:xfrm>
            <a:off x="11704320" y="6537960"/>
            <a:ext cx="201168" cy="146304"/>
          </a:xfrm>
          <a:prstGeom prst="rect">
            <a:avLst/>
          </a:prstGeom>
          <a:noFill/>
          <a:ln/>
        </p:spPr>
        <p:txBody>
          <a:bodyPr wrap="square" lIns="0" tIns="0" rIns="0" bIns="0" rtlCol="0" anchor="ctr"/>
          <a:lstStyle/>
          <a:p>
            <a:pPr marL="0" indent="0" algn="r">
              <a:buNone/>
            </a:pPr>
            <a:r>
              <a:rPr lang="en-US" sz="800" dirty="0">
                <a:solidFill>
                  <a:srgbClr val="5F6B7A"/>
                </a:solidFill>
                <a:latin typeface="Aptos" pitchFamily="34" charset="0"/>
                <a:ea typeface="Aptos" pitchFamily="34" charset="-122"/>
                <a:cs typeface="Aptos" pitchFamily="34" charset="-120"/>
              </a:rPr>
              <a:t>14</a:t>
            </a:r>
            <a:endParaRPr lang="en-US" sz="800" dirty="0"/>
          </a:p>
        </p:txBody>
      </p:sp>
      <p:sp>
        <p:nvSpPr>
          <p:cNvPr id="7" name="Shape 5"/>
          <p:cNvSpPr/>
          <p:nvPr/>
        </p:nvSpPr>
        <p:spPr>
          <a:xfrm>
            <a:off x="658368" y="658368"/>
            <a:ext cx="292608" cy="201168"/>
          </a:xfrm>
          <a:prstGeom prst="chevron">
            <a:avLst/>
          </a:prstGeom>
          <a:solidFill>
            <a:srgbClr val="9E2A2B"/>
          </a:solidFill>
          <a:ln w="12700">
            <a:solidFill>
              <a:srgbClr val="9E2A2B">
                <a:alpha val="0"/>
              </a:srgbClr>
            </a:solidFill>
            <a:prstDash val="solid"/>
          </a:ln>
        </p:spPr>
        <p:txBody>
          <a:bodyPr/>
          <a:lstStyle/>
          <a:p>
            <a:endParaRPr lang="en-US"/>
          </a:p>
        </p:txBody>
      </p:sp>
      <p:sp>
        <p:nvSpPr>
          <p:cNvPr id="8" name="Text 6"/>
          <p:cNvSpPr/>
          <p:nvPr/>
        </p:nvSpPr>
        <p:spPr>
          <a:xfrm>
            <a:off x="987552" y="576072"/>
            <a:ext cx="8046720" cy="365760"/>
          </a:xfrm>
          <a:prstGeom prst="rect">
            <a:avLst/>
          </a:prstGeom>
          <a:noFill/>
          <a:ln/>
        </p:spPr>
        <p:txBody>
          <a:bodyPr wrap="square" lIns="0" tIns="0" rIns="0" bIns="0" rtlCol="0" anchor="ctr"/>
          <a:lstStyle/>
          <a:p>
            <a:pPr marL="0" indent="0">
              <a:buNone/>
            </a:pPr>
            <a:r>
              <a:rPr lang="en-US" sz="2400" b="1" dirty="0">
                <a:solidFill>
                  <a:srgbClr val="14213D"/>
                </a:solidFill>
                <a:latin typeface="Aptos Display" pitchFamily="34" charset="0"/>
                <a:ea typeface="Aptos Display" pitchFamily="34" charset="-122"/>
                <a:cs typeface="Aptos Display" pitchFamily="34" charset="-120"/>
              </a:rPr>
              <a:t>Next Steps</a:t>
            </a:r>
            <a:endParaRPr lang="en-US" sz="2400" dirty="0"/>
          </a:p>
        </p:txBody>
      </p:sp>
      <p:sp>
        <p:nvSpPr>
          <p:cNvPr id="9" name="Shape 7"/>
          <p:cNvSpPr/>
          <p:nvPr/>
        </p:nvSpPr>
        <p:spPr>
          <a:xfrm>
            <a:off x="987552" y="987552"/>
            <a:ext cx="5897880" cy="0"/>
          </a:xfrm>
          <a:prstGeom prst="line">
            <a:avLst/>
          </a:prstGeom>
          <a:noFill/>
          <a:ln w="15240">
            <a:solidFill>
              <a:srgbClr val="D9D4CA"/>
            </a:solidFill>
            <a:prstDash val="solid"/>
          </a:ln>
        </p:spPr>
        <p:txBody>
          <a:bodyPr/>
          <a:lstStyle/>
          <a:p>
            <a:endParaRPr lang="en-US"/>
          </a:p>
        </p:txBody>
      </p:sp>
      <p:sp>
        <p:nvSpPr>
          <p:cNvPr id="10" name="Text 8"/>
          <p:cNvSpPr/>
          <p:nvPr/>
        </p:nvSpPr>
        <p:spPr>
          <a:xfrm>
            <a:off x="960120" y="1554480"/>
            <a:ext cx="9875520" cy="2743200"/>
          </a:xfrm>
          <a:prstGeom prst="rect">
            <a:avLst/>
          </a:prstGeom>
          <a:noFill/>
          <a:ln/>
        </p:spPr>
        <p:txBody>
          <a:bodyPr wrap="square" lIns="25400" tIns="25400" rIns="25400" bIns="25400" rtlCol="0" anchor="t"/>
          <a:lstStyle/>
          <a:p>
            <a:pPr marL="152400" indent="-152400">
              <a:buSzPct val="100000"/>
              <a:buChar char="•"/>
            </a:pPr>
            <a:r>
              <a:rPr lang="en-US" sz="1700" dirty="0">
                <a:solidFill>
                  <a:srgbClr val="1A1F2E"/>
                </a:solidFill>
                <a:latin typeface="Aptos" pitchFamily="34" charset="0"/>
                <a:ea typeface="Aptos" pitchFamily="34" charset="-122"/>
                <a:cs typeface="Aptos" pitchFamily="34" charset="-120"/>
              </a:rPr>
              <a:t>Validate and finalize the required tag list across blast, gas, tuyere and tap-hole measurements.</a:t>
            </a:r>
            <a:endParaRPr lang="en-US" sz="1700" dirty="0"/>
          </a:p>
          <a:p>
            <a:pPr marL="152400" indent="-152400">
              <a:buSzPct val="100000"/>
              <a:buChar char="•"/>
            </a:pPr>
            <a:r>
              <a:rPr lang="en-US" sz="1700" dirty="0">
                <a:solidFill>
                  <a:srgbClr val="1A1F2E"/>
                </a:solidFill>
                <a:latin typeface="Aptos" pitchFamily="34" charset="0"/>
                <a:ea typeface="Aptos" pitchFamily="34" charset="-122"/>
                <a:cs typeface="Aptos" pitchFamily="34" charset="-120"/>
              </a:rPr>
              <a:t>Confirm RIST-RAFT input/output definitions, correction-factor logic and operator-facing guidance scenarios.</a:t>
            </a:r>
            <a:endParaRPr lang="en-US" sz="1700" dirty="0"/>
          </a:p>
          <a:p>
            <a:pPr marL="152400" indent="-152400">
              <a:buSzPct val="100000"/>
              <a:buChar char="•"/>
            </a:pPr>
            <a:r>
              <a:rPr lang="en-US" sz="1700" dirty="0">
                <a:solidFill>
                  <a:srgbClr val="1A1F2E"/>
                </a:solidFill>
                <a:latin typeface="Aptos" pitchFamily="34" charset="0"/>
                <a:ea typeface="Aptos" pitchFamily="34" charset="-122"/>
                <a:cs typeface="Aptos" pitchFamily="34" charset="-120"/>
              </a:rPr>
              <a:t>Refine the HMT feature windows and retrain the strongest-performing model with validated plant data.</a:t>
            </a:r>
            <a:endParaRPr lang="en-US" sz="1700" dirty="0"/>
          </a:p>
          <a:p>
            <a:pPr marL="152400" indent="-152400">
              <a:buSzPct val="100000"/>
              <a:buChar char="•"/>
            </a:pPr>
            <a:r>
              <a:rPr lang="en-US" sz="1700" dirty="0">
                <a:solidFill>
                  <a:srgbClr val="1A1F2E"/>
                </a:solidFill>
                <a:latin typeface="Aptos" pitchFamily="34" charset="0"/>
                <a:ea typeface="Aptos" pitchFamily="34" charset="-122"/>
                <a:cs typeface="Aptos" pitchFamily="34" charset="-120"/>
              </a:rPr>
              <a:t>Develop the ETA CO2 section further once the supporting material and interpretation framework are confirmed.</a:t>
            </a:r>
            <a:endParaRPr lang="en-US" sz="1700" dirty="0"/>
          </a:p>
          <a:p>
            <a:pPr marL="152400" indent="-152400">
              <a:buSzPct val="100000"/>
              <a:buChar char="•"/>
            </a:pPr>
            <a:r>
              <a:rPr lang="en-US" sz="1700" dirty="0">
                <a:solidFill>
                  <a:srgbClr val="1A1F2E"/>
                </a:solidFill>
                <a:latin typeface="Aptos" pitchFamily="34" charset="0"/>
                <a:ea typeface="Aptos" pitchFamily="34" charset="-122"/>
                <a:cs typeface="Aptos" pitchFamily="34" charset="-120"/>
              </a:rPr>
              <a:t>Translate the technical logic into an operator-consumable advisory workflow and final management deck.</a:t>
            </a:r>
            <a:endParaRPr lang="en-US" sz="1700" dirty="0"/>
          </a:p>
        </p:txBody>
      </p:sp>
      <p:sp>
        <p:nvSpPr>
          <p:cNvPr id="13" name="Text 11"/>
          <p:cNvSpPr/>
          <p:nvPr/>
        </p:nvSpPr>
        <p:spPr>
          <a:xfrm>
            <a:off x="1042416" y="5175504"/>
            <a:ext cx="4315968" cy="694944"/>
          </a:xfrm>
          <a:prstGeom prst="rect">
            <a:avLst/>
          </a:prstGeom>
          <a:noFill/>
          <a:ln/>
        </p:spPr>
        <p:txBody>
          <a:bodyPr wrap="square" lIns="0" tIns="0" rIns="0" bIns="0" rtlCol="0" anchor="t"/>
          <a:lstStyle/>
          <a:p>
            <a:pPr marL="0" indent="0">
              <a:buNone/>
            </a:pPr>
            <a:endParaRPr lang="en-US" sz="1150" dirty="0"/>
          </a:p>
        </p:txBody>
      </p:sp>
      <p:sp>
        <p:nvSpPr>
          <p:cNvPr id="14" name="Shape 12"/>
          <p:cNvSpPr/>
          <p:nvPr/>
        </p:nvSpPr>
        <p:spPr>
          <a:xfrm>
            <a:off x="950976" y="4864607"/>
            <a:ext cx="5486400" cy="1097280"/>
          </a:xfrm>
          <a:prstGeom prst="roundRect">
            <a:avLst>
              <a:gd name="adj" fmla="val 4167"/>
            </a:avLst>
          </a:prstGeom>
          <a:solidFill>
            <a:srgbClr val="EAF2FF"/>
          </a:solidFill>
          <a:ln w="12700">
            <a:solidFill>
              <a:srgbClr val="D9D4CA"/>
            </a:solidFill>
            <a:prstDash val="solid"/>
          </a:ln>
        </p:spPr>
        <p:txBody>
          <a:bodyPr/>
          <a:lstStyle/>
          <a:p>
            <a:endParaRPr lang="en-US"/>
          </a:p>
        </p:txBody>
      </p:sp>
      <p:sp>
        <p:nvSpPr>
          <p:cNvPr id="15" name="Text 13"/>
          <p:cNvSpPr/>
          <p:nvPr/>
        </p:nvSpPr>
        <p:spPr>
          <a:xfrm>
            <a:off x="1078992" y="4956047"/>
            <a:ext cx="5230368" cy="182880"/>
          </a:xfrm>
          <a:prstGeom prst="rect">
            <a:avLst/>
          </a:prstGeom>
          <a:noFill/>
          <a:ln/>
        </p:spPr>
        <p:txBody>
          <a:bodyPr wrap="square" lIns="0" tIns="0" rIns="0" bIns="0" rtlCol="0" anchor="ctr"/>
          <a:lstStyle/>
          <a:p>
            <a:pPr marL="0" indent="0">
              <a:buNone/>
            </a:pPr>
            <a:r>
              <a:rPr lang="en-US" sz="1500" b="1" dirty="0">
                <a:solidFill>
                  <a:srgbClr val="14213D"/>
                </a:solidFill>
                <a:latin typeface="Aptos Display" pitchFamily="34" charset="0"/>
                <a:ea typeface="Aptos Display" pitchFamily="34" charset="-122"/>
                <a:cs typeface="Aptos Display" pitchFamily="34" charset="-120"/>
              </a:rPr>
              <a:t>Open items</a:t>
            </a:r>
            <a:endParaRPr lang="en-US" sz="1500" dirty="0"/>
          </a:p>
        </p:txBody>
      </p:sp>
      <p:sp>
        <p:nvSpPr>
          <p:cNvPr id="16" name="Text 14"/>
          <p:cNvSpPr/>
          <p:nvPr/>
        </p:nvSpPr>
        <p:spPr>
          <a:xfrm>
            <a:off x="1078992" y="5193791"/>
            <a:ext cx="5230368" cy="694944"/>
          </a:xfrm>
          <a:prstGeom prst="rect">
            <a:avLst/>
          </a:prstGeom>
          <a:noFill/>
          <a:ln/>
        </p:spPr>
        <p:txBody>
          <a:bodyPr wrap="square" lIns="0" tIns="0" rIns="0" bIns="0" rtlCol="0" anchor="t"/>
          <a:lstStyle/>
          <a:p>
            <a:pPr marL="0" indent="0">
              <a:buNone/>
            </a:pPr>
            <a:r>
              <a:rPr lang="en-US" sz="1150" dirty="0">
                <a:solidFill>
                  <a:srgbClr val="1A1F2E"/>
                </a:solidFill>
                <a:latin typeface="Aptos" pitchFamily="34" charset="0"/>
                <a:ea typeface="Aptos" pitchFamily="34" charset="-122"/>
                <a:cs typeface="Aptos" pitchFamily="34" charset="-120"/>
              </a:rPr>
              <a:t>Research paper references, deeper ETA CO2 content, approved charts, and validation of plant-specific interpretation points.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458200" y="0"/>
            <a:ext cx="3730752" cy="1005840"/>
          </a:xfrm>
          <a:prstGeom prst="rect">
            <a:avLst/>
          </a:prstGeom>
          <a:solidFill>
            <a:srgbClr val="1F5AA6">
              <a:alpha val="92000"/>
            </a:srgbClr>
          </a:solidFill>
          <a:ln w="12700">
            <a:solidFill>
              <a:srgbClr val="1F5AA6">
                <a:alpha val="0"/>
              </a:srgbClr>
            </a:solidFill>
            <a:prstDash val="solid"/>
          </a:ln>
        </p:spPr>
        <p:txBody>
          <a:bodyPr/>
          <a:lstStyle/>
          <a:p>
            <a:endParaRPr lang="en-US"/>
          </a:p>
        </p:txBody>
      </p:sp>
      <p:sp>
        <p:nvSpPr>
          <p:cNvPr id="3" name="Shape 1"/>
          <p:cNvSpPr/>
          <p:nvPr/>
        </p:nvSpPr>
        <p:spPr>
          <a:xfrm>
            <a:off x="10058400" y="0"/>
            <a:ext cx="2130552" cy="1005840"/>
          </a:xfrm>
          <a:prstGeom prst="rect">
            <a:avLst/>
          </a:prstGeom>
          <a:solidFill>
            <a:srgbClr val="B63A3B">
              <a:alpha val="92000"/>
            </a:srgbClr>
          </a:solidFill>
          <a:ln w="12700">
            <a:solidFill>
              <a:srgbClr val="B63A3B">
                <a:alpha val="0"/>
              </a:srgbClr>
            </a:solidFill>
            <a:prstDash val="solid"/>
          </a:ln>
        </p:spPr>
        <p:txBody>
          <a:bodyPr/>
          <a:lstStyle/>
          <a:p>
            <a:endParaRPr lang="en-US"/>
          </a:p>
        </p:txBody>
      </p:sp>
      <p:sp>
        <p:nvSpPr>
          <p:cNvPr id="4" name="Text 2"/>
          <p:cNvSpPr/>
          <p:nvPr/>
        </p:nvSpPr>
        <p:spPr>
          <a:xfrm>
            <a:off x="10652760" y="320040"/>
            <a:ext cx="1005840" cy="310896"/>
          </a:xfrm>
          <a:prstGeom prst="rect">
            <a:avLst/>
          </a:prstGeom>
          <a:noFill/>
          <a:ln/>
        </p:spPr>
        <p:txBody>
          <a:bodyPr wrap="square" lIns="0" tIns="0" rIns="0" bIns="0" rtlCol="0" anchor="ctr"/>
          <a:lstStyle/>
          <a:p>
            <a:pPr marL="0" indent="0" algn="r">
              <a:buNone/>
            </a:pPr>
            <a:r>
              <a:rPr lang="en-US" sz="2600" b="1" dirty="0">
                <a:solidFill>
                  <a:srgbClr val="FFFFFF"/>
                </a:solidFill>
                <a:latin typeface="Aptos Display" pitchFamily="34" charset="0"/>
                <a:ea typeface="Aptos Display" pitchFamily="34" charset="-122"/>
                <a:cs typeface="Aptos Display" pitchFamily="34" charset="-120"/>
              </a:rPr>
              <a:t>JSW</a:t>
            </a:r>
            <a:endParaRPr lang="en-US" sz="2600" dirty="0"/>
          </a:p>
        </p:txBody>
      </p:sp>
      <p:sp>
        <p:nvSpPr>
          <p:cNvPr id="5" name="Text 3"/>
          <p:cNvSpPr/>
          <p:nvPr/>
        </p:nvSpPr>
        <p:spPr>
          <a:xfrm>
            <a:off x="1192721" y="4217670"/>
            <a:ext cx="3291840" cy="640080"/>
          </a:xfrm>
          <a:prstGeom prst="rect">
            <a:avLst/>
          </a:prstGeom>
          <a:noFill/>
          <a:ln/>
        </p:spPr>
        <p:txBody>
          <a:bodyPr wrap="square" lIns="0" tIns="0" rIns="0" bIns="0" rtlCol="0" anchor="ctr"/>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1497</Words>
  <Application>Microsoft Macintosh PowerPoint</Application>
  <PresentationFormat>Widescreen</PresentationFormat>
  <Paragraphs>243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JSW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Blast Furnace Corporate Draft</dc:title>
  <dc:subject>Blast Furnace Use Case Draft</dc:subject>
  <dc:creator>OpenAI Codex</dc:creator>
  <cp:lastModifiedBy>riddhiraj kaushik</cp:lastModifiedBy>
  <cp:revision>3</cp:revision>
  <dcterms:created xsi:type="dcterms:W3CDTF">2026-06-08T03:14:35Z</dcterms:created>
  <dcterms:modified xsi:type="dcterms:W3CDTF">2026-06-08T04:51:26Z</dcterms:modified>
</cp:coreProperties>
</file>