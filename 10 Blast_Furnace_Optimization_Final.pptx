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31f00f1f1043f8" /><Relationship Type="http://schemas.openxmlformats.org/officeDocument/2006/relationships/extended-properties" Target="/docProps/app.xml" Id="Re9075959ad664c6a" /><Relationship Type="http://schemas.openxmlformats.org/officeDocument/2006/relationships/officeDocument" Target="/ppt/presentation.xml" Id="R4b23dc1a7ea44d80" /></Relationships>
</file>

<file path=ppt/presentation.xml><?xml version="1.0" encoding="utf-8"?>
<p:presentation xmlns:p="http://schemas.openxmlformats.org/presentationml/2006/main">
  <p:sldMasterIdLst>
    <p:sldMasterId xmlns:r="http://schemas.openxmlformats.org/officeDocument/2006/relationships" id="2147483648" r:id="R48395ce6370842b6"/>
  </p:sldMasterIdLst>
  <p:notesMasterIdLst>
    <p:notesMasterId xmlns:r="http://schemas.openxmlformats.org/officeDocument/2006/relationships" r:id="Rafc0aa4ee8244217"/>
  </p:notesMasterIdLst>
  <p:sldIdLst>
    <p:sldId xmlns:r="http://schemas.openxmlformats.org/officeDocument/2006/relationships" id="256" r:id="R3dd394e74b954d31"/>
    <p:sldId xmlns:r="http://schemas.openxmlformats.org/officeDocument/2006/relationships" id="257" r:id="R44050959166d4e3a"/>
    <p:sldId xmlns:r="http://schemas.openxmlformats.org/officeDocument/2006/relationships" id="258" r:id="Rb6bd7b60c5eb4018"/>
    <p:sldId xmlns:r="http://schemas.openxmlformats.org/officeDocument/2006/relationships" id="259" r:id="Rfe3eea00dceb420e"/>
    <p:sldId xmlns:r="http://schemas.openxmlformats.org/officeDocument/2006/relationships" id="260" r:id="Rf5c20a0a42dd4dee"/>
    <p:sldId xmlns:r="http://schemas.openxmlformats.org/officeDocument/2006/relationships" id="261" r:id="R92da8063234445c5"/>
    <p:sldId xmlns:r="http://schemas.openxmlformats.org/officeDocument/2006/relationships" id="262" r:id="Rd928e36a88f84c37"/>
    <p:sldId xmlns:r="http://schemas.openxmlformats.org/officeDocument/2006/relationships" id="263" r:id="R959ddeab6a2f46dc"/>
    <p:sldId xmlns:r="http://schemas.openxmlformats.org/officeDocument/2006/relationships" id="264" r:id="Rf51865898b85443a"/>
    <p:sldId xmlns:r="http://schemas.openxmlformats.org/officeDocument/2006/relationships" id="265" r:id="R9fd202635a214b8b"/>
    <p:sldId xmlns:r="http://schemas.openxmlformats.org/officeDocument/2006/relationships" id="266" r:id="R1249b682546045d5"/>
    <p:sldId xmlns:r="http://schemas.openxmlformats.org/officeDocument/2006/relationships" id="267" r:id="R5c816e3f42384f2b"/>
    <p:sldId xmlns:r="http://schemas.openxmlformats.org/officeDocument/2006/relationships" id="268" r:id="R8b816b64665c4c76"/>
    <p:sldId xmlns:r="http://schemas.openxmlformats.org/officeDocument/2006/relationships" id="269" r:id="R3d675915ae8340e9"/>
    <p:sldId xmlns:r="http://schemas.openxmlformats.org/officeDocument/2006/relationships" id="270" r:id="Rbea159eab9484d9d"/>
    <p:sldId xmlns:r="http://schemas.openxmlformats.org/officeDocument/2006/relationships" id="271" r:id="R4f446136d8dc4b73"/>
    <p:sldId xmlns:r="http://schemas.openxmlformats.org/officeDocument/2006/relationships" id="272" r:id="R60b39b1715db4823"/>
    <p:sldId xmlns:r="http://schemas.openxmlformats.org/officeDocument/2006/relationships" id="273" r:id="R7df4fe9046c44f09"/>
    <p:sldId xmlns:r="http://schemas.openxmlformats.org/officeDocument/2006/relationships" id="274" r:id="R6c35104b672645f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130a3829ad040ba" /><Relationship Type="http://schemas.openxmlformats.org/officeDocument/2006/relationships/slideMaster" Target="/ppt/slideMasters/slideMaster1.xml" Id="R48395ce6370842b6" /><Relationship Type="http://schemas.openxmlformats.org/officeDocument/2006/relationships/notesMaster" Target="/ppt/notesMasters/notesMaster1.xml" Id="Rafc0aa4ee8244217" /><Relationship Type="http://schemas.openxmlformats.org/officeDocument/2006/relationships/presProps" Target="/ppt/presProps.xml" Id="R62eca76bb66640b6" /><Relationship Type="http://schemas.openxmlformats.org/officeDocument/2006/relationships/viewProps" Target="/ppt/viewProps.xml" Id="R6a389014b6f64d47" /><Relationship Type="http://schemas.openxmlformats.org/officeDocument/2006/relationships/tableStyles" Target="/ppt/tableStyles.xml" Id="R215467fc8f65477c" /><Relationship Type="http://schemas.openxmlformats.org/officeDocument/2006/relationships/slide" Target="/ppt/slides/slide1.xml" Id="R3dd394e74b954d31" /><Relationship Type="http://schemas.openxmlformats.org/officeDocument/2006/relationships/slide" Target="/ppt/slides/slide2.xml" Id="R44050959166d4e3a" /><Relationship Type="http://schemas.openxmlformats.org/officeDocument/2006/relationships/slide" Target="/ppt/slides/slide3.xml" Id="Rb6bd7b60c5eb4018" /><Relationship Type="http://schemas.openxmlformats.org/officeDocument/2006/relationships/slide" Target="/ppt/slides/slide4.xml" Id="Rfe3eea00dceb420e" /><Relationship Type="http://schemas.openxmlformats.org/officeDocument/2006/relationships/slide" Target="/ppt/slides/slide5.xml" Id="Rf5c20a0a42dd4dee" /><Relationship Type="http://schemas.openxmlformats.org/officeDocument/2006/relationships/slide" Target="/ppt/slides/slide6.xml" Id="R92da8063234445c5" /><Relationship Type="http://schemas.openxmlformats.org/officeDocument/2006/relationships/slide" Target="/ppt/slides/slide7.xml" Id="Rd928e36a88f84c37" /><Relationship Type="http://schemas.openxmlformats.org/officeDocument/2006/relationships/slide" Target="/ppt/slides/slide8.xml" Id="R959ddeab6a2f46dc" /><Relationship Type="http://schemas.openxmlformats.org/officeDocument/2006/relationships/slide" Target="/ppt/slides/slide9.xml" Id="Rf51865898b85443a" /><Relationship Type="http://schemas.openxmlformats.org/officeDocument/2006/relationships/slide" Target="/ppt/slides/slide10.xml" Id="R9fd202635a214b8b" /><Relationship Type="http://schemas.openxmlformats.org/officeDocument/2006/relationships/slide" Target="/ppt/slides/slide11.xml" Id="R1249b682546045d5" /><Relationship Type="http://schemas.openxmlformats.org/officeDocument/2006/relationships/slide" Target="/ppt/slides/slide12.xml" Id="R5c816e3f42384f2b" /><Relationship Type="http://schemas.openxmlformats.org/officeDocument/2006/relationships/slide" Target="/ppt/slides/slide13.xml" Id="R8b816b64665c4c76" /><Relationship Type="http://schemas.openxmlformats.org/officeDocument/2006/relationships/slide" Target="/ppt/slides/slide14.xml" Id="R3d675915ae8340e9" /><Relationship Type="http://schemas.openxmlformats.org/officeDocument/2006/relationships/slide" Target="/ppt/slides/slide15.xml" Id="Rbea159eab9484d9d" /><Relationship Type="http://schemas.openxmlformats.org/officeDocument/2006/relationships/slide" Target="/ppt/slides/slide16.xml" Id="R4f446136d8dc4b73" /><Relationship Type="http://schemas.openxmlformats.org/officeDocument/2006/relationships/slide" Target="/ppt/slides/slide17.xml" Id="R60b39b1715db4823" /><Relationship Type="http://schemas.openxmlformats.org/officeDocument/2006/relationships/slide" Target="/ppt/slides/slide18.xml" Id="R7df4fe9046c44f09" /><Relationship Type="http://schemas.openxmlformats.org/officeDocument/2006/relationships/slide" Target="/ppt/slides/slide19.xml" Id="R6c35104b672645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3e0ae99d2544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96ecca672a4881" /><Relationship Type="http://schemas.openxmlformats.org/officeDocument/2006/relationships/notesMaster" Target="/ppt/notesMasters/notesMaster1.xml" Id="R232fd428c44f41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b33ce21c814863" /><Relationship Type="http://schemas.openxmlformats.org/officeDocument/2006/relationships/notesMaster" Target="/ppt/notesMasters/notesMaster1.xml" Id="R51e1234d16a149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0dc2d412c64b9e" /><Relationship Type="http://schemas.openxmlformats.org/officeDocument/2006/relationships/notesMaster" Target="/ppt/notesMasters/notesMaster1.xml" Id="Ra86e8280338044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8db749c3604afb" /><Relationship Type="http://schemas.openxmlformats.org/officeDocument/2006/relationships/notesMaster" Target="/ppt/notesMasters/notesMaster1.xml" Id="Rc3df28ca5c7341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8bb790d1cf4f73" /><Relationship Type="http://schemas.openxmlformats.org/officeDocument/2006/relationships/notesMaster" Target="/ppt/notesMasters/notesMaster1.xml" Id="R12e335398cb641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df6a87344947ec" /><Relationship Type="http://schemas.openxmlformats.org/officeDocument/2006/relationships/notesMaster" Target="/ppt/notesMasters/notesMaster1.xml" Id="R8328e186164049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5cb5756b1241fc" /><Relationship Type="http://schemas.openxmlformats.org/officeDocument/2006/relationships/notesMaster" Target="/ppt/notesMasters/notesMaster1.xml" Id="Rd74ad236a4234b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39a8915fc74246" /><Relationship Type="http://schemas.openxmlformats.org/officeDocument/2006/relationships/notesMaster" Target="/ppt/notesMasters/notesMaster1.xml" Id="R44b690fd9b1247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4e332c04354618" /><Relationship Type="http://schemas.openxmlformats.org/officeDocument/2006/relationships/notesMaster" Target="/ppt/notesMasters/notesMaster1.xml" Id="R3849b1d09eb845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3d60cba5f24348" /><Relationship Type="http://schemas.openxmlformats.org/officeDocument/2006/relationships/notesMaster" Target="/ppt/notesMasters/notesMaster1.xml" Id="R4891ac252bba4c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9026e3ae0f4dc5" /><Relationship Type="http://schemas.openxmlformats.org/officeDocument/2006/relationships/notesMaster" Target="/ppt/notesMasters/notesMaster1.xml" Id="R5fa572a7960f41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f6f70a922c463a" /><Relationship Type="http://schemas.openxmlformats.org/officeDocument/2006/relationships/notesMaster" Target="/ppt/notesMasters/notesMaster1.xml" Id="R2bab7a9eb56b4a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9f5382ddbf49f4" /><Relationship Type="http://schemas.openxmlformats.org/officeDocument/2006/relationships/notesMaster" Target="/ppt/notesMasters/notesMaster1.xml" Id="R0e1daa30d44443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8db307c9c941a4" /><Relationship Type="http://schemas.openxmlformats.org/officeDocument/2006/relationships/notesMaster" Target="/ppt/notesMasters/notesMaster1.xml" Id="R93f1fe2f5dfd4f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6c4910bb674b04" /><Relationship Type="http://schemas.openxmlformats.org/officeDocument/2006/relationships/notesMaster" Target="/ppt/notesMasters/notesMaster1.xml" Id="Rb738c244516e47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c373ffc2a349bf" /><Relationship Type="http://schemas.openxmlformats.org/officeDocument/2006/relationships/notesMaster" Target="/ppt/notesMasters/notesMaster1.xml" Id="Rb9f9b855643a48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a579b1f1a74a2f" /><Relationship Type="http://schemas.openxmlformats.org/officeDocument/2006/relationships/notesMaster" Target="/ppt/notesMasters/notesMaster1.xml" Id="R4f5c1230188e4c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00030eab504966" /><Relationship Type="http://schemas.openxmlformats.org/officeDocument/2006/relationships/notesMaster" Target="/ppt/notesMasters/notesMaster1.xml" Id="Rc03caf059f6a47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1673f16f2e94f2f" /><Relationship Type="http://schemas.openxmlformats.org/officeDocument/2006/relationships/notesMaster" Target="/ppt/notesMasters/notesMaster1.xml" Id="R3f8c67ad75e84a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de701e551f43b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3e81e0d4924443" /><Relationship Type="http://schemas.openxmlformats.org/officeDocument/2006/relationships/slideLayout" Target="/ppt/slideLayouts/slideLayout1.xml" Id="R7d62f5a80e5a4fe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62f5a80e5a4fe2"/>
  </p:sldLayoutIdLst>
  <p:hf sldNum="0" hdr="0" ftr="0" dt="0"/>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5658352ea34394" /><Relationship Type="http://schemas.openxmlformats.org/officeDocument/2006/relationships/image" Target="/ppt/media/image.png" Id="Rbf3849a872b443ba" /><Relationship Type="http://schemas.openxmlformats.org/officeDocument/2006/relationships/notesSlide" Target="/ppt/notesSlides/notesSlide1.xml" Id="Ref6edc6c888e4f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e80c23d4e548fa" /><Relationship Type="http://schemas.openxmlformats.org/officeDocument/2006/relationships/notesSlide" Target="/ppt/notesSlides/notesSlide2.xml" Id="Re9d5485c94f447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08b7910b0d4172" /><Relationship Type="http://schemas.openxmlformats.org/officeDocument/2006/relationships/notesSlide" Target="/ppt/notesSlides/notesSlide3.xml" Id="Rdf511f1e8d5f4c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a0ebaac01e487f" /><Relationship Type="http://schemas.openxmlformats.org/officeDocument/2006/relationships/notesSlide" Target="/ppt/notesSlides/notesSlide4.xml" Id="R3312b93faa004f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bd18af12be450d" /><Relationship Type="http://schemas.openxmlformats.org/officeDocument/2006/relationships/notesSlide" Target="/ppt/notesSlides/notesSlide5.xml" Id="Reb9c3627368b43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dfd244531e4209" /><Relationship Type="http://schemas.openxmlformats.org/officeDocument/2006/relationships/notesSlide" Target="/ppt/notesSlides/notesSlide6.xml" Id="Re58fd77396e548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41b242cd1347e8" /><Relationship Type="http://schemas.openxmlformats.org/officeDocument/2006/relationships/notesSlide" Target="/ppt/notesSlides/notesSlide7.xml" Id="Rd1a6b11a1f2549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fa07ff26854464" /><Relationship Type="http://schemas.openxmlformats.org/officeDocument/2006/relationships/notesSlide" Target="/ppt/notesSlides/notesSlide8.xml" Id="R9a2a63d4968143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64e3d1ef284975" /><Relationship Type="http://schemas.openxmlformats.org/officeDocument/2006/relationships/notesSlide" Target="/ppt/notesSlides/notesSlide9.xml" Id="R13a3ee7ee5b143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1c77f75bae4544" /><Relationship Type="http://schemas.openxmlformats.org/officeDocument/2006/relationships/notesSlide" Target="/ppt/notesSlides/notesSlide10.xml" Id="R6dd4df8de6ec4c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59ca42068d495c" /><Relationship Type="http://schemas.openxmlformats.org/officeDocument/2006/relationships/notesSlide" Target="/ppt/notesSlides/notesSlide11.xml" Id="Rc0bf0e9347ed44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827ad1bf4544e9" /><Relationship Type="http://schemas.openxmlformats.org/officeDocument/2006/relationships/notesSlide" Target="/ppt/notesSlides/notesSlide12.xml" Id="R0e84543e541b4e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6f02a201cb47d8" /><Relationship Type="http://schemas.openxmlformats.org/officeDocument/2006/relationships/notesSlide" Target="/ppt/notesSlides/notesSlide13.xml" Id="Re16f2e18844440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b68ee91f6e465f" /><Relationship Type="http://schemas.openxmlformats.org/officeDocument/2006/relationships/notesSlide" Target="/ppt/notesSlides/notesSlide14.xml" Id="Rd49bb7bf5320493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0e09631cc94453f" /><Relationship Type="http://schemas.openxmlformats.org/officeDocument/2006/relationships/notesSlide" Target="/ppt/notesSlides/notesSlide15.xml" Id="R1266811c91434b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b280ff73d904023" /><Relationship Type="http://schemas.openxmlformats.org/officeDocument/2006/relationships/notesSlide" Target="/ppt/notesSlides/notesSlide16.xml" Id="Rd46c14fe46e748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d5aa38fd74f44ec" /><Relationship Type="http://schemas.openxmlformats.org/officeDocument/2006/relationships/notesSlide" Target="/ppt/notesSlides/notesSlide17.xml" Id="Rb9dbb442a4bd4f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e86b2ac67c34616" /><Relationship Type="http://schemas.openxmlformats.org/officeDocument/2006/relationships/notesSlide" Target="/ppt/notesSlides/notesSlide18.xml" Id="R2853b3f4f5e04b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81114f38d5f41f4" /><Relationship Type="http://schemas.openxmlformats.org/officeDocument/2006/relationships/notesSlide" Target="/ppt/notesSlides/notesSlide19.xml" Id="Redada83a2c3f41b5" /></Relationships>
</file>

<file path=ppt/slides/slide1.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pic>
        <p:nvPicPr>
          <p:cNvPr id="9" name="Picture 12"/>
          <p:cNvPicPr>
            <a:picLocks xmlns:a="http://schemas.openxmlformats.org/drawingml/2006/main" noChangeAspect="1"/>
          </p:cNvPicPr>
          <p:nvPr/>
        </p:nvPicPr>
        <p:blipFill>
          <a:blip xmlns:r="http://schemas.openxmlformats.org/officeDocument/2006/relationships" xmlns:a="http://schemas.openxmlformats.org/drawingml/2006/main" r:embed="Rbf3849a872b443ba"/>
          <a:stretch xmlns:a="http://schemas.openxmlformats.org/drawingml/2006/main">
            <a:fillRect l="0" t="0" r="0" b="0"/>
          </a:stretch>
        </p:blipFill>
        <p:spPr>
          <a:xfrm xmlns:a="http://schemas.openxmlformats.org/drawingml/2006/main">
            <a:off x="7616952" y="0"/>
            <a:ext cx="4572000" cy="6858000"/>
          </a:xfrm>
          <a:prstGeom xmlns:a="http://schemas.openxmlformats.org/drawingml/2006/main" prst="rect">
            <a:avLst/>
          </a:prstGeom>
        </p:spPr>
      </p:pic>
      <p:sp>
        <p:nvSpPr>
          <p:cNvPr id="4" name="Text 2">
            <a:extLst xmlns:a="http://schemas.openxmlformats.org/drawingml/2006/main">
              <a:ext uri="{FF2B5EF4-FFF2-40B4-BE49-F238E27FC236}">
                <a16:creationId xmlns:a16="http://schemas.microsoft.com/office/drawing/2014/main" id="{BE7A0931-5CD0-4E14-A5BD-5C669BA119ED}"/>
              </a:ext>
            </a:extLst>
          </p:cNvPr>
          <p:cNvSpPr>
            <a:spLocks xmlns:a="http://schemas.openxmlformats.org/drawingml/2006/main" noGrp="1"/>
          </p:cNvSpPr>
          <p:nvPr/>
        </p:nvSpPr>
        <p:spPr>
          <a:xfrm xmlns:a="http://schemas.openxmlformats.org/drawingml/2006/main">
            <a:off x="10607040" y="320040"/>
            <a:ext cx="1097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p>
        </p:txBody>
      </p:sp>
      <p:sp>
        <p:nvSpPr>
          <p:cNvPr id="5" name="Text 3">
            <a:extLst xmlns:a="http://schemas.openxmlformats.org/drawingml/2006/main">
              <a:ext uri="{FF2B5EF4-FFF2-40B4-BE49-F238E27FC236}">
                <a16:creationId xmlns:a16="http://schemas.microsoft.com/office/drawing/2014/main" id="{6967D048-EDD2-4789-AD9F-9CDD1F1204BB}"/>
              </a:ext>
            </a:extLst>
          </p:cNvPr>
          <p:cNvSpPr>
            <a:spLocks xmlns:a="http://schemas.openxmlformats.org/drawingml/2006/main" noGrp="1"/>
          </p:cNvSpPr>
          <p:nvPr/>
        </p:nvSpPr>
        <p:spPr>
          <a:xfrm xmlns:a="http://schemas.openxmlformats.org/drawingml/2006/main">
            <a:off x="10195560" y="667512"/>
            <a:ext cx="15087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p>
        </p:txBody>
      </p:sp>
      <p:sp>
        <p:nvSpPr>
          <p:cNvPr id="6" name="Text 4">
            <a:extLst xmlns:a="http://schemas.openxmlformats.org/drawingml/2006/main">
              <a:ext uri="{FF2B5EF4-FFF2-40B4-BE49-F238E27FC236}">
                <a16:creationId xmlns:a16="http://schemas.microsoft.com/office/drawing/2014/main" id="{455B8F83-402F-45BC-ACD6-0A24B113F3E0}"/>
              </a:ext>
            </a:extLst>
          </p:cNvPr>
          <p:cNvSpPr>
            <a:spLocks xmlns:a="http://schemas.openxmlformats.org/drawingml/2006/main" noGrp="1"/>
          </p:cNvSpPr>
          <p:nvPr/>
        </p:nvSpPr>
        <p:spPr>
          <a:xfrm xmlns:a="http://schemas.openxmlformats.org/drawingml/2006/main">
            <a:off x="804672" y="1548765"/>
            <a:ext cx="65836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FFFFFF"/>
                </a:solidFill>
                <a:latin typeface="Aptos Display"/>
                <a:ea typeface="Aptos Display"/>
                <a:cs typeface="Aptos Display"/>
              </a:rPr>
              <a:t>Blast Furnace Optimization</a:t>
            </a:r>
          </a:p>
          <a:p xmlns:a="http://schemas.openxmlformats.org/drawingml/2006/main">
            <a:pPr marL="0" indent="0">
              <a:buNone/>
            </a:pPr>
            <a:r>
              <a:rPr sz="4000" b="1">
                <a:solidFill>
                  <a:srgbClr val="FFFFFF"/>
                </a:solidFill>
                <a:latin typeface="Aptos Display"/>
                <a:ea typeface="Aptos Display"/>
                <a:cs typeface="Aptos Display"/>
              </a:rPr>
              <a:t>Approach Note</a:t>
            </a:r>
          </a:p>
        </p:txBody>
      </p:sp>
      <p:sp>
        <p:nvSpPr>
          <p:cNvPr id="7" name="Text 5">
            <a:extLst xmlns:a="http://schemas.openxmlformats.org/drawingml/2006/main">
              <a:ext uri="{FF2B5EF4-FFF2-40B4-BE49-F238E27FC236}">
                <a16:creationId xmlns:a16="http://schemas.microsoft.com/office/drawing/2014/main" id="{31686B88-086E-455B-A614-76DEC39DA0B1}"/>
              </a:ext>
            </a:extLst>
          </p:cNvPr>
          <p:cNvSpPr>
            <a:spLocks xmlns:a="http://schemas.openxmlformats.org/drawingml/2006/main" noGrp="1"/>
          </p:cNvSpPr>
          <p:nvPr/>
        </p:nvSpPr>
        <p:spPr>
          <a:xfrm xmlns:a="http://schemas.openxmlformats.org/drawingml/2006/main">
            <a:off x="804672" y="3209544"/>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D9E3F0"/>
                </a:solidFill>
                <a:latin typeface="Aptos"/>
                <a:ea typeface="Aptos"/>
                <a:cs typeface="Aptos"/>
              </a:rPr>
              <a:t>RIST-RAFT | HMT Prediction | EtaCO Forecasting</a:t>
            </a:r>
          </a:p>
        </p:txBody>
      </p:sp>
    </p:spTree>
    <p:extLst>
      <p:ext uri="{BB962C8B-B14F-4D97-AF65-F5344CB8AC3E}">
        <p14:creationId xmlns:p14="http://schemas.microsoft.com/office/powerpoint/2010/main" val="10165742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E2CBEE-156A-4B9A-9AA0-764394E07295}"/>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341172F8-C777-4C85-BDF4-E6AC659781BB}"/>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B5E47C66-CA13-41B4-8211-F7DD46E6256D}"/>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073E0466-8832-4F84-8C06-D4EE9B9A3FF1}"/>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F4646851-B3BC-4C1F-BEC6-2CA753D3A3F3}"/>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2</a:t>
            </a:r>
          </a:p>
        </p:txBody>
      </p:sp>
      <p:sp>
        <p:nvSpPr>
          <p:cNvPr id="7" name="Shape 5">
            <a:extLst xmlns:a="http://schemas.openxmlformats.org/drawingml/2006/main">
              <a:ext uri="{FF2B5EF4-FFF2-40B4-BE49-F238E27FC236}">
                <a16:creationId xmlns:a16="http://schemas.microsoft.com/office/drawing/2014/main" id="{401B58C4-AE20-4761-A24D-1BC4D2BA5848}"/>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32B063CB-1CA7-48FE-AC58-40D0223C2D96}"/>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Agenda</a:t>
            </a:r>
          </a:p>
        </p:txBody>
      </p:sp>
      <p:sp>
        <p:nvSpPr>
          <p:cNvPr id="9" name="Shape 7">
            <a:extLst xmlns:a="http://schemas.openxmlformats.org/drawingml/2006/main">
              <a:ext uri="{FF2B5EF4-FFF2-40B4-BE49-F238E27FC236}">
                <a16:creationId xmlns:a16="http://schemas.microsoft.com/office/drawing/2014/main" id="{5F263DF0-6F1D-4C50-A16D-3898FCB19807}"/>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6571035F-5CCB-46BE-A5B6-0F1894EBEAE6}"/>
              </a:ext>
            </a:extLst>
          </p:cNvPr>
          <p:cNvSpPr>
            <a:spLocks xmlns:a="http://schemas.openxmlformats.org/drawingml/2006/main" noGrp="1"/>
          </p:cNvSpPr>
          <p:nvPr/>
        </p:nvSpPr>
        <p:spPr>
          <a:xfrm xmlns:a="http://schemas.openxmlformats.org/drawingml/2006/main">
            <a:off x="841248" y="1417320"/>
            <a:ext cx="1965960" cy="4526280"/>
          </a:xfrm>
          <a:prstGeom xmlns:a="http://schemas.openxmlformats.org/drawingml/2006/main" prst="rect">
            <a:avLst/>
          </a:prstGeom>
          <a:solidFill xmlns:a="http://schemas.openxmlformats.org/drawingml/2006/main">
            <a:srgbClr val="B63A3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E73297D9-7820-49AB-9ACF-6323FFA03413}"/>
              </a:ext>
            </a:extLst>
          </p:cNvPr>
          <p:cNvSpPr>
            <a:spLocks xmlns:a="http://schemas.openxmlformats.org/drawingml/2006/main" noGrp="1"/>
          </p:cNvSpPr>
          <p:nvPr/>
        </p:nvSpPr>
        <p:spPr>
          <a:xfrm xmlns:a="http://schemas.openxmlformats.org/drawingml/2006/main">
            <a:off x="1325880" y="3657600"/>
            <a:ext cx="9144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Aptos Display"/>
                <a:ea typeface="Aptos Display"/>
                <a:cs typeface="Aptos Display"/>
              </a:rPr>
              <a:t>Index</a:t>
            </a:r>
          </a:p>
        </p:txBody>
      </p:sp>
      <p:sp>
        <p:nvSpPr>
          <p:cNvPr id="12" name="Shape 10">
            <a:extLst xmlns:a="http://schemas.openxmlformats.org/drawingml/2006/main">
              <a:ext uri="{FF2B5EF4-FFF2-40B4-BE49-F238E27FC236}">
                <a16:creationId xmlns:a16="http://schemas.microsoft.com/office/drawing/2014/main" id="{35DB7962-F65A-41CC-8F7C-8E18D4A4BC75}"/>
              </a:ext>
            </a:extLst>
          </p:cNvPr>
          <p:cNvSpPr>
            <a:spLocks xmlns:a="http://schemas.openxmlformats.org/drawingml/2006/main" noGrp="1"/>
          </p:cNvSpPr>
          <p:nvPr/>
        </p:nvSpPr>
        <p:spPr>
          <a:xfrm xmlns:a="http://schemas.openxmlformats.org/drawingml/2006/main">
            <a:off x="3063240" y="1325880"/>
            <a:ext cx="7406640" cy="4800600"/>
          </a:xfrm>
          <a:prstGeom xmlns:a="http://schemas.openxmlformats.org/drawingml/2006/main" prst="rect">
            <a:avLst/>
          </a:prstGeom>
          <a:solidFill xmlns:a="http://schemas.openxmlformats.org/drawingml/2006/main">
            <a:srgbClr val="FFFFFF"/>
          </a:solidFill>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B1E4433D-FC96-4CF3-B972-39ADA2A881D6}"/>
              </a:ext>
            </a:extLst>
          </p:cNvPr>
          <p:cNvSpPr>
            <a:spLocks xmlns:a="http://schemas.openxmlformats.org/drawingml/2006/main" noGrp="1"/>
          </p:cNvSpPr>
          <p:nvPr/>
        </p:nvSpPr>
        <p:spPr>
          <a:xfrm xmlns:a="http://schemas.openxmlformats.org/drawingml/2006/main">
            <a:off x="3383280" y="1645920"/>
            <a:ext cx="672084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457200" indent="-457200">
              <a:buAutoNum type="arabicPeriod"/>
            </a:pPr>
            <a:r>
              <a:rPr sz="1900" b="1">
                <a:solidFill>
                  <a:srgbClr val="14213D"/>
                </a:solidFill>
                <a:latin typeface="Aptos"/>
                <a:ea typeface="Aptos"/>
                <a:cs typeface="Aptos"/>
              </a:rPr>
              <a:t>Executive summary and business context</a:t>
            </a:r>
          </a:p>
          <a:p xmlns:a="http://schemas.openxmlformats.org/drawingml/2006/main">
            <a:pPr marL="457200" indent="-457200">
              <a:buAutoNum type="arabicPeriod"/>
            </a:pPr>
            <a:r>
              <a:rPr sz="1900" b="1">
                <a:solidFill>
                  <a:srgbClr val="14213D"/>
                </a:solidFill>
                <a:latin typeface="Aptos"/>
                <a:ea typeface="Aptos"/>
                <a:cs typeface="Aptos"/>
              </a:rPr>
              <a:t>Blast furnace process and operating challenge</a:t>
            </a:r>
          </a:p>
          <a:p xmlns:a="http://schemas.openxmlformats.org/drawingml/2006/main">
            <a:pPr marL="457200" indent="-457200">
              <a:buAutoNum type="arabicPeriod"/>
            </a:pPr>
            <a:r>
              <a:rPr sz="1900" b="1">
                <a:solidFill>
                  <a:srgbClr val="14213D"/>
                </a:solidFill>
                <a:latin typeface="Aptos"/>
                <a:ea typeface="Aptos"/>
                <a:cs typeface="Aptos"/>
              </a:rPr>
              <a:t>Data landscape and preprocessing approach</a:t>
            </a:r>
          </a:p>
          <a:p xmlns:a="http://schemas.openxmlformats.org/drawingml/2006/main">
            <a:pPr marL="457200" indent="-457200">
              <a:buAutoNum type="arabicPeriod"/>
            </a:pPr>
            <a:r>
              <a:rPr sz="1900" b="1">
                <a:solidFill>
                  <a:srgbClr val="14213D"/>
                </a:solidFill>
                <a:latin typeface="Aptos"/>
                <a:ea typeface="Aptos"/>
                <a:cs typeface="Aptos"/>
              </a:rPr>
              <a:t>Use case 1: RIST-RAFT methodology and outputs</a:t>
            </a:r>
          </a:p>
          <a:p xmlns:a="http://schemas.openxmlformats.org/drawingml/2006/main">
            <a:pPr marL="457200" indent="-457200">
              <a:buAutoNum type="arabicPeriod"/>
            </a:pPr>
            <a:r>
              <a:rPr sz="1900" b="1">
                <a:solidFill>
                  <a:srgbClr val="14213D"/>
                </a:solidFill>
                <a:latin typeface="Aptos"/>
                <a:ea typeface="Aptos"/>
                <a:cs typeface="Aptos"/>
              </a:rPr>
              <a:t>Use case 2: HMT prediction approach</a:t>
            </a:r>
          </a:p>
          <a:p xmlns:a="http://schemas.openxmlformats.org/drawingml/2006/main">
            <a:pPr marL="457200" indent="-457200">
              <a:buAutoNum type="arabicPeriod"/>
            </a:pPr>
            <a:r>
              <a:rPr sz="1900" b="1">
                <a:solidFill>
                  <a:srgbClr val="14213D"/>
                </a:solidFill>
                <a:latin typeface="Aptos"/>
                <a:ea typeface="Aptos"/>
                <a:cs typeface="Aptos"/>
              </a:rPr>
              <a:t>Use case 3: EtaCO forecasting approach</a:t>
            </a:r>
          </a:p>
          <a:p xmlns:a="http://schemas.openxmlformats.org/drawingml/2006/main">
            <a:pPr marL="457200" indent="-457200">
              <a:buAutoNum type="arabicPeriod"/>
            </a:pPr>
            <a:r>
              <a:rPr sz="1900" b="1">
                <a:solidFill>
                  <a:srgbClr val="14213D"/>
                </a:solidFill>
                <a:latin typeface="Aptos"/>
                <a:ea typeface="Aptos"/>
                <a:cs typeface="Aptos"/>
              </a:rPr>
              <a:t>Integrated advisory framework</a:t>
            </a:r>
          </a:p>
          <a:p xmlns:a="http://schemas.openxmlformats.org/drawingml/2006/main">
            <a:pPr marL="457200" indent="-457200">
              <a:buAutoNum type="arabicPeriod"/>
            </a:pPr>
            <a:r>
              <a:rPr sz="1900" b="1">
                <a:solidFill>
                  <a:srgbClr val="14213D"/>
                </a:solidFill>
                <a:latin typeface="Aptos"/>
                <a:ea typeface="Aptos"/>
                <a:cs typeface="Aptos"/>
              </a:rPr>
              <a:t>Roadmap and next steps</a:t>
            </a:r>
          </a:p>
        </p:txBody>
      </p:sp>
    </p:spTree>
    <p:extLst>
      <p:ext uri="{BB962C8B-B14F-4D97-AF65-F5344CB8AC3E}">
        <p14:creationId xmlns:p14="http://schemas.microsoft.com/office/powerpoint/2010/main" val="10350316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19D3B2-9E89-4BC4-909A-4A26A6053056}"/>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3CF62A83-8D47-4E75-AC46-7760F819309F}"/>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4BB80EE7-CFA3-4BD3-BF51-62B36FD36854}"/>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504713E0-9D98-4AF1-973B-DCDC22DA965D}"/>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6818C6E4-EE98-47B5-A3B0-270DA19AAB1F}"/>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3</a:t>
            </a:r>
          </a:p>
        </p:txBody>
      </p:sp>
      <p:sp>
        <p:nvSpPr>
          <p:cNvPr id="7" name="Shape 5">
            <a:extLst xmlns:a="http://schemas.openxmlformats.org/drawingml/2006/main">
              <a:ext uri="{FF2B5EF4-FFF2-40B4-BE49-F238E27FC236}">
                <a16:creationId xmlns:a16="http://schemas.microsoft.com/office/drawing/2014/main" id="{A82D398B-0B1F-4731-9F36-A7E3B414C7C1}"/>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4F36E8BF-BEF5-4A3E-B379-1333DBE99736}"/>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Executive Summary</a:t>
            </a:r>
          </a:p>
        </p:txBody>
      </p:sp>
      <p:sp>
        <p:nvSpPr>
          <p:cNvPr id="9" name="Shape 7">
            <a:extLst xmlns:a="http://schemas.openxmlformats.org/drawingml/2006/main">
              <a:ext uri="{FF2B5EF4-FFF2-40B4-BE49-F238E27FC236}">
                <a16:creationId xmlns:a16="http://schemas.microsoft.com/office/drawing/2014/main" id="{13F1C824-F9B7-4FDA-A2D0-7BCF79A504A1}"/>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7EEDE340-F727-4A14-8787-3F2AD2F38FA5}"/>
              </a:ext>
            </a:extLst>
          </p:cNvPr>
          <p:cNvSpPr>
            <a:spLocks xmlns:a="http://schemas.openxmlformats.org/drawingml/2006/main" noGrp="1"/>
          </p:cNvSpPr>
          <p:nvPr/>
        </p:nvSpPr>
        <p:spPr>
          <a:xfrm xmlns:a="http://schemas.openxmlformats.org/drawingml/2006/main">
            <a:off x="868680" y="1325880"/>
            <a:ext cx="3474720" cy="1828800"/>
          </a:xfrm>
          <a:prstGeom xmlns:a="http://schemas.openxmlformats.org/drawingml/2006/main" prst="roundRect">
            <a:avLst>
              <a:gd name="adj" fmla="val 250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41C4CCCD-5ABA-4A28-8185-148C2B6B4C45}"/>
              </a:ext>
            </a:extLst>
          </p:cNvPr>
          <p:cNvSpPr>
            <a:spLocks xmlns:a="http://schemas.openxmlformats.org/drawingml/2006/main" noGrp="1"/>
          </p:cNvSpPr>
          <p:nvPr/>
        </p:nvSpPr>
        <p:spPr>
          <a:xfrm xmlns:a="http://schemas.openxmlformats.org/drawingml/2006/main">
            <a:off x="996696" y="1417320"/>
            <a:ext cx="32186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Objective</a:t>
            </a:r>
          </a:p>
        </p:txBody>
      </p:sp>
      <p:sp>
        <p:nvSpPr>
          <p:cNvPr id="12" name="Text 10">
            <a:extLst xmlns:a="http://schemas.openxmlformats.org/drawingml/2006/main">
              <a:ext uri="{FF2B5EF4-FFF2-40B4-BE49-F238E27FC236}">
                <a16:creationId xmlns:a16="http://schemas.microsoft.com/office/drawing/2014/main" id="{D59687E9-7A4F-40AE-BE34-C65180261B66}"/>
              </a:ext>
            </a:extLst>
          </p:cNvPr>
          <p:cNvSpPr>
            <a:spLocks xmlns:a="http://schemas.openxmlformats.org/drawingml/2006/main" noGrp="1"/>
          </p:cNvSpPr>
          <p:nvPr/>
        </p:nvSpPr>
        <p:spPr>
          <a:xfrm xmlns:a="http://schemas.openxmlformats.org/drawingml/2006/main">
            <a:off x="996696" y="1655064"/>
            <a:ext cx="3218688" cy="14264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Create one operator-focused blast-furnace advisory framework that combines physics, prediction and explainability to improve thermal stability, gas utilization and operating consistency.</a:t>
            </a:r>
          </a:p>
        </p:txBody>
      </p:sp>
      <p:sp>
        <p:nvSpPr>
          <p:cNvPr id="13" name="Shape 11">
            <a:extLst xmlns:a="http://schemas.openxmlformats.org/drawingml/2006/main">
              <a:ext uri="{FF2B5EF4-FFF2-40B4-BE49-F238E27FC236}">
                <a16:creationId xmlns:a16="http://schemas.microsoft.com/office/drawing/2014/main" id="{A2E4E9C4-A835-43C9-ABFF-EC82B21D0FA0}"/>
              </a:ext>
            </a:extLst>
          </p:cNvPr>
          <p:cNvSpPr>
            <a:spLocks xmlns:a="http://schemas.openxmlformats.org/drawingml/2006/main" noGrp="1"/>
          </p:cNvSpPr>
          <p:nvPr/>
        </p:nvSpPr>
        <p:spPr>
          <a:xfrm xmlns:a="http://schemas.openxmlformats.org/drawingml/2006/main">
            <a:off x="4526280" y="1325880"/>
            <a:ext cx="3154680" cy="1828800"/>
          </a:xfrm>
          <a:prstGeom xmlns:a="http://schemas.openxmlformats.org/drawingml/2006/main" prst="roundRect">
            <a:avLst>
              <a:gd name="adj" fmla="val 250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FDC5A1F0-FF48-400C-8C34-EB335A6E20F9}"/>
              </a:ext>
            </a:extLst>
          </p:cNvPr>
          <p:cNvSpPr>
            <a:spLocks xmlns:a="http://schemas.openxmlformats.org/drawingml/2006/main" noGrp="1"/>
          </p:cNvSpPr>
          <p:nvPr/>
        </p:nvSpPr>
        <p:spPr>
          <a:xfrm xmlns:a="http://schemas.openxmlformats.org/drawingml/2006/main">
            <a:off x="4654296" y="1417320"/>
            <a:ext cx="28986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Primary Use Cases</a:t>
            </a:r>
          </a:p>
        </p:txBody>
      </p:sp>
      <p:sp>
        <p:nvSpPr>
          <p:cNvPr id="15" name="Text 13">
            <a:extLst xmlns:a="http://schemas.openxmlformats.org/drawingml/2006/main">
              <a:ext uri="{FF2B5EF4-FFF2-40B4-BE49-F238E27FC236}">
                <a16:creationId xmlns:a16="http://schemas.microsoft.com/office/drawing/2014/main" id="{C30FB4C4-784E-4ECB-815A-C677689774BA}"/>
              </a:ext>
            </a:extLst>
          </p:cNvPr>
          <p:cNvSpPr>
            <a:spLocks xmlns:a="http://schemas.openxmlformats.org/drawingml/2006/main" noGrp="1"/>
          </p:cNvSpPr>
          <p:nvPr/>
        </p:nvSpPr>
        <p:spPr>
          <a:xfrm xmlns:a="http://schemas.openxmlformats.org/drawingml/2006/main">
            <a:off x="4654296" y="1655064"/>
            <a:ext cx="2898648" cy="14264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1. RIST-RAFT for blast and coke-rate guidance</a:t>
            </a:r>
          </a:p>
          <a:p xmlns:a="http://schemas.openxmlformats.org/drawingml/2006/main">
            <a:pPr marL="0" indent="0">
              <a:buNone/>
            </a:pPr>
            <a:r>
              <a:rPr sz="1150">
                <a:solidFill>
                  <a:srgbClr val="1A1F2E"/>
                </a:solidFill>
                <a:latin typeface="Aptos"/>
                <a:ea typeface="Aptos"/>
                <a:cs typeface="Aptos"/>
              </a:rPr>
              <a:t>2. HMT prediction for early temperature visibility</a:t>
            </a:r>
          </a:p>
          <a:p xmlns:a="http://schemas.openxmlformats.org/drawingml/2006/main">
            <a:pPr marL="0" indent="0">
              <a:buNone/>
            </a:pPr>
            <a:r>
              <a:rPr sz="1150">
                <a:solidFill>
                  <a:srgbClr val="1A1F2E"/>
                </a:solidFill>
                <a:latin typeface="Aptos"/>
                <a:ea typeface="Aptos"/>
                <a:cs typeface="Aptos"/>
              </a:rPr>
              <a:t>3. EtaCO forecasting for gas-utilization visibility</a:t>
            </a:r>
          </a:p>
        </p:txBody>
      </p:sp>
      <p:sp>
        <p:nvSpPr>
          <p:cNvPr id="16" name="Shape 14">
            <a:extLst xmlns:a="http://schemas.openxmlformats.org/drawingml/2006/main">
              <a:ext uri="{FF2B5EF4-FFF2-40B4-BE49-F238E27FC236}">
                <a16:creationId xmlns:a16="http://schemas.microsoft.com/office/drawing/2014/main" id="{16534B07-9073-4DCE-BDAF-8AEEB8647E17}"/>
              </a:ext>
            </a:extLst>
          </p:cNvPr>
          <p:cNvSpPr>
            <a:spLocks xmlns:a="http://schemas.openxmlformats.org/drawingml/2006/main" noGrp="1"/>
          </p:cNvSpPr>
          <p:nvPr/>
        </p:nvSpPr>
        <p:spPr>
          <a:xfrm xmlns:a="http://schemas.openxmlformats.org/drawingml/2006/main">
            <a:off x="7863840" y="1325880"/>
            <a:ext cx="3429000" cy="1828800"/>
          </a:xfrm>
          <a:prstGeom xmlns:a="http://schemas.openxmlformats.org/drawingml/2006/main" prst="roundRect">
            <a:avLst>
              <a:gd name="adj" fmla="val 250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6A707B04-DB1A-4B33-9EFE-EE81FE6A0CF0}"/>
              </a:ext>
            </a:extLst>
          </p:cNvPr>
          <p:cNvSpPr>
            <a:spLocks xmlns:a="http://schemas.openxmlformats.org/drawingml/2006/main" noGrp="1"/>
          </p:cNvSpPr>
          <p:nvPr/>
        </p:nvSpPr>
        <p:spPr>
          <a:xfrm xmlns:a="http://schemas.openxmlformats.org/drawingml/2006/main">
            <a:off x="7991856" y="1417320"/>
            <a:ext cx="31729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Business Intent</a:t>
            </a:r>
          </a:p>
        </p:txBody>
      </p:sp>
      <p:sp>
        <p:nvSpPr>
          <p:cNvPr id="18" name="Text 16">
            <a:extLst xmlns:a="http://schemas.openxmlformats.org/drawingml/2006/main">
              <a:ext uri="{FF2B5EF4-FFF2-40B4-BE49-F238E27FC236}">
                <a16:creationId xmlns:a16="http://schemas.microsoft.com/office/drawing/2014/main" id="{2159BB12-A571-4244-8B15-5054C95B3564}"/>
              </a:ext>
            </a:extLst>
          </p:cNvPr>
          <p:cNvSpPr>
            <a:spLocks xmlns:a="http://schemas.openxmlformats.org/drawingml/2006/main" noGrp="1"/>
          </p:cNvSpPr>
          <p:nvPr/>
        </p:nvSpPr>
        <p:spPr>
          <a:xfrm xmlns:a="http://schemas.openxmlformats.org/drawingml/2006/main">
            <a:off x="7991856" y="1655064"/>
            <a:ext cx="3172968" cy="14264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Help operators see risk earlier, understand the likely drivers, and evaluate practical responses on coke, PCI, oxygen enrichment, moisture, blast conditions and burden distribution.</a:t>
            </a:r>
          </a:p>
        </p:txBody>
      </p:sp>
      <p:sp>
        <p:nvSpPr>
          <p:cNvPr id="19" name="Text 17">
            <a:extLst xmlns:a="http://schemas.openxmlformats.org/drawingml/2006/main">
              <a:ext uri="{FF2B5EF4-FFF2-40B4-BE49-F238E27FC236}">
                <a16:creationId xmlns:a16="http://schemas.microsoft.com/office/drawing/2014/main" id="{3B5F30BE-699D-47BF-B926-9B25819EB99A}"/>
              </a:ext>
            </a:extLst>
          </p:cNvPr>
          <p:cNvSpPr>
            <a:spLocks xmlns:a="http://schemas.openxmlformats.org/drawingml/2006/main" noGrp="1"/>
          </p:cNvSpPr>
          <p:nvPr/>
        </p:nvSpPr>
        <p:spPr>
          <a:xfrm xmlns:a="http://schemas.openxmlformats.org/drawingml/2006/main">
            <a:off x="1005840" y="3657600"/>
            <a:ext cx="10332720" cy="201168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600">
                <a:solidFill>
                  <a:srgbClr val="1A1F2E"/>
                </a:solidFill>
                <a:latin typeface="Aptos"/>
                <a:ea typeface="Aptos"/>
                <a:cs typeface="Aptos"/>
              </a:rPr>
              <a:t>The three use cases work together: RIST-RAFT explains the process, HMT predicts thermal drift, and EtaCO shows how efficiently the reducing gas is being used.</a:t>
            </a:r>
          </a:p>
        </p:txBody>
      </p:sp>
    </p:spTree>
    <p:extLst>
      <p:ext uri="{BB962C8B-B14F-4D97-AF65-F5344CB8AC3E}">
        <p14:creationId xmlns:p14="http://schemas.microsoft.com/office/powerpoint/2010/main" val="18835614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408ED5F-2FF7-4C99-8386-B6FAE86AC9FB}"/>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4E29F531-885B-4FCD-8390-916692DAB3FC}"/>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01F3D8AD-09B4-481A-A4EE-0FD53B1D1A95}"/>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8E1E166F-98EC-4661-9207-3E047478F208}"/>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B7D4AB83-36C8-4865-A3CA-360513FD44EE}"/>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4</a:t>
            </a:r>
          </a:p>
        </p:txBody>
      </p:sp>
      <p:sp>
        <p:nvSpPr>
          <p:cNvPr id="7" name="Shape 5">
            <a:extLst xmlns:a="http://schemas.openxmlformats.org/drawingml/2006/main">
              <a:ext uri="{FF2B5EF4-FFF2-40B4-BE49-F238E27FC236}">
                <a16:creationId xmlns:a16="http://schemas.microsoft.com/office/drawing/2014/main" id="{1C708C4B-1DFE-4EE9-873F-31E1B58F162C}"/>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D561E71A-F405-4F96-A295-0D3630679520}"/>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Business Context and Problem Statement</a:t>
            </a:r>
          </a:p>
        </p:txBody>
      </p:sp>
      <p:sp>
        <p:nvSpPr>
          <p:cNvPr id="9" name="Shape 7">
            <a:extLst xmlns:a="http://schemas.openxmlformats.org/drawingml/2006/main">
              <a:ext uri="{FF2B5EF4-FFF2-40B4-BE49-F238E27FC236}">
                <a16:creationId xmlns:a16="http://schemas.microsoft.com/office/drawing/2014/main" id="{3EA65F69-49A6-46A1-BE8C-F1DB24280559}"/>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7E4BEE62-15CE-449C-86D4-9FB7946F5798}"/>
              </a:ext>
            </a:extLst>
          </p:cNvPr>
          <p:cNvSpPr>
            <a:spLocks xmlns:a="http://schemas.openxmlformats.org/drawingml/2006/main" noGrp="1"/>
          </p:cNvSpPr>
          <p:nvPr/>
        </p:nvSpPr>
        <p:spPr>
          <a:xfrm xmlns:a="http://schemas.openxmlformats.org/drawingml/2006/main">
            <a:off x="868680" y="1325880"/>
            <a:ext cx="5212080" cy="4526280"/>
          </a:xfrm>
          <a:prstGeom xmlns:a="http://schemas.openxmlformats.org/drawingml/2006/main" prst="roundRect">
            <a:avLst>
              <a:gd name="adj" fmla="val 101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3977191F-58CC-43F6-9ED3-457E1CEE5E3B}"/>
              </a:ext>
            </a:extLst>
          </p:cNvPr>
          <p:cNvSpPr>
            <a:spLocks xmlns:a="http://schemas.openxmlformats.org/drawingml/2006/main" noGrp="1"/>
          </p:cNvSpPr>
          <p:nvPr/>
        </p:nvSpPr>
        <p:spPr>
          <a:xfrm xmlns:a="http://schemas.openxmlformats.org/drawingml/2006/main">
            <a:off x="996696" y="1417320"/>
            <a:ext cx="4956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Why this matters</a:t>
            </a:r>
          </a:p>
        </p:txBody>
      </p:sp>
      <p:sp>
        <p:nvSpPr>
          <p:cNvPr id="12" name="Text 10">
            <a:extLst xmlns:a="http://schemas.openxmlformats.org/drawingml/2006/main">
              <a:ext uri="{FF2B5EF4-FFF2-40B4-BE49-F238E27FC236}">
                <a16:creationId xmlns:a16="http://schemas.microsoft.com/office/drawing/2014/main" id="{CB39D466-ECA4-4BD7-BB30-881CFF758EB1}"/>
              </a:ext>
            </a:extLst>
          </p:cNvPr>
          <p:cNvSpPr>
            <a:spLocks xmlns:a="http://schemas.openxmlformats.org/drawingml/2006/main" noGrp="1"/>
          </p:cNvSpPr>
          <p:nvPr/>
        </p:nvSpPr>
        <p:spPr>
          <a:xfrm xmlns:a="http://schemas.openxmlformats.org/drawingml/2006/main">
            <a:off x="996696" y="1655064"/>
            <a:ext cx="4956048" cy="4123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Hot metal temperature directly influences blast furnace productivity, fuel efficiency, slag handling, and downstream steelmaking quality.</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Low HMT can create a chilling effect and make slag extraction difficult. High HMT can reduce efficiency and increase equipment deterioration risk.</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The process is dynamically slow, which limits manual reaction time and makes forward-looking guidance valuable.</a:t>
            </a:r>
          </a:p>
        </p:txBody>
      </p:sp>
      <p:sp>
        <p:nvSpPr>
          <p:cNvPr id="13" name="Shape 11">
            <a:extLst xmlns:a="http://schemas.openxmlformats.org/drawingml/2006/main">
              <a:ext uri="{FF2B5EF4-FFF2-40B4-BE49-F238E27FC236}">
                <a16:creationId xmlns:a16="http://schemas.microsoft.com/office/drawing/2014/main" id="{58D1E1B9-B996-46B6-891E-DA234663E567}"/>
              </a:ext>
            </a:extLst>
          </p:cNvPr>
          <p:cNvSpPr>
            <a:spLocks xmlns:a="http://schemas.openxmlformats.org/drawingml/2006/main" noGrp="1"/>
          </p:cNvSpPr>
          <p:nvPr/>
        </p:nvSpPr>
        <p:spPr>
          <a:xfrm xmlns:a="http://schemas.openxmlformats.org/drawingml/2006/main">
            <a:off x="6400800" y="1371600"/>
            <a:ext cx="1828800" cy="256032"/>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347ABAE3-1687-4056-9FBB-5D046B3D4E47}"/>
              </a:ext>
            </a:extLst>
          </p:cNvPr>
          <p:cNvSpPr>
            <a:spLocks xmlns:a="http://schemas.openxmlformats.org/drawingml/2006/main" noGrp="1"/>
          </p:cNvSpPr>
          <p:nvPr/>
        </p:nvSpPr>
        <p:spPr>
          <a:xfrm xmlns:a="http://schemas.openxmlformats.org/drawingml/2006/main">
            <a:off x="6400800" y="1399032"/>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5AA6"/>
                </a:solidFill>
                <a:latin typeface="Aptos"/>
                <a:ea typeface="Aptos"/>
                <a:cs typeface="Aptos"/>
              </a:rPr>
              <a:t>Operational challenges</a:t>
            </a:r>
          </a:p>
        </p:txBody>
      </p:sp>
      <p:sp>
        <p:nvSpPr>
          <p:cNvPr id="15" name="Text 13">
            <a:extLst xmlns:a="http://schemas.openxmlformats.org/drawingml/2006/main">
              <a:ext uri="{FF2B5EF4-FFF2-40B4-BE49-F238E27FC236}">
                <a16:creationId xmlns:a16="http://schemas.microsoft.com/office/drawing/2014/main" id="{83A635AA-6460-4783-9F42-C22F2B875198}"/>
              </a:ext>
            </a:extLst>
          </p:cNvPr>
          <p:cNvSpPr>
            <a:spLocks xmlns:a="http://schemas.openxmlformats.org/drawingml/2006/main" noGrp="1"/>
          </p:cNvSpPr>
          <p:nvPr/>
        </p:nvSpPr>
        <p:spPr>
          <a:xfrm xmlns:a="http://schemas.openxmlformats.org/drawingml/2006/main">
            <a:off x="6355080" y="1737360"/>
            <a:ext cx="4572000" cy="44805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Multiple tap holes with variable operating conditions</a:t>
            </a:r>
          </a:p>
          <a:p xmlns:a="http://schemas.openxmlformats.org/drawingml/2006/main">
            <a:pPr marL="152400" indent="-152400">
              <a:buChar char="•"/>
            </a:pPr>
            <a:r>
              <a:rPr sz="1500">
                <a:solidFill>
                  <a:srgbClr val="1A1F2E"/>
                </a:solidFill>
                <a:latin typeface="Aptos"/>
                <a:ea typeface="Aptos"/>
                <a:cs typeface="Aptos"/>
              </a:rPr>
              <a:t>Maintenance can affect tap-hole behavior and measured temperatures</a:t>
            </a:r>
          </a:p>
          <a:p xmlns:a="http://schemas.openxmlformats.org/drawingml/2006/main">
            <a:pPr marL="152400" indent="-152400">
              <a:buChar char="•"/>
            </a:pPr>
            <a:r>
              <a:rPr sz="1500">
                <a:solidFill>
                  <a:srgbClr val="1A1F2E"/>
                </a:solidFill>
                <a:latin typeface="Aptos"/>
                <a:ea typeface="Aptos"/>
                <a:cs typeface="Aptos"/>
              </a:rPr>
              <a:t>Gas anomalies, permeability issues and drainage inefficiencies influence furnace state</a:t>
            </a:r>
          </a:p>
          <a:p xmlns:a="http://schemas.openxmlformats.org/drawingml/2006/main">
            <a:pPr marL="152400" indent="-152400">
              <a:buChar char="•"/>
            </a:pPr>
            <a:r>
              <a:rPr sz="1500">
                <a:solidFill>
                  <a:srgbClr val="1A1F2E"/>
                </a:solidFill>
                <a:latin typeface="Aptos"/>
                <a:ea typeface="Aptos"/>
                <a:cs typeface="Aptos"/>
              </a:rPr>
              <a:t>Low gas utilisation can indicate declining temperature trend</a:t>
            </a:r>
          </a:p>
          <a:p xmlns:a="http://schemas.openxmlformats.org/drawingml/2006/main">
            <a:pPr marL="152400" indent="-152400">
              <a:buChar char="•"/>
            </a:pPr>
            <a:r>
              <a:rPr sz="1500">
                <a:solidFill>
                  <a:srgbClr val="1A1F2E"/>
                </a:solidFill>
                <a:latin typeface="Aptos"/>
                <a:ea typeface="Aptos"/>
                <a:cs typeface="Aptos"/>
              </a:rPr>
              <a:t>Liquid retention time must be minimized to avoid quality drift</a:t>
            </a:r>
          </a:p>
          <a:p xmlns:a="http://schemas.openxmlformats.org/drawingml/2006/main">
            <a:pPr marL="152400" indent="-152400">
              <a:buChar char="•"/>
            </a:pPr>
            <a:r>
              <a:rPr sz="1500">
                <a:solidFill>
                  <a:srgbClr val="1A1F2E"/>
                </a:solidFill>
                <a:latin typeface="Aptos"/>
                <a:ea typeface="Aptos"/>
                <a:cs typeface="Aptos"/>
              </a:rPr>
              <a:t>Operators need early warning rather than after-the-fact diagnosis</a:t>
            </a:r>
          </a:p>
        </p:txBody>
      </p:sp>
    </p:spTree>
    <p:extLst>
      <p:ext uri="{BB962C8B-B14F-4D97-AF65-F5344CB8AC3E}">
        <p14:creationId xmlns:p14="http://schemas.microsoft.com/office/powerpoint/2010/main" val="2834904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7D05E0D-CA57-41D8-BDA6-2AA3D44D071D}"/>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24587664-D35A-45F6-A4A7-F22FF1BAC24D}"/>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A25E495A-5DAB-4B01-8DE9-19EC86FFA872}"/>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6C443A5B-F5BC-465C-A0FE-AFB619E27471}"/>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DF5BBE55-33E6-46D6-8592-9D0C11D99CE1}"/>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5</a:t>
            </a:r>
          </a:p>
        </p:txBody>
      </p:sp>
      <p:sp>
        <p:nvSpPr>
          <p:cNvPr id="7" name="Shape 5">
            <a:extLst xmlns:a="http://schemas.openxmlformats.org/drawingml/2006/main">
              <a:ext uri="{FF2B5EF4-FFF2-40B4-BE49-F238E27FC236}">
                <a16:creationId xmlns:a16="http://schemas.microsoft.com/office/drawing/2014/main" id="{05B03607-927F-4539-8743-2F1C64FD03D9}"/>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CA90E16-706D-42E8-9B59-3EED9AFB82F4}"/>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Use Case Overview</a:t>
            </a:r>
          </a:p>
        </p:txBody>
      </p:sp>
      <p:sp>
        <p:nvSpPr>
          <p:cNvPr id="9" name="Shape 7">
            <a:extLst xmlns:a="http://schemas.openxmlformats.org/drawingml/2006/main">
              <a:ext uri="{FF2B5EF4-FFF2-40B4-BE49-F238E27FC236}">
                <a16:creationId xmlns:a16="http://schemas.microsoft.com/office/drawing/2014/main" id="{F3CA3F3F-D25E-4E6A-88BF-9A196D47B6DC}"/>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9D999BB5-490B-40C3-AE54-7B4D893794A5}"/>
              </a:ext>
            </a:extLst>
          </p:cNvPr>
          <p:cNvSpPr>
            <a:spLocks xmlns:a="http://schemas.openxmlformats.org/drawingml/2006/main" noGrp="1"/>
          </p:cNvSpPr>
          <p:nvPr/>
        </p:nvSpPr>
        <p:spPr>
          <a:xfrm xmlns:a="http://schemas.openxmlformats.org/drawingml/2006/main">
            <a:off x="868680" y="1316736"/>
            <a:ext cx="3429000" cy="3666744"/>
          </a:xfrm>
          <a:prstGeom xmlns:a="http://schemas.openxmlformats.org/drawingml/2006/main" prst="roundRect">
            <a:avLst>
              <a:gd name="adj" fmla="val 1333"/>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2372FAC8-FEBB-4CBA-B193-333D427892F4}"/>
              </a:ext>
            </a:extLst>
          </p:cNvPr>
          <p:cNvSpPr>
            <a:spLocks xmlns:a="http://schemas.openxmlformats.org/drawingml/2006/main" noGrp="1"/>
          </p:cNvSpPr>
          <p:nvPr/>
        </p:nvSpPr>
        <p:spPr>
          <a:xfrm xmlns:a="http://schemas.openxmlformats.org/drawingml/2006/main">
            <a:off x="996696" y="1508760"/>
            <a:ext cx="31729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Use Case 1</a:t>
            </a:r>
          </a:p>
          <a:p xmlns:a="http://schemas.openxmlformats.org/drawingml/2006/main">
            <a:pPr marL="0" indent="0">
              <a:buNone/>
            </a:pPr>
            <a:r>
              <a:rPr sz="1500" b="1">
                <a:solidFill>
                  <a:srgbClr val="14213D"/>
                </a:solidFill>
                <a:latin typeface="Aptos Display"/>
                <a:ea typeface="Aptos Display"/>
                <a:cs typeface="Aptos Display"/>
              </a:rPr>
              <a:t>RIST-RAFT</a:t>
            </a:r>
          </a:p>
        </p:txBody>
      </p:sp>
      <p:sp>
        <p:nvSpPr>
          <p:cNvPr id="12" name="Text 10">
            <a:extLst xmlns:a="http://schemas.openxmlformats.org/drawingml/2006/main">
              <a:ext uri="{FF2B5EF4-FFF2-40B4-BE49-F238E27FC236}">
                <a16:creationId xmlns:a16="http://schemas.microsoft.com/office/drawing/2014/main" id="{64282E2C-FDBD-41D3-B1AF-2A344FEA7701}"/>
              </a:ext>
            </a:extLst>
          </p:cNvPr>
          <p:cNvSpPr>
            <a:spLocks xmlns:a="http://schemas.openxmlformats.org/drawingml/2006/main" noGrp="1"/>
          </p:cNvSpPr>
          <p:nvPr/>
        </p:nvSpPr>
        <p:spPr>
          <a:xfrm xmlns:a="http://schemas.openxmlformats.org/drawingml/2006/main">
            <a:off x="996696" y="1932813"/>
            <a:ext cx="3172968" cy="297751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First-principles / domain model used to estimate blast rate and coke rate under different operating conditions, with plant-level correction factors to improve practical fit.</a:t>
            </a:r>
          </a:p>
        </p:txBody>
      </p:sp>
      <p:sp>
        <p:nvSpPr>
          <p:cNvPr id="13" name="Shape 11">
            <a:extLst xmlns:a="http://schemas.openxmlformats.org/drawingml/2006/main">
              <a:ext uri="{FF2B5EF4-FFF2-40B4-BE49-F238E27FC236}">
                <a16:creationId xmlns:a16="http://schemas.microsoft.com/office/drawing/2014/main" id="{1EEF3829-1B59-4458-BD7A-E390362A3FC6}"/>
              </a:ext>
            </a:extLst>
          </p:cNvPr>
          <p:cNvSpPr>
            <a:spLocks xmlns:a="http://schemas.openxmlformats.org/drawingml/2006/main" noGrp="1"/>
          </p:cNvSpPr>
          <p:nvPr/>
        </p:nvSpPr>
        <p:spPr>
          <a:xfrm xmlns:a="http://schemas.openxmlformats.org/drawingml/2006/main">
            <a:off x="4407408" y="1316736"/>
            <a:ext cx="3429000" cy="3666744"/>
          </a:xfrm>
          <a:prstGeom xmlns:a="http://schemas.openxmlformats.org/drawingml/2006/main" prst="roundRect">
            <a:avLst>
              <a:gd name="adj" fmla="val 1333"/>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FE8C28DF-3DCE-492C-BE1A-2FE6C2ED6284}"/>
              </a:ext>
            </a:extLst>
          </p:cNvPr>
          <p:cNvSpPr>
            <a:spLocks xmlns:a="http://schemas.openxmlformats.org/drawingml/2006/main" noGrp="1"/>
          </p:cNvSpPr>
          <p:nvPr/>
        </p:nvSpPr>
        <p:spPr>
          <a:xfrm xmlns:a="http://schemas.openxmlformats.org/drawingml/2006/main">
            <a:off x="4535424" y="1508760"/>
            <a:ext cx="31729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Use Case 2</a:t>
            </a:r>
          </a:p>
          <a:p xmlns:a="http://schemas.openxmlformats.org/drawingml/2006/main">
            <a:pPr marL="0" indent="0">
              <a:buNone/>
            </a:pPr>
            <a:r>
              <a:rPr sz="1500" b="1">
                <a:solidFill>
                  <a:srgbClr val="14213D"/>
                </a:solidFill>
                <a:latin typeface="Aptos Display"/>
                <a:ea typeface="Aptos Display"/>
                <a:cs typeface="Aptos Display"/>
              </a:rPr>
              <a:t>HMT Prediction</a:t>
            </a:r>
          </a:p>
        </p:txBody>
      </p:sp>
      <p:sp>
        <p:nvSpPr>
          <p:cNvPr id="15" name="Text 13">
            <a:extLst xmlns:a="http://schemas.openxmlformats.org/drawingml/2006/main">
              <a:ext uri="{FF2B5EF4-FFF2-40B4-BE49-F238E27FC236}">
                <a16:creationId xmlns:a16="http://schemas.microsoft.com/office/drawing/2014/main" id="{5ABE7897-52AF-4213-98B6-A3D22935F368}"/>
              </a:ext>
            </a:extLst>
          </p:cNvPr>
          <p:cNvSpPr>
            <a:spLocks xmlns:a="http://schemas.openxmlformats.org/drawingml/2006/main" noGrp="1"/>
          </p:cNvSpPr>
          <p:nvPr/>
        </p:nvSpPr>
        <p:spPr>
          <a:xfrm xmlns:a="http://schemas.openxmlformats.org/drawingml/2006/main">
            <a:off x="4518279" y="1932813"/>
            <a:ext cx="3172968" cy="297751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Data-driven model to predict hot metal temperature in advance, helping operators intervene on controllable levers before the process moves outside the desired range.</a:t>
            </a:r>
          </a:p>
        </p:txBody>
      </p:sp>
      <p:sp>
        <p:nvSpPr>
          <p:cNvPr id="16" name="Shape 14">
            <a:extLst xmlns:a="http://schemas.openxmlformats.org/drawingml/2006/main">
              <a:ext uri="{FF2B5EF4-FFF2-40B4-BE49-F238E27FC236}">
                <a16:creationId xmlns:a16="http://schemas.microsoft.com/office/drawing/2014/main" id="{FCEFFBCA-7807-4518-8F33-F6F95A4FF5A5}"/>
              </a:ext>
            </a:extLst>
          </p:cNvPr>
          <p:cNvSpPr>
            <a:spLocks xmlns:a="http://schemas.openxmlformats.org/drawingml/2006/main" noGrp="1"/>
          </p:cNvSpPr>
          <p:nvPr/>
        </p:nvSpPr>
        <p:spPr>
          <a:xfrm xmlns:a="http://schemas.openxmlformats.org/drawingml/2006/main">
            <a:off x="7955280" y="1316736"/>
            <a:ext cx="3337560" cy="3666744"/>
          </a:xfrm>
          <a:prstGeom xmlns:a="http://schemas.openxmlformats.org/drawingml/2006/main" prst="roundRect">
            <a:avLst>
              <a:gd name="adj" fmla="val 137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58FB4A9E-20B9-4960-B6B4-0992A9FEFBDD}"/>
              </a:ext>
            </a:extLst>
          </p:cNvPr>
          <p:cNvSpPr>
            <a:spLocks xmlns:a="http://schemas.openxmlformats.org/drawingml/2006/main" noGrp="1"/>
          </p:cNvSpPr>
          <p:nvPr/>
        </p:nvSpPr>
        <p:spPr>
          <a:xfrm xmlns:a="http://schemas.openxmlformats.org/drawingml/2006/main">
            <a:off x="8083296" y="1508760"/>
            <a:ext cx="30815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Use Case 3</a:t>
            </a:r>
          </a:p>
          <a:p xmlns:a="http://schemas.openxmlformats.org/drawingml/2006/main">
            <a:pPr marL="0" indent="0">
              <a:buNone/>
            </a:pPr>
            <a:r>
              <a:rPr sz="1500" b="1">
                <a:solidFill>
                  <a:srgbClr val="14213D"/>
                </a:solidFill>
                <a:latin typeface="Aptos Display"/>
                <a:ea typeface="Aptos Display"/>
                <a:cs typeface="Aptos Display"/>
              </a:rPr>
              <a:t>EtaCO Forecasting</a:t>
            </a:r>
          </a:p>
        </p:txBody>
      </p:sp>
      <p:sp>
        <p:nvSpPr>
          <p:cNvPr id="18" name="Text 16">
            <a:extLst xmlns:a="http://schemas.openxmlformats.org/drawingml/2006/main">
              <a:ext uri="{FF2B5EF4-FFF2-40B4-BE49-F238E27FC236}">
                <a16:creationId xmlns:a16="http://schemas.microsoft.com/office/drawing/2014/main" id="{11FE4C8B-050D-460C-90CA-91CAC6BA6F7D}"/>
              </a:ext>
            </a:extLst>
          </p:cNvPr>
          <p:cNvSpPr>
            <a:spLocks xmlns:a="http://schemas.openxmlformats.org/drawingml/2006/main" noGrp="1"/>
          </p:cNvSpPr>
          <p:nvPr/>
        </p:nvSpPr>
        <p:spPr>
          <a:xfrm xmlns:a="http://schemas.openxmlformats.org/drawingml/2006/main">
            <a:off x="8076628" y="1932813"/>
            <a:ext cx="3081528" cy="297751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Forecasts gas-utilization efficiency from top-gas and operating data. It shows expected direction, confidence and key drivers so operators can investigate gas flow, permeability, burden and fuel settings before efficiency falls.</a:t>
            </a:r>
          </a:p>
        </p:txBody>
      </p:sp>
      <p:sp>
        <p:nvSpPr>
          <p:cNvPr id="19" name="Shape 17">
            <a:extLst xmlns:a="http://schemas.openxmlformats.org/drawingml/2006/main">
              <a:ext uri="{FF2B5EF4-FFF2-40B4-BE49-F238E27FC236}">
                <a16:creationId xmlns:a16="http://schemas.microsoft.com/office/drawing/2014/main" id="{569E7FD0-412E-4CB4-ACCD-FEA6A17C064A}"/>
              </a:ext>
            </a:extLst>
          </p:cNvPr>
          <p:cNvSpPr>
            <a:spLocks xmlns:a="http://schemas.openxmlformats.org/drawingml/2006/main" noGrp="1"/>
          </p:cNvSpPr>
          <p:nvPr/>
        </p:nvSpPr>
        <p:spPr>
          <a:xfrm xmlns:a="http://schemas.openxmlformats.org/drawingml/2006/main">
            <a:off x="3794760" y="5312663"/>
            <a:ext cx="1005840" cy="347472"/>
          </a:xfrm>
          <a:prstGeom xmlns:a="http://schemas.openxmlformats.org/drawingml/2006/main" prst="chevron">
            <a:avLst/>
          </a:prstGeom>
          <a:solidFill xmlns:a="http://schemas.openxmlformats.org/drawingml/2006/main">
            <a:srgbClr val="1F5AA6"/>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20" name="Shape 18">
            <a:extLst xmlns:a="http://schemas.openxmlformats.org/drawingml/2006/main">
              <a:ext uri="{FF2B5EF4-FFF2-40B4-BE49-F238E27FC236}">
                <a16:creationId xmlns:a16="http://schemas.microsoft.com/office/drawing/2014/main" id="{71EA8469-3FA0-420D-9142-41F5B05FF930}"/>
              </a:ext>
            </a:extLst>
          </p:cNvPr>
          <p:cNvSpPr>
            <a:spLocks xmlns:a="http://schemas.openxmlformats.org/drawingml/2006/main" noGrp="1"/>
          </p:cNvSpPr>
          <p:nvPr/>
        </p:nvSpPr>
        <p:spPr>
          <a:xfrm xmlns:a="http://schemas.openxmlformats.org/drawingml/2006/main">
            <a:off x="7391402" y="5312091"/>
            <a:ext cx="1005840" cy="347472"/>
          </a:xfrm>
          <a:prstGeom xmlns:a="http://schemas.openxmlformats.org/drawingml/2006/main" prst="chevron">
            <a:avLst/>
          </a:prstGeom>
          <a:solidFill xmlns:a="http://schemas.openxmlformats.org/drawingml/2006/main">
            <a:srgbClr val="1F5AA6"/>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907A3888-E460-4821-A050-02CD9D18D723}"/>
              </a:ext>
            </a:extLst>
          </p:cNvPr>
          <p:cNvSpPr>
            <a:spLocks xmlns:a="http://schemas.openxmlformats.org/drawingml/2006/main" noGrp="1"/>
          </p:cNvSpPr>
          <p:nvPr/>
        </p:nvSpPr>
        <p:spPr>
          <a:xfrm xmlns:a="http://schemas.openxmlformats.org/drawingml/2006/main">
            <a:off x="2011680" y="5897880"/>
            <a:ext cx="8138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5F6B7A"/>
                </a:solidFill>
                <a:latin typeface="Aptos"/>
                <a:ea typeface="Aptos"/>
                <a:cs typeface="Aptos"/>
              </a:rPr>
              <a:t>Together, the three use cases connect physics, thermal prediction and gas-efficiency insight in one advisory workflow.</a:t>
            </a:r>
          </a:p>
        </p:txBody>
      </p:sp>
    </p:spTree>
    <p:extLst>
      <p:ext uri="{BB962C8B-B14F-4D97-AF65-F5344CB8AC3E}">
        <p14:creationId xmlns:p14="http://schemas.microsoft.com/office/powerpoint/2010/main" val="4872558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F295CAF-B574-4562-8B24-1F8F2BF61557}"/>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C08361A0-0C8F-4D5C-83BD-8C1F331647CF}"/>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49737DF5-B481-46A0-BEAD-667285BA3EA3}"/>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F52E393D-B0DC-4C1F-A6CE-61E5202E9AA9}"/>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66138E7E-647F-4119-8241-E8FDF43FE2C3}"/>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6</a:t>
            </a:r>
          </a:p>
        </p:txBody>
      </p:sp>
      <p:sp>
        <p:nvSpPr>
          <p:cNvPr id="7" name="Shape 5">
            <a:extLst xmlns:a="http://schemas.openxmlformats.org/drawingml/2006/main">
              <a:ext uri="{FF2B5EF4-FFF2-40B4-BE49-F238E27FC236}">
                <a16:creationId xmlns:a16="http://schemas.microsoft.com/office/drawing/2014/main" id="{535751A8-D552-4451-9311-3B34315B37CA}"/>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E0C9F39E-F941-4D5E-A71C-3B089266A78A}"/>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Blast Furnace Process Understanding</a:t>
            </a:r>
          </a:p>
        </p:txBody>
      </p:sp>
      <p:sp>
        <p:nvSpPr>
          <p:cNvPr id="9" name="Shape 7">
            <a:extLst xmlns:a="http://schemas.openxmlformats.org/drawingml/2006/main">
              <a:ext uri="{FF2B5EF4-FFF2-40B4-BE49-F238E27FC236}">
                <a16:creationId xmlns:a16="http://schemas.microsoft.com/office/drawing/2014/main" id="{B5C1BC16-CBD1-4981-8E38-C6EC1F880ED7}"/>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6CC1F80D-E022-4E1B-85B1-77C4D659202D}"/>
              </a:ext>
            </a:extLst>
          </p:cNvPr>
          <p:cNvSpPr>
            <a:spLocks xmlns:a="http://schemas.openxmlformats.org/drawingml/2006/main" noGrp="1"/>
          </p:cNvSpPr>
          <p:nvPr/>
        </p:nvSpPr>
        <p:spPr>
          <a:xfrm xmlns:a="http://schemas.openxmlformats.org/drawingml/2006/main">
            <a:off x="868680" y="1325880"/>
            <a:ext cx="3291840" cy="4297680"/>
          </a:xfrm>
          <a:prstGeom xmlns:a="http://schemas.openxmlformats.org/drawingml/2006/main" prst="roundRect">
            <a:avLst>
              <a:gd name="adj" fmla="val 138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2A411A75-1941-4698-80E4-5A617E21543C}"/>
              </a:ext>
            </a:extLst>
          </p:cNvPr>
          <p:cNvSpPr>
            <a:spLocks xmlns:a="http://schemas.openxmlformats.org/drawingml/2006/main" noGrp="1"/>
          </p:cNvSpPr>
          <p:nvPr/>
        </p:nvSpPr>
        <p:spPr>
          <a:xfrm xmlns:a="http://schemas.openxmlformats.org/drawingml/2006/main">
            <a:off x="996696" y="14173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Top Inputs</a:t>
            </a:r>
          </a:p>
        </p:txBody>
      </p:sp>
      <p:sp>
        <p:nvSpPr>
          <p:cNvPr id="12" name="Text 10">
            <a:extLst xmlns:a="http://schemas.openxmlformats.org/drawingml/2006/main">
              <a:ext uri="{FF2B5EF4-FFF2-40B4-BE49-F238E27FC236}">
                <a16:creationId xmlns:a16="http://schemas.microsoft.com/office/drawing/2014/main" id="{7F248EC6-A748-4F00-ABF2-F40444A20FA1}"/>
              </a:ext>
            </a:extLst>
          </p:cNvPr>
          <p:cNvSpPr>
            <a:spLocks xmlns:a="http://schemas.openxmlformats.org/drawingml/2006/main" noGrp="1"/>
          </p:cNvSpPr>
          <p:nvPr/>
        </p:nvSpPr>
        <p:spPr>
          <a:xfrm xmlns:a="http://schemas.openxmlformats.org/drawingml/2006/main">
            <a:off x="996696" y="1655064"/>
            <a:ext cx="3035808" cy="3895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Iron carrier: iron ore, pellet and sinter</a:t>
            </a:r>
          </a:p>
          <a:p xmlns:a="http://schemas.openxmlformats.org/drawingml/2006/main">
            <a:pPr marL="0" indent="0">
              <a:buNone/>
            </a:pPr>
            <a:r>
              <a:rPr sz="1150">
                <a:solidFill>
                  <a:srgbClr val="1A1F2E"/>
                </a:solidFill>
                <a:latin typeface="Aptos"/>
                <a:ea typeface="Aptos"/>
                <a:cs typeface="Aptos"/>
              </a:rPr>
              <a:t>Carbon carrier: coke</a:t>
            </a:r>
          </a:p>
          <a:p xmlns:a="http://schemas.openxmlformats.org/drawingml/2006/main">
            <a:pPr marL="0" indent="0">
              <a:buNone/>
            </a:pPr>
            <a:r>
              <a:rPr sz="1150">
                <a:solidFill>
                  <a:srgbClr val="1A1F2E"/>
                </a:solidFill>
                <a:latin typeface="Aptos"/>
                <a:ea typeface="Aptos"/>
                <a:cs typeface="Aptos"/>
              </a:rPr>
              <a:t>Additives: limestone, dolomite and silica</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These are charged from the top of the furnace at room temperature.</a:t>
            </a:r>
          </a:p>
        </p:txBody>
      </p:sp>
      <p:sp>
        <p:nvSpPr>
          <p:cNvPr id="13" name="Shape 11">
            <a:extLst xmlns:a="http://schemas.openxmlformats.org/drawingml/2006/main">
              <a:ext uri="{FF2B5EF4-FFF2-40B4-BE49-F238E27FC236}">
                <a16:creationId xmlns:a16="http://schemas.microsoft.com/office/drawing/2014/main" id="{DFE40AD1-24B8-4A65-9E08-EEDA5591C56D}"/>
              </a:ext>
            </a:extLst>
          </p:cNvPr>
          <p:cNvSpPr>
            <a:spLocks xmlns:a="http://schemas.openxmlformats.org/drawingml/2006/main" noGrp="1"/>
          </p:cNvSpPr>
          <p:nvPr/>
        </p:nvSpPr>
        <p:spPr>
          <a:xfrm xmlns:a="http://schemas.openxmlformats.org/drawingml/2006/main">
            <a:off x="4434840" y="1325880"/>
            <a:ext cx="3154680" cy="4297680"/>
          </a:xfrm>
          <a:prstGeom xmlns:a="http://schemas.openxmlformats.org/drawingml/2006/main" prst="roundRect">
            <a:avLst>
              <a:gd name="adj" fmla="val 144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C14A15DE-6EEE-4BFA-B8DE-F07908C57CA5}"/>
              </a:ext>
            </a:extLst>
          </p:cNvPr>
          <p:cNvSpPr>
            <a:spLocks xmlns:a="http://schemas.openxmlformats.org/drawingml/2006/main" noGrp="1"/>
          </p:cNvSpPr>
          <p:nvPr/>
        </p:nvSpPr>
        <p:spPr>
          <a:xfrm xmlns:a="http://schemas.openxmlformats.org/drawingml/2006/main">
            <a:off x="4562856" y="1417320"/>
            <a:ext cx="28986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Bottom / Tuyere Inputs</a:t>
            </a:r>
          </a:p>
        </p:txBody>
      </p:sp>
      <p:sp>
        <p:nvSpPr>
          <p:cNvPr id="15" name="Text 13">
            <a:extLst xmlns:a="http://schemas.openxmlformats.org/drawingml/2006/main">
              <a:ext uri="{FF2B5EF4-FFF2-40B4-BE49-F238E27FC236}">
                <a16:creationId xmlns:a16="http://schemas.microsoft.com/office/drawing/2014/main" id="{CEE449B1-02DE-42F7-9FA8-037779F7C932}"/>
              </a:ext>
            </a:extLst>
          </p:cNvPr>
          <p:cNvSpPr>
            <a:spLocks xmlns:a="http://schemas.openxmlformats.org/drawingml/2006/main" noGrp="1"/>
          </p:cNvSpPr>
          <p:nvPr/>
        </p:nvSpPr>
        <p:spPr>
          <a:xfrm xmlns:a="http://schemas.openxmlformats.org/drawingml/2006/main">
            <a:off x="4562856" y="1655064"/>
            <a:ext cx="2898648" cy="3895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Hot blast air is heated before oxygen addition.</a:t>
            </a:r>
          </a:p>
          <a:p xmlns:a="http://schemas.openxmlformats.org/drawingml/2006/main">
            <a:pPr marL="0" indent="0">
              <a:buNone/>
            </a:pPr>
            <a:r>
              <a:rPr sz="1150">
                <a:solidFill>
                  <a:srgbClr val="1A1F2E"/>
                </a:solidFill>
                <a:latin typeface="Aptos"/>
                <a:ea typeface="Aptos"/>
                <a:cs typeface="Aptos"/>
              </a:rPr>
              <a:t>Reducing gases and fuels are introduced through tuyere-side operation.</a:t>
            </a:r>
          </a:p>
          <a:p xmlns:a="http://schemas.openxmlformats.org/drawingml/2006/main">
            <a:pPr marL="0" indent="0">
              <a:buNone/>
            </a:pPr>
            <a:r>
              <a:rPr sz="1150">
                <a:solidFill>
                  <a:srgbClr val="1A1F2E"/>
                </a:solidFill>
                <a:latin typeface="Aptos"/>
                <a:ea typeface="Aptos"/>
                <a:cs typeface="Aptos"/>
              </a:rPr>
              <a:t>PCI, moisture and oxygen enrichment influence thermal balance and process kinetics.</a:t>
            </a:r>
          </a:p>
        </p:txBody>
      </p:sp>
      <p:sp>
        <p:nvSpPr>
          <p:cNvPr id="16" name="Shape 14">
            <a:extLst xmlns:a="http://schemas.openxmlformats.org/drawingml/2006/main">
              <a:ext uri="{FF2B5EF4-FFF2-40B4-BE49-F238E27FC236}">
                <a16:creationId xmlns:a16="http://schemas.microsoft.com/office/drawing/2014/main" id="{5E8806E6-5E45-4A05-819D-FC58D6AC10A5}"/>
              </a:ext>
            </a:extLst>
          </p:cNvPr>
          <p:cNvSpPr>
            <a:spLocks xmlns:a="http://schemas.openxmlformats.org/drawingml/2006/main" noGrp="1"/>
          </p:cNvSpPr>
          <p:nvPr/>
        </p:nvSpPr>
        <p:spPr>
          <a:xfrm xmlns:a="http://schemas.openxmlformats.org/drawingml/2006/main">
            <a:off x="7863840" y="1325880"/>
            <a:ext cx="3429000" cy="4297680"/>
          </a:xfrm>
          <a:prstGeom xmlns:a="http://schemas.openxmlformats.org/drawingml/2006/main" prst="roundRect">
            <a:avLst>
              <a:gd name="adj" fmla="val 1333"/>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B7044124-09AB-42CD-ADD4-DAB431B30F27}"/>
              </a:ext>
            </a:extLst>
          </p:cNvPr>
          <p:cNvSpPr>
            <a:spLocks xmlns:a="http://schemas.openxmlformats.org/drawingml/2006/main" noGrp="1"/>
          </p:cNvSpPr>
          <p:nvPr/>
        </p:nvSpPr>
        <p:spPr>
          <a:xfrm xmlns:a="http://schemas.openxmlformats.org/drawingml/2006/main">
            <a:off x="7991856" y="1417320"/>
            <a:ext cx="31729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Outputs</a:t>
            </a:r>
          </a:p>
        </p:txBody>
      </p:sp>
      <p:sp>
        <p:nvSpPr>
          <p:cNvPr id="18" name="Text 16">
            <a:extLst xmlns:a="http://schemas.openxmlformats.org/drawingml/2006/main">
              <a:ext uri="{FF2B5EF4-FFF2-40B4-BE49-F238E27FC236}">
                <a16:creationId xmlns:a16="http://schemas.microsoft.com/office/drawing/2014/main" id="{6FD6B361-F51E-4316-813C-EA55E6084390}"/>
              </a:ext>
            </a:extLst>
          </p:cNvPr>
          <p:cNvSpPr>
            <a:spLocks xmlns:a="http://schemas.openxmlformats.org/drawingml/2006/main" noGrp="1"/>
          </p:cNvSpPr>
          <p:nvPr/>
        </p:nvSpPr>
        <p:spPr>
          <a:xfrm xmlns:a="http://schemas.openxmlformats.org/drawingml/2006/main">
            <a:off x="7991856" y="1655064"/>
            <a:ext cx="3172968" cy="3895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Tap-hole output: molten pig iron (liquid state) + slag + chemistry indicators such as C, Si, S, P and Mn.</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Top output: reducing gases and by-products including CO, CO2, H2, H2O and N2.</a:t>
            </a:r>
          </a:p>
        </p:txBody>
      </p:sp>
      <p:sp>
        <p:nvSpPr>
          <p:cNvPr id="19" name="Text 17">
            <a:extLst xmlns:a="http://schemas.openxmlformats.org/drawingml/2006/main">
              <a:ext uri="{FF2B5EF4-FFF2-40B4-BE49-F238E27FC236}">
                <a16:creationId xmlns:a16="http://schemas.microsoft.com/office/drawing/2014/main" id="{E7C3C7A4-957A-48A7-ADFC-A048CBE1D7B2}"/>
              </a:ext>
            </a:extLst>
          </p:cNvPr>
          <p:cNvSpPr>
            <a:spLocks xmlns:a="http://schemas.openxmlformats.org/drawingml/2006/main" noGrp="1"/>
          </p:cNvSpPr>
          <p:nvPr/>
        </p:nvSpPr>
        <p:spPr>
          <a:xfrm xmlns:a="http://schemas.openxmlformats.org/drawingml/2006/main">
            <a:off x="914400" y="5897880"/>
            <a:ext cx="10149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5F6B7A"/>
                </a:solidFill>
                <a:latin typeface="Aptos"/>
                <a:ea typeface="Aptos"/>
                <a:cs typeface="Aptos"/>
              </a:rPr>
              <a:t>The RIST framework models the blast furnace through conservation of mass and energy, linking operating inputs to thermal and material outputs.</a:t>
            </a:r>
          </a:p>
        </p:txBody>
      </p:sp>
    </p:spTree>
    <p:extLst>
      <p:ext uri="{BB962C8B-B14F-4D97-AF65-F5344CB8AC3E}">
        <p14:creationId xmlns:p14="http://schemas.microsoft.com/office/powerpoint/2010/main" val="2667921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E4C5EA-EEA7-4140-90FB-FBAC9A224127}"/>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DA7A1522-067A-49D7-9C00-166E8E94A351}"/>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4B0E2704-3D20-47BE-9C2A-8523A2ED7580}"/>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41B71670-AAD1-4B0C-925D-04FB2B882CBC}"/>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51391B8A-FF9C-4F45-B1C3-88FDEEC221D8}"/>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7</a:t>
            </a:r>
          </a:p>
        </p:txBody>
      </p:sp>
      <p:sp>
        <p:nvSpPr>
          <p:cNvPr id="7" name="Shape 5">
            <a:extLst xmlns:a="http://schemas.openxmlformats.org/drawingml/2006/main">
              <a:ext uri="{FF2B5EF4-FFF2-40B4-BE49-F238E27FC236}">
                <a16:creationId xmlns:a16="http://schemas.microsoft.com/office/drawing/2014/main" id="{6A19C56C-E15F-4444-AA83-6FB58ED29D67}"/>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EB226D1-86D1-4031-9034-92324D73D3E9}"/>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Data Landscape and Operational Constraints</a:t>
            </a:r>
          </a:p>
        </p:txBody>
      </p:sp>
      <p:sp>
        <p:nvSpPr>
          <p:cNvPr id="9" name="Shape 7">
            <a:extLst xmlns:a="http://schemas.openxmlformats.org/drawingml/2006/main">
              <a:ext uri="{FF2B5EF4-FFF2-40B4-BE49-F238E27FC236}">
                <a16:creationId xmlns:a16="http://schemas.microsoft.com/office/drawing/2014/main" id="{1D7478B5-4E48-4328-A40F-D698785FBAEF}"/>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31B97023-ECFF-493B-8F9C-03C4697ACFC8}"/>
              </a:ext>
            </a:extLst>
          </p:cNvPr>
          <p:cNvSpPr>
            <a:spLocks xmlns:a="http://schemas.openxmlformats.org/drawingml/2006/main" noGrp="1"/>
          </p:cNvSpPr>
          <p:nvPr/>
        </p:nvSpPr>
        <p:spPr>
          <a:xfrm xmlns:a="http://schemas.openxmlformats.org/drawingml/2006/main">
            <a:off x="868680" y="1325880"/>
            <a:ext cx="3749040" cy="4480560"/>
          </a:xfrm>
          <a:prstGeom xmlns:a="http://schemas.openxmlformats.org/drawingml/2006/main" prst="roundRect">
            <a:avLst>
              <a:gd name="adj" fmla="val 122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450C194C-A218-4E8E-B431-422E9BF487C0}"/>
              </a:ext>
            </a:extLst>
          </p:cNvPr>
          <p:cNvSpPr>
            <a:spLocks xmlns:a="http://schemas.openxmlformats.org/drawingml/2006/main" noGrp="1"/>
          </p:cNvSpPr>
          <p:nvPr/>
        </p:nvSpPr>
        <p:spPr>
          <a:xfrm xmlns:a="http://schemas.openxmlformats.org/drawingml/2006/main">
            <a:off x="996696" y="1417320"/>
            <a:ext cx="34930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Available / Referenced Variables</a:t>
            </a:r>
          </a:p>
        </p:txBody>
      </p:sp>
      <p:sp>
        <p:nvSpPr>
          <p:cNvPr id="12" name="Text 10">
            <a:extLst xmlns:a="http://schemas.openxmlformats.org/drawingml/2006/main">
              <a:ext uri="{FF2B5EF4-FFF2-40B4-BE49-F238E27FC236}">
                <a16:creationId xmlns:a16="http://schemas.microsoft.com/office/drawing/2014/main" id="{348543A2-5A58-46E7-8050-0A5FB8B10966}"/>
              </a:ext>
            </a:extLst>
          </p:cNvPr>
          <p:cNvSpPr>
            <a:spLocks xmlns:a="http://schemas.openxmlformats.org/drawingml/2006/main" noGrp="1"/>
          </p:cNvSpPr>
          <p:nvPr/>
        </p:nvSpPr>
        <p:spPr>
          <a:xfrm xmlns:a="http://schemas.openxmlformats.org/drawingml/2006/main">
            <a:off x="996696" y="1655064"/>
            <a:ext cx="3493008" cy="4078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Data_1 contains EtaCO, CO, CO₂, blast flow / pressure / temperature, O₂ enrichment, moisture, steam, RAFT, top-gas temperature, stockline, heat loss, CSR, tuyere velocity and pressure indicators.</a:t>
            </a:r>
          </a:p>
        </p:txBody>
      </p:sp>
      <p:sp>
        <p:nvSpPr>
          <p:cNvPr id="13" name="Shape 11">
            <a:extLst xmlns:a="http://schemas.openxmlformats.org/drawingml/2006/main">
              <a:ext uri="{FF2B5EF4-FFF2-40B4-BE49-F238E27FC236}">
                <a16:creationId xmlns:a16="http://schemas.microsoft.com/office/drawing/2014/main" id="{8CC140B7-3C70-42BA-8999-F9E8AC105512}"/>
              </a:ext>
            </a:extLst>
          </p:cNvPr>
          <p:cNvSpPr>
            <a:spLocks xmlns:a="http://schemas.openxmlformats.org/drawingml/2006/main" noGrp="1"/>
          </p:cNvSpPr>
          <p:nvPr/>
        </p:nvSpPr>
        <p:spPr>
          <a:xfrm xmlns:a="http://schemas.openxmlformats.org/drawingml/2006/main">
            <a:off x="4800600" y="1325880"/>
            <a:ext cx="2971800" cy="4480560"/>
          </a:xfrm>
          <a:prstGeom xmlns:a="http://schemas.openxmlformats.org/drawingml/2006/main" prst="roundRect">
            <a:avLst>
              <a:gd name="adj" fmla="val 1538"/>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8D4A39B4-2E79-4848-BF42-D702BB19789D}"/>
              </a:ext>
            </a:extLst>
          </p:cNvPr>
          <p:cNvSpPr>
            <a:spLocks xmlns:a="http://schemas.openxmlformats.org/drawingml/2006/main" noGrp="1"/>
          </p:cNvSpPr>
          <p:nvPr/>
        </p:nvSpPr>
        <p:spPr>
          <a:xfrm xmlns:a="http://schemas.openxmlformats.org/drawingml/2006/main">
            <a:off x="4928616" y="1417320"/>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Operational Notes</a:t>
            </a:r>
          </a:p>
        </p:txBody>
      </p:sp>
      <p:sp>
        <p:nvSpPr>
          <p:cNvPr id="15" name="Text 13">
            <a:extLst xmlns:a="http://schemas.openxmlformats.org/drawingml/2006/main">
              <a:ext uri="{FF2B5EF4-FFF2-40B4-BE49-F238E27FC236}">
                <a16:creationId xmlns:a16="http://schemas.microsoft.com/office/drawing/2014/main" id="{1A516315-ACC0-4583-A6F7-A62E8FE87BB8}"/>
              </a:ext>
            </a:extLst>
          </p:cNvPr>
          <p:cNvSpPr>
            <a:spLocks xmlns:a="http://schemas.openxmlformats.org/drawingml/2006/main" noGrp="1"/>
          </p:cNvSpPr>
          <p:nvPr/>
        </p:nvSpPr>
        <p:spPr>
          <a:xfrm xmlns:a="http://schemas.openxmlformats.org/drawingml/2006/main">
            <a:off x="4928616" y="1655064"/>
            <a:ext cx="2715768" cy="4078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Measurements arrive at different frequencies and process responses are delayed. Time alignment, sensor-quality checks and lag-aware validation are required before modelling.</a:t>
            </a:r>
          </a:p>
        </p:txBody>
      </p:sp>
      <p:sp>
        <p:nvSpPr>
          <p:cNvPr id="16" name="Shape 14">
            <a:extLst xmlns:a="http://schemas.openxmlformats.org/drawingml/2006/main">
              <a:ext uri="{FF2B5EF4-FFF2-40B4-BE49-F238E27FC236}">
                <a16:creationId xmlns:a16="http://schemas.microsoft.com/office/drawing/2014/main" id="{37A9F7B6-53CD-47DC-A0F1-CF3F377C7F76}"/>
              </a:ext>
            </a:extLst>
          </p:cNvPr>
          <p:cNvSpPr>
            <a:spLocks xmlns:a="http://schemas.openxmlformats.org/drawingml/2006/main" noGrp="1"/>
          </p:cNvSpPr>
          <p:nvPr/>
        </p:nvSpPr>
        <p:spPr>
          <a:xfrm xmlns:a="http://schemas.openxmlformats.org/drawingml/2006/main">
            <a:off x="7973568" y="1336513"/>
            <a:ext cx="3291840" cy="4480560"/>
          </a:xfrm>
          <a:prstGeom xmlns:a="http://schemas.openxmlformats.org/drawingml/2006/main" prst="roundRect">
            <a:avLst>
              <a:gd name="adj" fmla="val 138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FB481955-A55F-4E1B-B375-299DF3EFD767}"/>
              </a:ext>
            </a:extLst>
          </p:cNvPr>
          <p:cNvSpPr>
            <a:spLocks xmlns:a="http://schemas.openxmlformats.org/drawingml/2006/main" noGrp="1"/>
          </p:cNvSpPr>
          <p:nvPr/>
        </p:nvSpPr>
        <p:spPr>
          <a:xfrm xmlns:a="http://schemas.openxmlformats.org/drawingml/2006/main">
            <a:off x="8101584" y="14173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Observed Constraints</a:t>
            </a:r>
          </a:p>
        </p:txBody>
      </p:sp>
      <p:sp>
        <p:nvSpPr>
          <p:cNvPr id="18" name="Text 16">
            <a:extLst xmlns:a="http://schemas.openxmlformats.org/drawingml/2006/main">
              <a:ext uri="{FF2B5EF4-FFF2-40B4-BE49-F238E27FC236}">
                <a16:creationId xmlns:a16="http://schemas.microsoft.com/office/drawing/2014/main" id="{178EB48D-1EEA-43BF-987C-C540561B81D8}"/>
              </a:ext>
            </a:extLst>
          </p:cNvPr>
          <p:cNvSpPr>
            <a:spLocks xmlns:a="http://schemas.openxmlformats.org/drawingml/2006/main" noGrp="1"/>
          </p:cNvSpPr>
          <p:nvPr/>
        </p:nvSpPr>
        <p:spPr>
          <a:xfrm xmlns:a="http://schemas.openxmlformats.org/drawingml/2006/main">
            <a:off x="8101584" y="1655064"/>
            <a:ext cx="3035808" cy="4078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Recipe, Cast, HM and Slag sheets are available, but a reliable key or timestamp link to Data_1 is not yet confirmed. Phase 1 therefore uses Data_1 only.</a:t>
            </a:r>
          </a:p>
        </p:txBody>
      </p:sp>
    </p:spTree>
    <p:extLst>
      <p:ext uri="{BB962C8B-B14F-4D97-AF65-F5344CB8AC3E}">
        <p14:creationId xmlns:p14="http://schemas.microsoft.com/office/powerpoint/2010/main" val="19078890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5F494C3-2F12-4697-87D9-714CB78178B5}"/>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72745BB1-E91A-4DBA-BAB7-50E9ABFF8ED5}"/>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4C54AB3C-900F-4097-B4DB-2A179A65D81C}"/>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2EFBBBA7-366F-4555-B5A4-6C4D040DEEF3}"/>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3283B65B-2C10-40B9-8A03-2804220FE79A}"/>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8</a:t>
            </a:r>
          </a:p>
        </p:txBody>
      </p:sp>
      <p:sp>
        <p:nvSpPr>
          <p:cNvPr id="7" name="Shape 5">
            <a:extLst xmlns:a="http://schemas.openxmlformats.org/drawingml/2006/main">
              <a:ext uri="{FF2B5EF4-FFF2-40B4-BE49-F238E27FC236}">
                <a16:creationId xmlns:a16="http://schemas.microsoft.com/office/drawing/2014/main" id="{C791AD59-5AB6-4A59-A38A-328E7AA4DC56}"/>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0986CB84-C3CA-49A4-B423-3E968D3EB542}"/>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Use Case 1: RIST-RAFT Methodology and Outputs</a:t>
            </a:r>
          </a:p>
        </p:txBody>
      </p:sp>
      <p:sp>
        <p:nvSpPr>
          <p:cNvPr id="9" name="Shape 7">
            <a:extLst xmlns:a="http://schemas.openxmlformats.org/drawingml/2006/main">
              <a:ext uri="{FF2B5EF4-FFF2-40B4-BE49-F238E27FC236}">
                <a16:creationId xmlns:a16="http://schemas.microsoft.com/office/drawing/2014/main" id="{A9A70128-2955-4774-94EB-7C89FD6459CE}"/>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8DF57891-8288-4FDF-A649-6C9C8DDA4900}"/>
              </a:ext>
            </a:extLst>
          </p:cNvPr>
          <p:cNvSpPr>
            <a:spLocks xmlns:a="http://schemas.openxmlformats.org/drawingml/2006/main" noGrp="1"/>
          </p:cNvSpPr>
          <p:nvPr/>
        </p:nvSpPr>
        <p:spPr>
          <a:xfrm xmlns:a="http://schemas.openxmlformats.org/drawingml/2006/main">
            <a:off x="868680" y="1325880"/>
            <a:ext cx="4572000" cy="4526280"/>
          </a:xfrm>
          <a:prstGeom xmlns:a="http://schemas.openxmlformats.org/drawingml/2006/main" prst="roundRect">
            <a:avLst>
              <a:gd name="adj" fmla="val 101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DBDCEAF5-86FA-41AB-8D79-314A9300DAC6}"/>
              </a:ext>
            </a:extLst>
          </p:cNvPr>
          <p:cNvSpPr>
            <a:spLocks xmlns:a="http://schemas.openxmlformats.org/drawingml/2006/main" noGrp="1"/>
          </p:cNvSpPr>
          <p:nvPr/>
        </p:nvSpPr>
        <p:spPr>
          <a:xfrm xmlns:a="http://schemas.openxmlformats.org/drawingml/2006/main">
            <a:off x="996696" y="1417320"/>
            <a:ext cx="43159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Model Logic</a:t>
            </a:r>
          </a:p>
        </p:txBody>
      </p:sp>
      <p:sp>
        <p:nvSpPr>
          <p:cNvPr id="12" name="Text 10">
            <a:extLst xmlns:a="http://schemas.openxmlformats.org/drawingml/2006/main">
              <a:ext uri="{FF2B5EF4-FFF2-40B4-BE49-F238E27FC236}">
                <a16:creationId xmlns:a16="http://schemas.microsoft.com/office/drawing/2014/main" id="{5689CAF6-4BD2-44D2-B877-176875D098A0}"/>
              </a:ext>
            </a:extLst>
          </p:cNvPr>
          <p:cNvSpPr>
            <a:spLocks xmlns:a="http://schemas.openxmlformats.org/drawingml/2006/main" noGrp="1"/>
          </p:cNvSpPr>
          <p:nvPr/>
        </p:nvSpPr>
        <p:spPr>
          <a:xfrm xmlns:a="http://schemas.openxmlformats.org/drawingml/2006/main">
            <a:off x="996696" y="1655064"/>
            <a:ext cx="4315968" cy="4123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RIST-RAFT uses mass and enthalpy balancing equations to estimate blast furnace operating conditions. The model calculates blast rate and coke rate by solving the system iteratively from an initial assumption until the equations converge.</a:t>
            </a:r>
          </a:p>
        </p:txBody>
      </p:sp>
      <p:sp>
        <p:nvSpPr>
          <p:cNvPr id="13" name="Shape 11">
            <a:extLst xmlns:a="http://schemas.openxmlformats.org/drawingml/2006/main">
              <a:ext uri="{FF2B5EF4-FFF2-40B4-BE49-F238E27FC236}">
                <a16:creationId xmlns:a16="http://schemas.microsoft.com/office/drawing/2014/main" id="{16ADFD02-3511-4DFD-A4A8-83ACFD77FA6E}"/>
              </a:ext>
            </a:extLst>
          </p:cNvPr>
          <p:cNvSpPr>
            <a:spLocks xmlns:a="http://schemas.openxmlformats.org/drawingml/2006/main" noGrp="1"/>
          </p:cNvSpPr>
          <p:nvPr/>
        </p:nvSpPr>
        <p:spPr>
          <a:xfrm xmlns:a="http://schemas.openxmlformats.org/drawingml/2006/main">
            <a:off x="5760720" y="1417320"/>
            <a:ext cx="1554480" cy="256032"/>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E72498A5-C50F-4B09-A615-80B285EF8E85}"/>
              </a:ext>
            </a:extLst>
          </p:cNvPr>
          <p:cNvSpPr>
            <a:spLocks xmlns:a="http://schemas.openxmlformats.org/drawingml/2006/main" noGrp="1"/>
          </p:cNvSpPr>
          <p:nvPr/>
        </p:nvSpPr>
        <p:spPr>
          <a:xfrm xmlns:a="http://schemas.openxmlformats.org/drawingml/2006/main">
            <a:off x="5760720" y="1444752"/>
            <a:ext cx="1554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5AA6"/>
                </a:solidFill>
                <a:latin typeface="Aptos"/>
                <a:ea typeface="Aptos"/>
                <a:cs typeface="Aptos"/>
              </a:rPr>
              <a:t>Core outputs</a:t>
            </a:r>
          </a:p>
        </p:txBody>
      </p:sp>
      <p:sp>
        <p:nvSpPr>
          <p:cNvPr id="15" name="Text 13">
            <a:extLst xmlns:a="http://schemas.openxmlformats.org/drawingml/2006/main">
              <a:ext uri="{FF2B5EF4-FFF2-40B4-BE49-F238E27FC236}">
                <a16:creationId xmlns:a16="http://schemas.microsoft.com/office/drawing/2014/main" id="{1824A467-4B40-4DAB-9BE7-2D8CCB815596}"/>
              </a:ext>
            </a:extLst>
          </p:cNvPr>
          <p:cNvSpPr>
            <a:spLocks xmlns:a="http://schemas.openxmlformats.org/drawingml/2006/main" noGrp="1"/>
          </p:cNvSpPr>
          <p:nvPr/>
        </p:nvSpPr>
        <p:spPr>
          <a:xfrm xmlns:a="http://schemas.openxmlformats.org/drawingml/2006/main">
            <a:off x="5669280" y="1783080"/>
            <a:ext cx="4846320" cy="17373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Calculated Blast Rate</a:t>
            </a:r>
          </a:p>
          <a:p xmlns:a="http://schemas.openxmlformats.org/drawingml/2006/main">
            <a:pPr marL="152400" indent="-152400">
              <a:buChar char="•"/>
            </a:pPr>
            <a:r>
              <a:rPr sz="1500">
                <a:solidFill>
                  <a:srgbClr val="1A1F2E"/>
                </a:solidFill>
                <a:latin typeface="Aptos"/>
                <a:ea typeface="Aptos"/>
                <a:cs typeface="Aptos"/>
              </a:rPr>
              <a:t>Calculated Coke Rate</a:t>
            </a:r>
          </a:p>
          <a:p xmlns:a="http://schemas.openxmlformats.org/drawingml/2006/main">
            <a:pPr marL="152400" indent="-152400">
              <a:buChar char="•"/>
            </a:pPr>
            <a:r>
              <a:rPr sz="1500">
                <a:solidFill>
                  <a:srgbClr val="1A1F2E"/>
                </a:solidFill>
                <a:latin typeface="Aptos"/>
                <a:ea typeface="Aptos"/>
                <a:cs typeface="Aptos"/>
              </a:rPr>
              <a:t>Interpretive operating pattern view: left-side behaviour indicates unfavourable condition, right-side behaviour indicates favourable condition</a:t>
            </a:r>
          </a:p>
        </p:txBody>
      </p:sp>
      <p:sp>
        <p:nvSpPr>
          <p:cNvPr id="16" name="Shape 14">
            <a:extLst xmlns:a="http://schemas.openxmlformats.org/drawingml/2006/main">
              <a:ext uri="{FF2B5EF4-FFF2-40B4-BE49-F238E27FC236}">
                <a16:creationId xmlns:a16="http://schemas.microsoft.com/office/drawing/2014/main" id="{491CFF2E-E0BA-4707-8D79-C488747DC55C}"/>
              </a:ext>
            </a:extLst>
          </p:cNvPr>
          <p:cNvSpPr>
            <a:spLocks xmlns:a="http://schemas.openxmlformats.org/drawingml/2006/main" noGrp="1"/>
          </p:cNvSpPr>
          <p:nvPr/>
        </p:nvSpPr>
        <p:spPr>
          <a:xfrm xmlns:a="http://schemas.openxmlformats.org/drawingml/2006/main">
            <a:off x="5760720" y="3657600"/>
            <a:ext cx="1508760" cy="256032"/>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E3FDB7AD-3F65-480D-9FA8-E7B650A2F906}"/>
              </a:ext>
            </a:extLst>
          </p:cNvPr>
          <p:cNvSpPr>
            <a:spLocks xmlns:a="http://schemas.openxmlformats.org/drawingml/2006/main" noGrp="1"/>
          </p:cNvSpPr>
          <p:nvPr/>
        </p:nvSpPr>
        <p:spPr>
          <a:xfrm xmlns:a="http://schemas.openxmlformats.org/drawingml/2006/main">
            <a:off x="5760720" y="3685032"/>
            <a:ext cx="15087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5AA6"/>
                </a:solidFill>
                <a:latin typeface="Aptos"/>
                <a:ea typeface="Aptos"/>
                <a:cs typeface="Aptos"/>
              </a:rPr>
              <a:t>Guidance use</a:t>
            </a:r>
          </a:p>
        </p:txBody>
      </p:sp>
      <p:sp>
        <p:nvSpPr>
          <p:cNvPr id="18" name="Text 16">
            <a:extLst xmlns:a="http://schemas.openxmlformats.org/drawingml/2006/main">
              <a:ext uri="{FF2B5EF4-FFF2-40B4-BE49-F238E27FC236}">
                <a16:creationId xmlns:a16="http://schemas.microsoft.com/office/drawing/2014/main" id="{45AFA463-6F2B-47BC-B686-F138DF8BC13A}"/>
              </a:ext>
            </a:extLst>
          </p:cNvPr>
          <p:cNvSpPr>
            <a:spLocks xmlns:a="http://schemas.openxmlformats.org/drawingml/2006/main" noGrp="1"/>
          </p:cNvSpPr>
          <p:nvPr/>
        </p:nvSpPr>
        <p:spPr>
          <a:xfrm xmlns:a="http://schemas.openxmlformats.org/drawingml/2006/main">
            <a:off x="5669280" y="3977640"/>
            <a:ext cx="4754880" cy="192024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Model can be used to study different operating conditions by changing furnace parameters</a:t>
            </a:r>
          </a:p>
          <a:p xmlns:a="http://schemas.openxmlformats.org/drawingml/2006/main">
            <a:pPr marL="152400" indent="-152400">
              <a:buChar char="•"/>
            </a:pPr>
            <a:r>
              <a:rPr sz="1500">
                <a:solidFill>
                  <a:srgbClr val="1A1F2E"/>
                </a:solidFill>
                <a:latin typeface="Aptos"/>
                <a:ea typeface="Aptos"/>
                <a:cs typeface="Aptos"/>
              </a:rPr>
              <a:t>Guidance is referenced as being generated every 30 minutes</a:t>
            </a:r>
          </a:p>
          <a:p xmlns:a="http://schemas.openxmlformats.org/drawingml/2006/main">
            <a:pPr marL="152400" indent="-152400">
              <a:buChar char="•"/>
            </a:pPr>
            <a:r>
              <a:rPr sz="1500">
                <a:solidFill>
                  <a:srgbClr val="1A1F2E"/>
                </a:solidFill>
                <a:latin typeface="Aptos"/>
                <a:ea typeface="Aptos"/>
                <a:cs typeface="Aptos"/>
              </a:rPr>
              <a:t>Reverse RIST-RAFT logic can be used to study how controllable variables influence HMT</a:t>
            </a:r>
          </a:p>
        </p:txBody>
      </p:sp>
    </p:spTree>
    <p:extLst>
      <p:ext uri="{BB962C8B-B14F-4D97-AF65-F5344CB8AC3E}">
        <p14:creationId xmlns:p14="http://schemas.microsoft.com/office/powerpoint/2010/main" val="18889592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28F46C7-AE38-4588-A13A-49D68F347251}"/>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FAF14536-9D86-4AB2-ABE2-5D034CD89A5E}"/>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D6977B78-898E-4E98-82BA-4858B81CCDFC}"/>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868BC9A9-28D7-4254-8964-59A14E2DCFF9}"/>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AF0401EE-1E1A-4F15-8564-9C3298315200}"/>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9</a:t>
            </a:r>
          </a:p>
        </p:txBody>
      </p:sp>
      <p:sp>
        <p:nvSpPr>
          <p:cNvPr id="7" name="Shape 5">
            <a:extLst xmlns:a="http://schemas.openxmlformats.org/drawingml/2006/main">
              <a:ext uri="{FF2B5EF4-FFF2-40B4-BE49-F238E27FC236}">
                <a16:creationId xmlns:a16="http://schemas.microsoft.com/office/drawing/2014/main" id="{A3814CC3-9307-483C-961D-FF9031B2C54A}"/>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800AA93A-D377-4F8F-ABC3-F38F0B587916}"/>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RIST-RAFT Calibration and Recommendation Logic</a:t>
            </a:r>
          </a:p>
        </p:txBody>
      </p:sp>
      <p:sp>
        <p:nvSpPr>
          <p:cNvPr id="9" name="Shape 7">
            <a:extLst xmlns:a="http://schemas.openxmlformats.org/drawingml/2006/main">
              <a:ext uri="{FF2B5EF4-FFF2-40B4-BE49-F238E27FC236}">
                <a16:creationId xmlns:a16="http://schemas.microsoft.com/office/drawing/2014/main" id="{70B4B22E-F9D7-4DDA-9D97-2530CF62F8C8}"/>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729A4493-C125-4CEC-8F60-7C899F656BDF}"/>
              </a:ext>
            </a:extLst>
          </p:cNvPr>
          <p:cNvSpPr>
            <a:spLocks xmlns:a="http://schemas.openxmlformats.org/drawingml/2006/main" noGrp="1"/>
          </p:cNvSpPr>
          <p:nvPr/>
        </p:nvSpPr>
        <p:spPr>
          <a:xfrm xmlns:a="http://schemas.openxmlformats.org/drawingml/2006/main">
            <a:off x="868680" y="1325880"/>
            <a:ext cx="3520440" cy="4389120"/>
          </a:xfrm>
          <a:prstGeom xmlns:a="http://schemas.openxmlformats.org/drawingml/2006/main" prst="roundRect">
            <a:avLst>
              <a:gd name="adj" fmla="val 129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F2B89F69-2C86-48DC-9750-6B90570F2128}"/>
              </a:ext>
            </a:extLst>
          </p:cNvPr>
          <p:cNvSpPr>
            <a:spLocks xmlns:a="http://schemas.openxmlformats.org/drawingml/2006/main" noGrp="1"/>
          </p:cNvSpPr>
          <p:nvPr/>
        </p:nvSpPr>
        <p:spPr>
          <a:xfrm xmlns:a="http://schemas.openxmlformats.org/drawingml/2006/main">
            <a:off x="996696" y="1417320"/>
            <a:ext cx="32644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Calibration against plant</a:t>
            </a:r>
          </a:p>
        </p:txBody>
      </p:sp>
      <p:sp>
        <p:nvSpPr>
          <p:cNvPr id="12" name="Text 10">
            <a:extLst xmlns:a="http://schemas.openxmlformats.org/drawingml/2006/main">
              <a:ext uri="{FF2B5EF4-FFF2-40B4-BE49-F238E27FC236}">
                <a16:creationId xmlns:a16="http://schemas.microsoft.com/office/drawing/2014/main" id="{B2CB05EF-CE85-4FCD-ABD0-2DDEED2DA3A4}"/>
              </a:ext>
            </a:extLst>
          </p:cNvPr>
          <p:cNvSpPr>
            <a:spLocks xmlns:a="http://schemas.openxmlformats.org/drawingml/2006/main" noGrp="1"/>
          </p:cNvSpPr>
          <p:nvPr/>
        </p:nvSpPr>
        <p:spPr>
          <a:xfrm xmlns:a="http://schemas.openxmlformats.org/drawingml/2006/main">
            <a:off x="996696" y="1655064"/>
            <a:ext cx="3264408"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Model-predicted coke rate is expected to be lower than actual plant coke rate because plant losses exceed the losses explicitly represented in the simplified model.</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Hence, plant-tested correction factors are used to reconcile the model with operating reality.</a:t>
            </a:r>
          </a:p>
        </p:txBody>
      </p:sp>
      <p:sp>
        <p:nvSpPr>
          <p:cNvPr id="13" name="Shape 11">
            <a:extLst xmlns:a="http://schemas.openxmlformats.org/drawingml/2006/main">
              <a:ext uri="{FF2B5EF4-FFF2-40B4-BE49-F238E27FC236}">
                <a16:creationId xmlns:a16="http://schemas.microsoft.com/office/drawing/2014/main" id="{F3E3A145-3824-4284-A8F2-688552F1C806}"/>
              </a:ext>
            </a:extLst>
          </p:cNvPr>
          <p:cNvSpPr>
            <a:spLocks xmlns:a="http://schemas.openxmlformats.org/drawingml/2006/main" noGrp="1"/>
          </p:cNvSpPr>
          <p:nvPr/>
        </p:nvSpPr>
        <p:spPr>
          <a:xfrm xmlns:a="http://schemas.openxmlformats.org/drawingml/2006/main">
            <a:off x="4572000" y="1325880"/>
            <a:ext cx="2926080" cy="2011680"/>
          </a:xfrm>
          <a:prstGeom xmlns:a="http://schemas.openxmlformats.org/drawingml/2006/main" prst="roundRect">
            <a:avLst>
              <a:gd name="adj" fmla="val 2273"/>
            </a:avLst>
          </a:prstGeom>
          <a:solidFill xmlns:a="http://schemas.openxmlformats.org/drawingml/2006/main">
            <a:srgbClr val="EAF2FF"/>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E84B9244-4142-47C3-B793-335BE27A1515}"/>
              </a:ext>
            </a:extLst>
          </p:cNvPr>
          <p:cNvSpPr>
            <a:spLocks xmlns:a="http://schemas.openxmlformats.org/drawingml/2006/main" noGrp="1"/>
          </p:cNvSpPr>
          <p:nvPr/>
        </p:nvSpPr>
        <p:spPr>
          <a:xfrm xmlns:a="http://schemas.openxmlformats.org/drawingml/2006/main">
            <a:off x="4700016" y="1417320"/>
            <a:ext cx="2670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Blast Rate correction</a:t>
            </a:r>
          </a:p>
        </p:txBody>
      </p:sp>
      <p:sp>
        <p:nvSpPr>
          <p:cNvPr id="15" name="Text 13">
            <a:extLst xmlns:a="http://schemas.openxmlformats.org/drawingml/2006/main">
              <a:ext uri="{FF2B5EF4-FFF2-40B4-BE49-F238E27FC236}">
                <a16:creationId xmlns:a16="http://schemas.microsoft.com/office/drawing/2014/main" id="{47753560-50DB-4984-9D81-08B17B7F96A3}"/>
              </a:ext>
            </a:extLst>
          </p:cNvPr>
          <p:cNvSpPr>
            <a:spLocks xmlns:a="http://schemas.openxmlformats.org/drawingml/2006/main" noGrp="1"/>
          </p:cNvSpPr>
          <p:nvPr/>
        </p:nvSpPr>
        <p:spPr>
          <a:xfrm xmlns:a="http://schemas.openxmlformats.org/drawingml/2006/main">
            <a:off x="4700016" y="1655064"/>
            <a:ext cx="2670048"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Corrected value = Model predicted value / Correction factor</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BF_1: 1.03</a:t>
            </a:r>
          </a:p>
          <a:p xmlns:a="http://schemas.openxmlformats.org/drawingml/2006/main">
            <a:pPr marL="0" indent="0">
              <a:buNone/>
            </a:pPr>
            <a:r>
              <a:rPr sz="1150">
                <a:solidFill>
                  <a:srgbClr val="1A1F2E"/>
                </a:solidFill>
                <a:latin typeface="Aptos"/>
                <a:ea typeface="Aptos"/>
                <a:cs typeface="Aptos"/>
              </a:rPr>
              <a:t>BF_2: 1.02</a:t>
            </a:r>
          </a:p>
        </p:txBody>
      </p:sp>
      <p:sp>
        <p:nvSpPr>
          <p:cNvPr id="16" name="Shape 14">
            <a:extLst xmlns:a="http://schemas.openxmlformats.org/drawingml/2006/main">
              <a:ext uri="{FF2B5EF4-FFF2-40B4-BE49-F238E27FC236}">
                <a16:creationId xmlns:a16="http://schemas.microsoft.com/office/drawing/2014/main" id="{B27C2181-416E-45EE-B317-B0EA1EAAF4FD}"/>
              </a:ext>
            </a:extLst>
          </p:cNvPr>
          <p:cNvSpPr>
            <a:spLocks xmlns:a="http://schemas.openxmlformats.org/drawingml/2006/main" noGrp="1"/>
          </p:cNvSpPr>
          <p:nvPr/>
        </p:nvSpPr>
        <p:spPr>
          <a:xfrm xmlns:a="http://schemas.openxmlformats.org/drawingml/2006/main">
            <a:off x="4572000" y="3703320"/>
            <a:ext cx="2926080" cy="2011680"/>
          </a:xfrm>
          <a:prstGeom xmlns:a="http://schemas.openxmlformats.org/drawingml/2006/main" prst="roundRect">
            <a:avLst>
              <a:gd name="adj" fmla="val 2273"/>
            </a:avLst>
          </a:prstGeom>
          <a:solidFill xmlns:a="http://schemas.openxmlformats.org/drawingml/2006/main">
            <a:srgbClr val="EAF2FF"/>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2D83E113-9032-4C75-B2F1-81902B7D828C}"/>
              </a:ext>
            </a:extLst>
          </p:cNvPr>
          <p:cNvSpPr>
            <a:spLocks xmlns:a="http://schemas.openxmlformats.org/drawingml/2006/main" noGrp="1"/>
          </p:cNvSpPr>
          <p:nvPr/>
        </p:nvSpPr>
        <p:spPr>
          <a:xfrm xmlns:a="http://schemas.openxmlformats.org/drawingml/2006/main">
            <a:off x="4700016" y="3794760"/>
            <a:ext cx="2670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Coke Rate correction</a:t>
            </a:r>
          </a:p>
        </p:txBody>
      </p:sp>
      <p:sp>
        <p:nvSpPr>
          <p:cNvPr id="18" name="Text 16">
            <a:extLst xmlns:a="http://schemas.openxmlformats.org/drawingml/2006/main">
              <a:ext uri="{FF2B5EF4-FFF2-40B4-BE49-F238E27FC236}">
                <a16:creationId xmlns:a16="http://schemas.microsoft.com/office/drawing/2014/main" id="{4F64CEEF-1016-43A9-BF6B-14E320C203C0}"/>
              </a:ext>
            </a:extLst>
          </p:cNvPr>
          <p:cNvSpPr>
            <a:spLocks xmlns:a="http://schemas.openxmlformats.org/drawingml/2006/main" noGrp="1"/>
          </p:cNvSpPr>
          <p:nvPr/>
        </p:nvSpPr>
        <p:spPr>
          <a:xfrm xmlns:a="http://schemas.openxmlformats.org/drawingml/2006/main">
            <a:off x="4700016" y="4032504"/>
            <a:ext cx="2670048"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Corrected value = Model predicted value / Correction factor</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BF_1: 0.96</a:t>
            </a:r>
          </a:p>
          <a:p xmlns:a="http://schemas.openxmlformats.org/drawingml/2006/main">
            <a:pPr marL="0" indent="0">
              <a:buNone/>
            </a:pPr>
            <a:r>
              <a:rPr sz="1150">
                <a:solidFill>
                  <a:srgbClr val="1A1F2E"/>
                </a:solidFill>
                <a:latin typeface="Aptos"/>
                <a:ea typeface="Aptos"/>
                <a:cs typeface="Aptos"/>
              </a:rPr>
              <a:t>BF_2: 0.94</a:t>
            </a:r>
          </a:p>
        </p:txBody>
      </p:sp>
      <p:sp>
        <p:nvSpPr>
          <p:cNvPr id="19" name="Shape 17">
            <a:extLst xmlns:a="http://schemas.openxmlformats.org/drawingml/2006/main">
              <a:ext uri="{FF2B5EF4-FFF2-40B4-BE49-F238E27FC236}">
                <a16:creationId xmlns:a16="http://schemas.microsoft.com/office/drawing/2014/main" id="{9B1086B8-B909-4CFF-8685-D4DA9F749334}"/>
              </a:ext>
            </a:extLst>
          </p:cNvPr>
          <p:cNvSpPr>
            <a:spLocks xmlns:a="http://schemas.openxmlformats.org/drawingml/2006/main" noGrp="1"/>
          </p:cNvSpPr>
          <p:nvPr/>
        </p:nvSpPr>
        <p:spPr>
          <a:xfrm xmlns:a="http://schemas.openxmlformats.org/drawingml/2006/main">
            <a:off x="7726680" y="1325880"/>
            <a:ext cx="3566160" cy="4389120"/>
          </a:xfrm>
          <a:prstGeom xmlns:a="http://schemas.openxmlformats.org/drawingml/2006/main" prst="roundRect">
            <a:avLst>
              <a:gd name="adj" fmla="val 1282"/>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D12BB5FC-13C2-493D-8178-78F77D8277F6}"/>
              </a:ext>
            </a:extLst>
          </p:cNvPr>
          <p:cNvSpPr>
            <a:spLocks xmlns:a="http://schemas.openxmlformats.org/drawingml/2006/main" noGrp="1"/>
          </p:cNvSpPr>
          <p:nvPr/>
        </p:nvSpPr>
        <p:spPr>
          <a:xfrm xmlns:a="http://schemas.openxmlformats.org/drawingml/2006/main">
            <a:off x="7854696" y="1417320"/>
            <a:ext cx="33101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Recommendation scenarios</a:t>
            </a:r>
          </a:p>
        </p:txBody>
      </p:sp>
      <p:sp>
        <p:nvSpPr>
          <p:cNvPr id="21" name="Text 19">
            <a:extLst xmlns:a="http://schemas.openxmlformats.org/drawingml/2006/main">
              <a:ext uri="{FF2B5EF4-FFF2-40B4-BE49-F238E27FC236}">
                <a16:creationId xmlns:a16="http://schemas.microsoft.com/office/drawing/2014/main" id="{6F9708F7-0D82-4312-B8ED-EC19262E0A55}"/>
              </a:ext>
            </a:extLst>
          </p:cNvPr>
          <p:cNvSpPr>
            <a:spLocks xmlns:a="http://schemas.openxmlformats.org/drawingml/2006/main" noGrp="1"/>
          </p:cNvSpPr>
          <p:nvPr/>
        </p:nvSpPr>
        <p:spPr>
          <a:xfrm xmlns:a="http://schemas.openxmlformats.org/drawingml/2006/main">
            <a:off x="7854696" y="1655064"/>
            <a:ext cx="3310128"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Reverse RIST-RAFT notes indicate that, under selected fixed conditions, the model can be used to explore how HMT responds to changes in PCI, moisture, oxygen enrichment and RAFT.</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This becomes the bridge between descriptive physics and operator guidance.</a:t>
            </a:r>
          </a:p>
        </p:txBody>
      </p:sp>
    </p:spTree>
    <p:extLst>
      <p:ext uri="{BB962C8B-B14F-4D97-AF65-F5344CB8AC3E}">
        <p14:creationId xmlns:p14="http://schemas.microsoft.com/office/powerpoint/2010/main" val="15086696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5B8218A-40EE-4D72-B483-CFA4D3609F7E}"/>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4CA3FEC7-F354-453F-9C33-7D86CFA4C6A7}"/>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B00B14A3-E98C-451C-A5B5-81C8CF9639EB}"/>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2C4E4D43-F6C7-4211-AA7D-4FC2463F73BE}"/>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D3DDAB40-26E8-49BF-B0EA-DCEA12E13670}"/>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10</a:t>
            </a:r>
          </a:p>
        </p:txBody>
      </p:sp>
      <p:sp>
        <p:nvSpPr>
          <p:cNvPr id="7" name="Shape 5">
            <a:extLst xmlns:a="http://schemas.openxmlformats.org/drawingml/2006/main">
              <a:ext uri="{FF2B5EF4-FFF2-40B4-BE49-F238E27FC236}">
                <a16:creationId xmlns:a16="http://schemas.microsoft.com/office/drawing/2014/main" id="{379B57C7-48A8-4D50-80BD-EB3CAC9C12CD}"/>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7B28CD42-EF8E-42AF-BF00-C5CC31FF6802}"/>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Use Case 2: HMT Prediction</a:t>
            </a:r>
          </a:p>
        </p:txBody>
      </p:sp>
      <p:sp>
        <p:nvSpPr>
          <p:cNvPr id="9" name="Shape 7">
            <a:extLst xmlns:a="http://schemas.openxmlformats.org/drawingml/2006/main">
              <a:ext uri="{FF2B5EF4-FFF2-40B4-BE49-F238E27FC236}">
                <a16:creationId xmlns:a16="http://schemas.microsoft.com/office/drawing/2014/main" id="{C10A3E8F-0F82-457E-A88E-F5DF742570A2}"/>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39BC7977-5D14-4B34-A03C-2FAA4BEDC4E1}"/>
              </a:ext>
            </a:extLst>
          </p:cNvPr>
          <p:cNvSpPr>
            <a:spLocks xmlns:a="http://schemas.openxmlformats.org/drawingml/2006/main" noGrp="1"/>
          </p:cNvSpPr>
          <p:nvPr/>
        </p:nvSpPr>
        <p:spPr>
          <a:xfrm xmlns:a="http://schemas.openxmlformats.org/drawingml/2006/main">
            <a:off x="868680" y="1325880"/>
            <a:ext cx="3657600" cy="4572000"/>
          </a:xfrm>
          <a:prstGeom xmlns:a="http://schemas.openxmlformats.org/drawingml/2006/main" prst="roundRect">
            <a:avLst>
              <a:gd name="adj" fmla="val 125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18F55C61-49CE-4E01-928D-AD463F4CA4F9}"/>
              </a:ext>
            </a:extLst>
          </p:cNvPr>
          <p:cNvSpPr>
            <a:spLocks xmlns:a="http://schemas.openxmlformats.org/drawingml/2006/main" noGrp="1"/>
          </p:cNvSpPr>
          <p:nvPr/>
        </p:nvSpPr>
        <p:spPr>
          <a:xfrm xmlns:a="http://schemas.openxmlformats.org/drawingml/2006/main">
            <a:off x="996696" y="1417320"/>
            <a:ext cx="34015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Use Case Objective</a:t>
            </a:r>
          </a:p>
        </p:txBody>
      </p:sp>
      <p:sp>
        <p:nvSpPr>
          <p:cNvPr id="12" name="Text 10">
            <a:extLst xmlns:a="http://schemas.openxmlformats.org/drawingml/2006/main">
              <a:ext uri="{FF2B5EF4-FFF2-40B4-BE49-F238E27FC236}">
                <a16:creationId xmlns:a16="http://schemas.microsoft.com/office/drawing/2014/main" id="{A802241F-9C24-4581-9423-15EAB180D408}"/>
              </a:ext>
            </a:extLst>
          </p:cNvPr>
          <p:cNvSpPr>
            <a:spLocks xmlns:a="http://schemas.openxmlformats.org/drawingml/2006/main" noGrp="1"/>
          </p:cNvSpPr>
          <p:nvPr/>
        </p:nvSpPr>
        <p:spPr>
          <a:xfrm xmlns:a="http://schemas.openxmlformats.org/drawingml/2006/main">
            <a:off x="996696" y="1655064"/>
            <a:ext cx="3401568" cy="41696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Predict hot metal temperature sufficiently in advance to help operators intervene before the process drifts outside the desired range.</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Project notes indicate an intended prediction horizon of ~8 hours for decision support.</a:t>
            </a:r>
          </a:p>
        </p:txBody>
      </p:sp>
      <p:sp>
        <p:nvSpPr>
          <p:cNvPr id="13" name="Shape 11">
            <a:extLst xmlns:a="http://schemas.openxmlformats.org/drawingml/2006/main">
              <a:ext uri="{FF2B5EF4-FFF2-40B4-BE49-F238E27FC236}">
                <a16:creationId xmlns:a16="http://schemas.microsoft.com/office/drawing/2014/main" id="{D7011BA0-3AA7-4F60-B594-F257AE5DEE76}"/>
              </a:ext>
            </a:extLst>
          </p:cNvPr>
          <p:cNvSpPr>
            <a:spLocks xmlns:a="http://schemas.openxmlformats.org/drawingml/2006/main" noGrp="1"/>
          </p:cNvSpPr>
          <p:nvPr/>
        </p:nvSpPr>
        <p:spPr>
          <a:xfrm xmlns:a="http://schemas.openxmlformats.org/drawingml/2006/main">
            <a:off x="4709160" y="1325880"/>
            <a:ext cx="3108960" cy="4572000"/>
          </a:xfrm>
          <a:prstGeom xmlns:a="http://schemas.openxmlformats.org/drawingml/2006/main" prst="roundRect">
            <a:avLst>
              <a:gd name="adj" fmla="val 1471"/>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191AA24F-DFF5-4DE7-B3BB-CF9BF2710C2C}"/>
              </a:ext>
            </a:extLst>
          </p:cNvPr>
          <p:cNvSpPr>
            <a:spLocks xmlns:a="http://schemas.openxmlformats.org/drawingml/2006/main" noGrp="1"/>
          </p:cNvSpPr>
          <p:nvPr/>
        </p:nvSpPr>
        <p:spPr>
          <a:xfrm xmlns:a="http://schemas.openxmlformats.org/drawingml/2006/main">
            <a:off x="4837176" y="1417320"/>
            <a:ext cx="28529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Data and Preparation</a:t>
            </a:r>
          </a:p>
        </p:txBody>
      </p:sp>
      <p:sp>
        <p:nvSpPr>
          <p:cNvPr id="15" name="Text 13">
            <a:extLst xmlns:a="http://schemas.openxmlformats.org/drawingml/2006/main">
              <a:ext uri="{FF2B5EF4-FFF2-40B4-BE49-F238E27FC236}">
                <a16:creationId xmlns:a16="http://schemas.microsoft.com/office/drawing/2014/main" id="{D53F45AD-A9AE-41BE-AC0D-52C44270A7B7}"/>
              </a:ext>
            </a:extLst>
          </p:cNvPr>
          <p:cNvSpPr>
            <a:spLocks xmlns:a="http://schemas.openxmlformats.org/drawingml/2006/main" noGrp="1"/>
          </p:cNvSpPr>
          <p:nvPr/>
        </p:nvSpPr>
        <p:spPr>
          <a:xfrm xmlns:a="http://schemas.openxmlformats.org/drawingml/2006/main">
            <a:off x="4837176" y="1655064"/>
            <a:ext cx="2852928" cy="41696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Data window: 1-Jan-2023 to 31-Mar-2024</a:t>
            </a:r>
          </a:p>
          <a:p xmlns:a="http://schemas.openxmlformats.org/drawingml/2006/main">
            <a:pPr marL="0" indent="0">
              <a:buNone/>
            </a:pPr>
            <a:r>
              <a:rPr sz="1150">
                <a:solidFill>
                  <a:srgbClr val="1A1F2E"/>
                </a:solidFill>
                <a:latin typeface="Aptos"/>
                <a:ea typeface="Aptos"/>
                <a:cs typeface="Aptos"/>
              </a:rPr>
              <a:t>Frequency: every 10 minutes</a:t>
            </a:r>
          </a:p>
          <a:p xmlns:a="http://schemas.openxmlformats.org/drawingml/2006/main">
            <a:pPr marL="0" indent="0">
              <a:buNone/>
            </a:pPr>
            <a:r>
              <a:rPr sz="1150">
                <a:solidFill>
                  <a:srgbClr val="1A1F2E"/>
                </a:solidFill>
                <a:latin typeface="Aptos"/>
                <a:ea typeface="Aptos"/>
                <a:cs typeface="Aptos"/>
              </a:rPr>
              <a:t>Rows: 62K+</a:t>
            </a:r>
          </a:p>
          <a:p xmlns:a="http://schemas.openxmlformats.org/drawingml/2006/main">
            <a:pPr marL="0" indent="0">
              <a:buNone/>
            </a:pPr>
            <a:r>
              <a:rPr sz="1150">
                <a:solidFill>
                  <a:srgbClr val="1A1F2E"/>
                </a:solidFill>
                <a:latin typeface="Aptos"/>
                <a:ea typeface="Aptos"/>
                <a:cs typeface="Aptos"/>
              </a:rPr>
              <a:t>Remaining after prep: ~48K</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Cleaning includes shutdown filtering, removal of zero sensor values, moisture sanity checks, and outlier handling.</a:t>
            </a:r>
          </a:p>
        </p:txBody>
      </p:sp>
      <p:sp>
        <p:nvSpPr>
          <p:cNvPr id="16" name="Shape 14">
            <a:extLst xmlns:a="http://schemas.openxmlformats.org/drawingml/2006/main">
              <a:ext uri="{FF2B5EF4-FFF2-40B4-BE49-F238E27FC236}">
                <a16:creationId xmlns:a16="http://schemas.microsoft.com/office/drawing/2014/main" id="{310CB6C4-C8B7-46F9-9240-A662CEDC2F36}"/>
              </a:ext>
            </a:extLst>
          </p:cNvPr>
          <p:cNvSpPr>
            <a:spLocks xmlns:a="http://schemas.openxmlformats.org/drawingml/2006/main" noGrp="1"/>
          </p:cNvSpPr>
          <p:nvPr/>
        </p:nvSpPr>
        <p:spPr>
          <a:xfrm xmlns:a="http://schemas.openxmlformats.org/drawingml/2006/main">
            <a:off x="8046720" y="1325880"/>
            <a:ext cx="3200400" cy="4572000"/>
          </a:xfrm>
          <a:prstGeom xmlns:a="http://schemas.openxmlformats.org/drawingml/2006/main" prst="roundRect">
            <a:avLst>
              <a:gd name="adj" fmla="val 142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BC989B9B-1D2A-4686-AECA-3761BC86745A}"/>
              </a:ext>
            </a:extLst>
          </p:cNvPr>
          <p:cNvSpPr>
            <a:spLocks xmlns:a="http://schemas.openxmlformats.org/drawingml/2006/main" noGrp="1"/>
          </p:cNvSpPr>
          <p:nvPr/>
        </p:nvSpPr>
        <p:spPr>
          <a:xfrm xmlns:a="http://schemas.openxmlformats.org/drawingml/2006/main">
            <a:off x="8174736" y="1417320"/>
            <a:ext cx="29443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Modeling Notes</a:t>
            </a:r>
          </a:p>
        </p:txBody>
      </p:sp>
      <p:sp>
        <p:nvSpPr>
          <p:cNvPr id="18" name="Text 16">
            <a:extLst xmlns:a="http://schemas.openxmlformats.org/drawingml/2006/main">
              <a:ext uri="{FF2B5EF4-FFF2-40B4-BE49-F238E27FC236}">
                <a16:creationId xmlns:a16="http://schemas.microsoft.com/office/drawing/2014/main" id="{D9678344-139C-4A56-85F9-E0C24347F54B}"/>
              </a:ext>
            </a:extLst>
          </p:cNvPr>
          <p:cNvSpPr>
            <a:spLocks xmlns:a="http://schemas.openxmlformats.org/drawingml/2006/main" noGrp="1"/>
          </p:cNvSpPr>
          <p:nvPr/>
        </p:nvSpPr>
        <p:spPr>
          <a:xfrm xmlns:a="http://schemas.openxmlformats.org/drawingml/2006/main">
            <a:off x="8174736" y="1655064"/>
            <a:ext cx="2944368" cy="41696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Feature candidates include hot blast flow, hot blast temperature, PCI, moisture, oxygen flow, ETA CO, permeability, blast air pressure, top gas temperature and HMT history.</a:t>
            </a:r>
          </a:p>
          <a:p xmlns:a="http://schemas.openxmlformats.org/drawingml/2006/main">
            <a:pPr marL="0" indent="0">
              <a:buNone/>
            </a:pPr>
          </a:p>
          <a:p xmlns:a="http://schemas.openxmlformats.org/drawingml/2006/main">
            <a:pPr marL="0" indent="0">
              <a:buNone/>
            </a:pPr>
            <a:r>
              <a:rPr sz="1150">
                <a:solidFill>
                  <a:srgbClr val="1A1F2E"/>
                </a:solidFill>
                <a:latin typeface="Aptos"/>
                <a:ea typeface="Aptos"/>
                <a:cs typeface="Aptos"/>
              </a:rPr>
              <a:t>RFR is noted as the strongest performer in the current material.</a:t>
            </a:r>
          </a:p>
        </p:txBody>
      </p:sp>
    </p:spTree>
    <p:extLst>
      <p:ext uri="{BB962C8B-B14F-4D97-AF65-F5344CB8AC3E}">
        <p14:creationId xmlns:p14="http://schemas.microsoft.com/office/powerpoint/2010/main" val="16052111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6F6FE4D-6131-4E0E-B7BD-495FBBE46ED7}"/>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FC283B1D-0BC2-4E9F-9717-FAC46F97A371}"/>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A4E64223-A697-4778-966E-CF19EE882BC4}"/>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AAF71BFB-63EC-4212-B4FC-51D6A000138A}"/>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F76ACF62-500C-45A2-BB57-674B4A371F4D}"/>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11</a:t>
            </a:r>
          </a:p>
        </p:txBody>
      </p:sp>
      <p:sp>
        <p:nvSpPr>
          <p:cNvPr id="7" name="Shape 5">
            <a:extLst xmlns:a="http://schemas.openxmlformats.org/drawingml/2006/main">
              <a:ext uri="{FF2B5EF4-FFF2-40B4-BE49-F238E27FC236}">
                <a16:creationId xmlns:a16="http://schemas.microsoft.com/office/drawing/2014/main" id="{D58FF5CA-67CA-4150-9EAE-2104BE8BD612}"/>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47CB606-BDFB-4A7F-8843-B7CAC7D0088E}"/>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HMT Feature Logic and Temporal Averaging</a:t>
            </a:r>
          </a:p>
        </p:txBody>
      </p:sp>
      <p:sp>
        <p:nvSpPr>
          <p:cNvPr id="9" name="Shape 7">
            <a:extLst xmlns:a="http://schemas.openxmlformats.org/drawingml/2006/main">
              <a:ext uri="{FF2B5EF4-FFF2-40B4-BE49-F238E27FC236}">
                <a16:creationId xmlns:a16="http://schemas.microsoft.com/office/drawing/2014/main" id="{2DAF6B7A-FF60-4041-8E0B-72A957E90733}"/>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7A4B2011-BEC5-4421-AB6A-A57B41FB58EB}"/>
              </a:ext>
            </a:extLst>
          </p:cNvPr>
          <p:cNvSpPr>
            <a:spLocks xmlns:a="http://schemas.openxmlformats.org/drawingml/2006/main" noGrp="1"/>
          </p:cNvSpPr>
          <p:nvPr/>
        </p:nvSpPr>
        <p:spPr>
          <a:xfrm xmlns:a="http://schemas.openxmlformats.org/drawingml/2006/main">
            <a:off x="914400" y="1371600"/>
            <a:ext cx="10241280" cy="10515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The process is dynamically slow, so past data is weighted more heavily than current instant values.</a:t>
            </a:r>
          </a:p>
          <a:p xmlns:a="http://schemas.openxmlformats.org/drawingml/2006/main">
            <a:pPr marL="152400" indent="-152400">
              <a:buChar char="•"/>
            </a:pPr>
            <a:r>
              <a:rPr sz="1500">
                <a:solidFill>
                  <a:srgbClr val="1A1F2E"/>
                </a:solidFill>
                <a:latin typeface="Aptos"/>
                <a:ea typeface="Aptos"/>
                <a:cs typeface="Aptos"/>
              </a:rPr>
              <a:t>Project notes reference both normal averaging and Gaussian-style temporal weighting.</a:t>
            </a:r>
          </a:p>
          <a:p xmlns:a="http://schemas.openxmlformats.org/drawingml/2006/main">
            <a:pPr marL="152400" indent="-152400">
              <a:buChar char="•"/>
            </a:pPr>
            <a:r>
              <a:rPr sz="1500">
                <a:solidFill>
                  <a:srgbClr val="1A1F2E"/>
                </a:solidFill>
                <a:latin typeface="Aptos"/>
                <a:ea typeface="Aptos"/>
                <a:cs typeface="Aptos"/>
              </a:rPr>
              <a:t>The objective is to tune the historical window by variable to improve predictive fit.</a:t>
            </a:r>
          </a:p>
        </p:txBody>
      </p:sp>
      <p:sp>
        <p:nvSpPr>
          <p:cNvPr id="11" name="Shape 9">
            <a:extLst xmlns:a="http://schemas.openxmlformats.org/drawingml/2006/main">
              <a:ext uri="{FF2B5EF4-FFF2-40B4-BE49-F238E27FC236}">
                <a16:creationId xmlns:a16="http://schemas.microsoft.com/office/drawing/2014/main" id="{792FD5B1-C995-47E8-B8F7-86DDBCF1BBB2}"/>
              </a:ext>
            </a:extLst>
          </p:cNvPr>
          <p:cNvSpPr>
            <a:spLocks xmlns:a="http://schemas.openxmlformats.org/drawingml/2006/main" noGrp="1"/>
          </p:cNvSpPr>
          <p:nvPr/>
        </p:nvSpPr>
        <p:spPr>
          <a:xfrm xmlns:a="http://schemas.openxmlformats.org/drawingml/2006/main">
            <a:off x="914400" y="2194560"/>
            <a:ext cx="3017520" cy="3108960"/>
          </a:xfrm>
          <a:prstGeom xmlns:a="http://schemas.openxmlformats.org/drawingml/2006/main" prst="roundRect">
            <a:avLst>
              <a:gd name="adj" fmla="val 1515"/>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2A06F654-90DF-4AE5-B8EE-6E95311CFE53}"/>
              </a:ext>
            </a:extLst>
          </p:cNvPr>
          <p:cNvSpPr>
            <a:spLocks xmlns:a="http://schemas.openxmlformats.org/drawingml/2006/main" noGrp="1"/>
          </p:cNvSpPr>
          <p:nvPr/>
        </p:nvSpPr>
        <p:spPr>
          <a:xfrm xmlns:a="http://schemas.openxmlformats.org/drawingml/2006/main">
            <a:off x="1042416" y="2286000"/>
            <a:ext cx="2761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Illustrative feature windows</a:t>
            </a:r>
          </a:p>
        </p:txBody>
      </p:sp>
      <p:sp>
        <p:nvSpPr>
          <p:cNvPr id="13" name="Text 11">
            <a:extLst xmlns:a="http://schemas.openxmlformats.org/drawingml/2006/main">
              <a:ext uri="{FF2B5EF4-FFF2-40B4-BE49-F238E27FC236}">
                <a16:creationId xmlns:a16="http://schemas.microsoft.com/office/drawing/2014/main" id="{946184A6-76F7-4C50-9A29-9D7B4E89BB28}"/>
              </a:ext>
            </a:extLst>
          </p:cNvPr>
          <p:cNvSpPr>
            <a:spLocks xmlns:a="http://schemas.openxmlformats.org/drawingml/2006/main" noGrp="1"/>
          </p:cNvSpPr>
          <p:nvPr/>
        </p:nvSpPr>
        <p:spPr>
          <a:xfrm xmlns:a="http://schemas.openxmlformats.org/drawingml/2006/main">
            <a:off x="1042416" y="2523744"/>
            <a:ext cx="2761488" cy="2706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Hot Blast Volume: 2 hours</a:t>
            </a:r>
          </a:p>
          <a:p xmlns:a="http://schemas.openxmlformats.org/drawingml/2006/main">
            <a:pPr marL="228600" indent="-228600">
              <a:buAutoNum type="arabicPeriod"/>
            </a:pPr>
            <a:r>
              <a:rPr sz="1150">
                <a:solidFill>
                  <a:srgbClr val="1A1F2E"/>
                </a:solidFill>
                <a:latin typeface="Aptos"/>
                <a:ea typeface="Aptos"/>
                <a:cs typeface="Aptos"/>
              </a:rPr>
              <a:t>ETA CO: 2 hours</a:t>
            </a:r>
          </a:p>
          <a:p xmlns:a="http://schemas.openxmlformats.org/drawingml/2006/main">
            <a:pPr marL="228600" indent="-228600">
              <a:buAutoNum type="arabicPeriod"/>
            </a:pPr>
            <a:r>
              <a:rPr sz="1150">
                <a:solidFill>
                  <a:srgbClr val="1A1F2E"/>
                </a:solidFill>
                <a:latin typeface="Aptos"/>
                <a:ea typeface="Aptos"/>
                <a:cs typeface="Aptos"/>
              </a:rPr>
              <a:t>Top gas temperature: 1 hour</a:t>
            </a:r>
          </a:p>
          <a:p xmlns:a="http://schemas.openxmlformats.org/drawingml/2006/main">
            <a:pPr marL="228600" indent="-228600">
              <a:buAutoNum type="arabicPeriod"/>
            </a:pPr>
            <a:r>
              <a:rPr sz="1150">
                <a:solidFill>
                  <a:srgbClr val="1A1F2E"/>
                </a:solidFill>
                <a:latin typeface="Aptos"/>
                <a:ea typeface="Aptos"/>
                <a:cs typeface="Aptos"/>
              </a:rPr>
              <a:t>Permeability: 1 hour</a:t>
            </a:r>
          </a:p>
          <a:p xmlns:a="http://schemas.openxmlformats.org/drawingml/2006/main">
            <a:pPr marL="228600" indent="-228600">
              <a:buAutoNum type="arabicPeriod"/>
            </a:pPr>
            <a:r>
              <a:rPr sz="1150">
                <a:solidFill>
                  <a:srgbClr val="1A1F2E"/>
                </a:solidFill>
                <a:latin typeface="Aptos"/>
                <a:ea typeface="Aptos"/>
                <a:cs typeface="Aptos"/>
              </a:rPr>
              <a:t>Hot Blast Temperature: 2 hours</a:t>
            </a:r>
          </a:p>
          <a:p xmlns:a="http://schemas.openxmlformats.org/drawingml/2006/main">
            <a:pPr marL="228600" indent="-228600">
              <a:buAutoNum type="arabicPeriod"/>
            </a:pPr>
            <a:r>
              <a:rPr sz="1150">
                <a:solidFill>
                  <a:srgbClr val="1A1F2E"/>
                </a:solidFill>
                <a:latin typeface="Aptos"/>
                <a:ea typeface="Aptos"/>
                <a:cs typeface="Aptos"/>
              </a:rPr>
              <a:t>Blast Pressure: 2 hours</a:t>
            </a:r>
          </a:p>
          <a:p xmlns:a="http://schemas.openxmlformats.org/drawingml/2006/main">
            <a:pPr marL="228600" indent="-228600">
              <a:buAutoNum type="arabicPeriod"/>
            </a:pPr>
            <a:r>
              <a:rPr sz="1150">
                <a:solidFill>
                  <a:srgbClr val="1A1F2E"/>
                </a:solidFill>
                <a:latin typeface="Aptos"/>
                <a:ea typeface="Aptos"/>
                <a:cs typeface="Aptos"/>
              </a:rPr>
              <a:t>PCI Rate: 2 hours</a:t>
            </a:r>
          </a:p>
          <a:p xmlns:a="http://schemas.openxmlformats.org/drawingml/2006/main">
            <a:pPr marL="228600" indent="-228600">
              <a:buAutoNum type="arabicPeriod"/>
            </a:pPr>
            <a:r>
              <a:rPr sz="1150">
                <a:solidFill>
                  <a:srgbClr val="1A1F2E"/>
                </a:solidFill>
                <a:latin typeface="Aptos"/>
                <a:ea typeface="Aptos"/>
                <a:cs typeface="Aptos"/>
              </a:rPr>
              <a:t>Oxygen Flow: 2 hours</a:t>
            </a:r>
          </a:p>
          <a:p xmlns:a="http://schemas.openxmlformats.org/drawingml/2006/main">
            <a:pPr marL="228600" indent="-228600">
              <a:buAutoNum type="arabicPeriod"/>
            </a:pPr>
            <a:r>
              <a:rPr sz="1150">
                <a:solidFill>
                  <a:srgbClr val="1A1F2E"/>
                </a:solidFill>
                <a:latin typeface="Aptos"/>
                <a:ea typeface="Aptos"/>
                <a:cs typeface="Aptos"/>
              </a:rPr>
              <a:t>Moisture: 1 hour</a:t>
            </a:r>
          </a:p>
        </p:txBody>
      </p:sp>
      <p:sp>
        <p:nvSpPr>
          <p:cNvPr id="14" name="Shape 12">
            <a:extLst xmlns:a="http://schemas.openxmlformats.org/drawingml/2006/main">
              <a:ext uri="{FF2B5EF4-FFF2-40B4-BE49-F238E27FC236}">
                <a16:creationId xmlns:a16="http://schemas.microsoft.com/office/drawing/2014/main" id="{D7D0C7A4-EF2D-4CDD-800E-1B1182A3EECF}"/>
              </a:ext>
            </a:extLst>
          </p:cNvPr>
          <p:cNvSpPr>
            <a:spLocks xmlns:a="http://schemas.openxmlformats.org/drawingml/2006/main" noGrp="1"/>
          </p:cNvSpPr>
          <p:nvPr/>
        </p:nvSpPr>
        <p:spPr>
          <a:xfrm xmlns:a="http://schemas.openxmlformats.org/drawingml/2006/main">
            <a:off x="4160520" y="2194560"/>
            <a:ext cx="3383280" cy="3108960"/>
          </a:xfrm>
          <a:prstGeom xmlns:a="http://schemas.openxmlformats.org/drawingml/2006/main" prst="roundRect">
            <a:avLst>
              <a:gd name="adj" fmla="val 1471"/>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FCFB0DA0-EE6F-4ADF-92F6-BA2ADB51EE34}"/>
              </a:ext>
            </a:extLst>
          </p:cNvPr>
          <p:cNvSpPr>
            <a:spLocks xmlns:a="http://schemas.openxmlformats.org/drawingml/2006/main" noGrp="1"/>
          </p:cNvSpPr>
          <p:nvPr/>
        </p:nvSpPr>
        <p:spPr>
          <a:xfrm xmlns:a="http://schemas.openxmlformats.org/drawingml/2006/main">
            <a:off x="4288536" y="2286000"/>
            <a:ext cx="31272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EDA notes</a:t>
            </a:r>
          </a:p>
        </p:txBody>
      </p:sp>
      <p:sp>
        <p:nvSpPr>
          <p:cNvPr id="16" name="Text 14">
            <a:extLst xmlns:a="http://schemas.openxmlformats.org/drawingml/2006/main">
              <a:ext uri="{FF2B5EF4-FFF2-40B4-BE49-F238E27FC236}">
                <a16:creationId xmlns:a16="http://schemas.microsoft.com/office/drawing/2014/main" id="{08C76548-CFCE-44F2-AB38-C61F7C7C6032}"/>
              </a:ext>
            </a:extLst>
          </p:cNvPr>
          <p:cNvSpPr>
            <a:spLocks xmlns:a="http://schemas.openxmlformats.org/drawingml/2006/main" noGrp="1"/>
          </p:cNvSpPr>
          <p:nvPr/>
        </p:nvSpPr>
        <p:spPr>
          <a:xfrm xmlns:a="http://schemas.openxmlformats.org/drawingml/2006/main">
            <a:off x="4288536" y="2523744"/>
            <a:ext cx="3127248" cy="2706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Box plots used for variable-wise outlier checks</a:t>
            </a:r>
          </a:p>
          <a:p xmlns:a="http://schemas.openxmlformats.org/drawingml/2006/main">
            <a:pPr marL="228600" indent="-228600">
              <a:buAutoNum type="arabicPeriod"/>
            </a:pPr>
            <a:r>
              <a:rPr sz="1150">
                <a:solidFill>
                  <a:srgbClr val="1A1F2E"/>
                </a:solidFill>
                <a:latin typeface="Aptos"/>
                <a:ea typeface="Aptos"/>
                <a:cs typeface="Aptos"/>
              </a:rPr>
              <a:t>Target variable filtered using HMT min/max range</a:t>
            </a:r>
          </a:p>
          <a:p xmlns:a="http://schemas.openxmlformats.org/drawingml/2006/main">
            <a:pPr marL="228600" indent="-228600">
              <a:buAutoNum type="arabicPeriod"/>
            </a:pPr>
            <a:r>
              <a:rPr sz="1150">
                <a:solidFill>
                  <a:srgbClr val="1A1F2E"/>
                </a:solidFill>
                <a:latin typeface="Aptos"/>
                <a:ea typeface="Aptos"/>
                <a:cs typeface="Aptos"/>
              </a:rPr>
              <a:t>Std scaler applied in -1 to +1 range</a:t>
            </a:r>
          </a:p>
          <a:p xmlns:a="http://schemas.openxmlformats.org/drawingml/2006/main">
            <a:pPr marL="228600" indent="-228600">
              <a:buAutoNum type="arabicPeriod"/>
            </a:pPr>
            <a:r>
              <a:rPr sz="1150">
                <a:solidFill>
                  <a:srgbClr val="1A1F2E"/>
                </a:solidFill>
                <a:latin typeface="Aptos"/>
                <a:ea typeface="Aptos"/>
                <a:cs typeface="Aptos"/>
              </a:rPr>
              <a:t>Performance judged through RMSE and MAE</a:t>
            </a:r>
          </a:p>
          <a:p xmlns:a="http://schemas.openxmlformats.org/drawingml/2006/main">
            <a:pPr marL="228600" indent="-228600">
              <a:buAutoNum type="arabicPeriod"/>
            </a:pPr>
            <a:r>
              <a:rPr sz="1150">
                <a:solidFill>
                  <a:srgbClr val="1A1F2E"/>
                </a:solidFill>
                <a:latin typeface="Aptos"/>
                <a:ea typeface="Aptos"/>
                <a:cs typeface="Aptos"/>
              </a:rPr>
              <a:t>Feature importance threshold referenced at &gt; 0.05</a:t>
            </a:r>
          </a:p>
        </p:txBody>
      </p:sp>
      <p:sp>
        <p:nvSpPr>
          <p:cNvPr id="17" name="Shape 15">
            <a:extLst xmlns:a="http://schemas.openxmlformats.org/drawingml/2006/main">
              <a:ext uri="{FF2B5EF4-FFF2-40B4-BE49-F238E27FC236}">
                <a16:creationId xmlns:a16="http://schemas.microsoft.com/office/drawing/2014/main" id="{B3D85284-D180-4731-B6C2-6C2B64E15DFD}"/>
              </a:ext>
            </a:extLst>
          </p:cNvPr>
          <p:cNvSpPr>
            <a:spLocks xmlns:a="http://schemas.openxmlformats.org/drawingml/2006/main" noGrp="1"/>
          </p:cNvSpPr>
          <p:nvPr/>
        </p:nvSpPr>
        <p:spPr>
          <a:xfrm xmlns:a="http://schemas.openxmlformats.org/drawingml/2006/main">
            <a:off x="7754112" y="2194560"/>
            <a:ext cx="3474720" cy="3108960"/>
          </a:xfrm>
          <a:prstGeom xmlns:a="http://schemas.openxmlformats.org/drawingml/2006/main" prst="roundRect">
            <a:avLst>
              <a:gd name="adj" fmla="val 1471"/>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91CBFA5B-825B-404C-A7DB-783437FE0C68}"/>
              </a:ext>
            </a:extLst>
          </p:cNvPr>
          <p:cNvSpPr>
            <a:spLocks xmlns:a="http://schemas.openxmlformats.org/drawingml/2006/main" noGrp="1"/>
          </p:cNvSpPr>
          <p:nvPr/>
        </p:nvSpPr>
        <p:spPr>
          <a:xfrm xmlns:a="http://schemas.openxmlformats.org/drawingml/2006/main">
            <a:off x="7882128" y="2286000"/>
            <a:ext cx="32186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Operational interpretation</a:t>
            </a:r>
          </a:p>
        </p:txBody>
      </p:sp>
      <p:sp>
        <p:nvSpPr>
          <p:cNvPr id="19" name="Text 17">
            <a:extLst xmlns:a="http://schemas.openxmlformats.org/drawingml/2006/main">
              <a:ext uri="{FF2B5EF4-FFF2-40B4-BE49-F238E27FC236}">
                <a16:creationId xmlns:a16="http://schemas.microsoft.com/office/drawing/2014/main" id="{AD1BDED7-6E19-44E5-890E-798CF9486F72}"/>
              </a:ext>
            </a:extLst>
          </p:cNvPr>
          <p:cNvSpPr>
            <a:spLocks xmlns:a="http://schemas.openxmlformats.org/drawingml/2006/main" noGrp="1"/>
          </p:cNvSpPr>
          <p:nvPr/>
        </p:nvSpPr>
        <p:spPr>
          <a:xfrm xmlns:a="http://schemas.openxmlformats.org/drawingml/2006/main">
            <a:off x="7882128" y="2523744"/>
            <a:ext cx="3218688" cy="2706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A strong HMT signal can guide actions on PCI, moisture and coke-related settings.</a:t>
            </a:r>
          </a:p>
          <a:p xmlns:a="http://schemas.openxmlformats.org/drawingml/2006/main">
            <a:pPr marL="228600" indent="-228600">
              <a:buAutoNum type="arabicPeriod"/>
            </a:pPr>
          </a:p>
          <a:p xmlns:a="http://schemas.openxmlformats.org/drawingml/2006/main">
            <a:pPr marL="228600" indent="-228600">
              <a:buAutoNum type="arabicPeriod"/>
            </a:pPr>
            <a:r>
              <a:rPr sz="1150">
                <a:solidFill>
                  <a:srgbClr val="1A1F2E"/>
                </a:solidFill>
                <a:latin typeface="Aptos"/>
                <a:ea typeface="Aptos"/>
                <a:cs typeface="Aptos"/>
              </a:rPr>
              <a:t>The notes also connect HMT control to lower RAR and better blast furnace efficiency.</a:t>
            </a:r>
          </a:p>
        </p:txBody>
      </p:sp>
    </p:spTree>
    <p:extLst>
      <p:ext uri="{BB962C8B-B14F-4D97-AF65-F5344CB8AC3E}">
        <p14:creationId xmlns:p14="http://schemas.microsoft.com/office/powerpoint/2010/main" val="18494476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25E608-76E2-4A24-AD4E-DF1356B62435}"/>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B4FB51EB-C04A-4EAE-9667-A848B52CDD15}"/>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0B9448A1-F5F0-4080-89F6-3E8F587F27CB}"/>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B042069F-E94A-4CFD-8ED9-4A9CDE1BC6B0}"/>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39AC473D-8C89-47DC-9495-479B41D0F389}"/>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12</a:t>
            </a:r>
          </a:p>
        </p:txBody>
      </p:sp>
      <p:sp>
        <p:nvSpPr>
          <p:cNvPr id="7" name="Shape 5">
            <a:extLst xmlns:a="http://schemas.openxmlformats.org/drawingml/2006/main">
              <a:ext uri="{FF2B5EF4-FFF2-40B4-BE49-F238E27FC236}">
                <a16:creationId xmlns:a16="http://schemas.microsoft.com/office/drawing/2014/main" id="{A5AE65F4-A345-433A-A337-E9F5687B4462}"/>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2B53EBED-CCE8-49AD-81BB-EE155C60AF4B}"/>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Use Case 3: EtaCO Forecasting</a:t>
            </a:r>
          </a:p>
        </p:txBody>
      </p:sp>
      <p:sp>
        <p:nvSpPr>
          <p:cNvPr id="9" name="Shape 7">
            <a:extLst xmlns:a="http://schemas.openxmlformats.org/drawingml/2006/main">
              <a:ext uri="{FF2B5EF4-FFF2-40B4-BE49-F238E27FC236}">
                <a16:creationId xmlns:a16="http://schemas.microsoft.com/office/drawing/2014/main" id="{160DF905-4847-4C83-AB1F-3E1638010619}"/>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9D2B4454-CEA8-4E08-AD57-73BE8798BD2A}"/>
              </a:ext>
            </a:extLst>
          </p:cNvPr>
          <p:cNvSpPr>
            <a:spLocks xmlns:a="http://schemas.openxmlformats.org/drawingml/2006/main" noGrp="1"/>
          </p:cNvSpPr>
          <p:nvPr/>
        </p:nvSpPr>
        <p:spPr>
          <a:xfrm xmlns:a="http://schemas.openxmlformats.org/drawingml/2006/main">
            <a:off x="1051560" y="1645920"/>
            <a:ext cx="3840480" cy="3291840"/>
          </a:xfrm>
          <a:prstGeom xmlns:a="http://schemas.openxmlformats.org/drawingml/2006/main" prst="roundRect">
            <a:avLst>
              <a:gd name="adj" fmla="val 138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CE7E61CC-D2E6-4DC9-8D3F-925870D5F7F9}"/>
              </a:ext>
            </a:extLst>
          </p:cNvPr>
          <p:cNvSpPr>
            <a:spLocks xmlns:a="http://schemas.openxmlformats.org/drawingml/2006/main" noGrp="1"/>
          </p:cNvSpPr>
          <p:nvPr/>
        </p:nvSpPr>
        <p:spPr>
          <a:xfrm xmlns:a="http://schemas.openxmlformats.org/drawingml/2006/main">
            <a:off x="1179576" y="1737360"/>
            <a:ext cx="35844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What EtaCO measures</a:t>
            </a:r>
          </a:p>
        </p:txBody>
      </p:sp>
      <p:sp>
        <p:nvSpPr>
          <p:cNvPr id="12" name="Text 10">
            <a:extLst xmlns:a="http://schemas.openxmlformats.org/drawingml/2006/main">
              <a:ext uri="{FF2B5EF4-FFF2-40B4-BE49-F238E27FC236}">
                <a16:creationId xmlns:a16="http://schemas.microsoft.com/office/drawing/2014/main" id="{C69B4AC4-3CFC-4F8B-AFBD-C4C382F0B348}"/>
              </a:ext>
            </a:extLst>
          </p:cNvPr>
          <p:cNvSpPr>
            <a:spLocks xmlns:a="http://schemas.openxmlformats.org/drawingml/2006/main" noGrp="1"/>
          </p:cNvSpPr>
          <p:nvPr/>
        </p:nvSpPr>
        <p:spPr>
          <a:xfrm xmlns:a="http://schemas.openxmlformats.org/drawingml/2006/main">
            <a:off x="1179576" y="1975104"/>
            <a:ext cx="3584448" cy="2889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t>ηCO = CO₂ / (CO + CO₂) × 100</a:t>
            </a:r>
          </a:p>
          <a:p xmlns:a="http://schemas.openxmlformats.org/drawingml/2006/main">
            <a:pPr marL="0" indent="0">
              <a:buNone/>
            </a:pPr>
            <a:r>
              <a:rPr sz="1150"/>
              <a:t/>
            </a:r>
          </a:p>
          <a:p xmlns:a="http://schemas.openxmlformats.org/drawingml/2006/main">
            <a:pPr marL="0" indent="0">
              <a:buNone/>
            </a:pPr>
            <a:r>
              <a:rPr sz="1150"/>
              <a:t>It shows how much of the reducing CO gas completed useful reduction work.</a:t>
            </a:r>
          </a:p>
          <a:p xmlns:a="http://schemas.openxmlformats.org/drawingml/2006/main">
            <a:pPr marL="0" indent="0">
              <a:buNone/>
            </a:pPr>
            <a:r>
              <a:rPr sz="1150"/>
              <a:t/>
            </a:r>
          </a:p>
          <a:p xmlns:a="http://schemas.openxmlformats.org/drawingml/2006/main">
            <a:pPr marL="0" indent="0">
              <a:buNone/>
            </a:pPr>
            <a:r>
              <a:rPr sz="1150"/>
              <a:t>Higher EtaCO: more CO converted to CO₂.</a:t>
            </a:r>
          </a:p>
          <a:p xmlns:a="http://schemas.openxmlformats.org/drawingml/2006/main">
            <a:pPr marL="0" indent="0">
              <a:buNone/>
            </a:pPr>
            <a:r>
              <a:rPr sz="1150"/>
              <a:t>Lower EtaCO: more unused CO leaves the furnace.</a:t>
            </a:r>
          </a:p>
        </p:txBody>
      </p:sp>
      <p:sp>
        <p:nvSpPr>
          <p:cNvPr id="13" name="Shape 11">
            <a:extLst xmlns:a="http://schemas.openxmlformats.org/drawingml/2006/main">
              <a:ext uri="{FF2B5EF4-FFF2-40B4-BE49-F238E27FC236}">
                <a16:creationId xmlns:a16="http://schemas.microsoft.com/office/drawing/2014/main" id="{24EB286D-F9DE-4522-BF51-813FC11F2456}"/>
              </a:ext>
            </a:extLst>
          </p:cNvPr>
          <p:cNvSpPr>
            <a:spLocks xmlns:a="http://schemas.openxmlformats.org/drawingml/2006/main" noGrp="1"/>
          </p:cNvSpPr>
          <p:nvPr/>
        </p:nvSpPr>
        <p:spPr>
          <a:xfrm xmlns:a="http://schemas.openxmlformats.org/drawingml/2006/main">
            <a:off x="5212080" y="1645920"/>
            <a:ext cx="4983480" cy="3291840"/>
          </a:xfrm>
          <a:prstGeom xmlns:a="http://schemas.openxmlformats.org/drawingml/2006/main" prst="roundRect">
            <a:avLst>
              <a:gd name="adj" fmla="val 138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B5B2BD30-05E0-4637-80C7-9E62492F5376}"/>
              </a:ext>
            </a:extLst>
          </p:cNvPr>
          <p:cNvSpPr>
            <a:spLocks xmlns:a="http://schemas.openxmlformats.org/drawingml/2006/main" noGrp="1"/>
          </p:cNvSpPr>
          <p:nvPr/>
        </p:nvSpPr>
        <p:spPr>
          <a:xfrm xmlns:a="http://schemas.openxmlformats.org/drawingml/2006/main">
            <a:off x="5340096" y="1737360"/>
            <a:ext cx="47274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Why forecast it</a:t>
            </a:r>
          </a:p>
        </p:txBody>
      </p:sp>
      <p:sp>
        <p:nvSpPr>
          <p:cNvPr id="15" name="Text 13">
            <a:extLst xmlns:a="http://schemas.openxmlformats.org/drawingml/2006/main">
              <a:ext uri="{FF2B5EF4-FFF2-40B4-BE49-F238E27FC236}">
                <a16:creationId xmlns:a16="http://schemas.microsoft.com/office/drawing/2014/main" id="{AE2670F9-4C30-4D84-B66C-7310D2F89E19}"/>
              </a:ext>
            </a:extLst>
          </p:cNvPr>
          <p:cNvSpPr>
            <a:spLocks xmlns:a="http://schemas.openxmlformats.org/drawingml/2006/main" noGrp="1"/>
          </p:cNvSpPr>
          <p:nvPr/>
        </p:nvSpPr>
        <p:spPr>
          <a:xfrm xmlns:a="http://schemas.openxmlformats.org/drawingml/2006/main">
            <a:off x="5340096" y="1975104"/>
            <a:ext cx="4727448" cy="2889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An early EtaCO forecast shows whether gas utilization is expected to improve or decline.</a:t>
            </a:r>
          </a:p>
          <a:p xmlns:a="http://schemas.openxmlformats.org/drawingml/2006/main">
            <a:pPr marL="0" indent="0">
              <a:buNone/>
            </a:pPr>
            <a:r>
              <a:t/>
            </a:r>
          </a:p>
          <a:p xmlns:a="http://schemas.openxmlformats.org/drawingml/2006/main">
            <a:pPr marL="0" indent="0">
              <a:buNone/>
            </a:pPr>
            <a:r>
              <a:rPr sz="1150">
                <a:solidFill>
                  <a:srgbClr val="1A1F2E"/>
                </a:solidFill>
                <a:latin typeface="Aptos"/>
                <a:ea typeface="Aptos"/>
                <a:cs typeface="Aptos"/>
              </a:rPr>
              <a:t>It supports:</a:t>
            </a:r>
          </a:p>
          <a:p xmlns:a="http://schemas.openxmlformats.org/drawingml/2006/main">
            <a:pPr marL="0" indent="0">
              <a:buNone/>
            </a:pPr>
            <a:r>
              <a:rPr sz="1150">
                <a:solidFill>
                  <a:srgbClr val="1A1F2E"/>
                </a:solidFill>
                <a:latin typeface="Aptos"/>
                <a:ea typeface="Aptos"/>
                <a:cs typeface="Aptos"/>
              </a:rPr>
              <a:t>• earlier investigation of gas-flow and permeability issues</a:t>
            </a:r>
          </a:p>
          <a:p xmlns:a="http://schemas.openxmlformats.org/drawingml/2006/main">
            <a:pPr marL="0" indent="0">
              <a:buNone/>
            </a:pPr>
            <a:r>
              <a:rPr sz="1150">
                <a:solidFill>
                  <a:srgbClr val="1A1F2E"/>
                </a:solidFill>
                <a:latin typeface="Aptos"/>
                <a:ea typeface="Aptos"/>
                <a:cs typeface="Aptos"/>
              </a:rPr>
              <a:t>• more stable reduction and fuel use</a:t>
            </a:r>
          </a:p>
          <a:p xmlns:a="http://schemas.openxmlformats.org/drawingml/2006/main">
            <a:pPr marL="0" indent="0">
              <a:buNone/>
            </a:pPr>
            <a:r>
              <a:rPr sz="1150">
                <a:solidFill>
                  <a:srgbClr val="1A1F2E"/>
                </a:solidFill>
                <a:latin typeface="Aptos"/>
                <a:ea typeface="Aptos"/>
                <a:cs typeface="Aptos"/>
              </a:rPr>
              <a:t>• clearer links between burden, blast and top-gas behaviour</a:t>
            </a:r>
          </a:p>
        </p:txBody>
      </p:sp>
    </p:spTree>
    <p:extLst>
      <p:ext uri="{BB962C8B-B14F-4D97-AF65-F5344CB8AC3E}">
        <p14:creationId xmlns:p14="http://schemas.microsoft.com/office/powerpoint/2010/main" val="17042367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5B8218A-40EE-4D72-B483-CFA4D3609F7E}"/>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4CA3FEC7-F354-453F-9C33-7D86CFA4C6A7}"/>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B00B14A3-E98C-451C-A5B5-81C8CF9639EB}"/>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2C4E4D43-F6C7-4211-AA7D-4FC2463F73BE}"/>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D3DDAB40-26E8-49BF-B0EA-DCEA12E13670}"/>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13</a:t>
            </a:r>
          </a:p>
        </p:txBody>
      </p:sp>
      <p:sp>
        <p:nvSpPr>
          <p:cNvPr id="7" name="Shape 5">
            <a:extLst xmlns:a="http://schemas.openxmlformats.org/drawingml/2006/main">
              <a:ext uri="{FF2B5EF4-FFF2-40B4-BE49-F238E27FC236}">
                <a16:creationId xmlns:a16="http://schemas.microsoft.com/office/drawing/2014/main" id="{379B57C7-48A8-4D50-80BD-EB3CAC9C12CD}"/>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7B28CD42-EF8E-42AF-BF00-C5CC31FF6802}"/>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EtaCO Data Readiness</a:t>
            </a:r>
          </a:p>
        </p:txBody>
      </p:sp>
      <p:sp>
        <p:nvSpPr>
          <p:cNvPr id="9" name="Shape 7">
            <a:extLst xmlns:a="http://schemas.openxmlformats.org/drawingml/2006/main">
              <a:ext uri="{FF2B5EF4-FFF2-40B4-BE49-F238E27FC236}">
                <a16:creationId xmlns:a16="http://schemas.microsoft.com/office/drawing/2014/main" id="{C10A3E8F-0F82-457E-A88E-F5DF742570A2}"/>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39BC7977-5D14-4B34-A03C-2FAA4BEDC4E1}"/>
              </a:ext>
            </a:extLst>
          </p:cNvPr>
          <p:cNvSpPr>
            <a:spLocks xmlns:a="http://schemas.openxmlformats.org/drawingml/2006/main" noGrp="1"/>
          </p:cNvSpPr>
          <p:nvPr/>
        </p:nvSpPr>
        <p:spPr>
          <a:xfrm xmlns:a="http://schemas.openxmlformats.org/drawingml/2006/main">
            <a:off x="868680" y="1325880"/>
            <a:ext cx="3657600" cy="4572000"/>
          </a:xfrm>
          <a:prstGeom xmlns:a="http://schemas.openxmlformats.org/drawingml/2006/main" prst="roundRect">
            <a:avLst>
              <a:gd name="adj" fmla="val 125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18F55C61-49CE-4E01-928D-AD463F4CA4F9}"/>
              </a:ext>
            </a:extLst>
          </p:cNvPr>
          <p:cNvSpPr>
            <a:spLocks xmlns:a="http://schemas.openxmlformats.org/drawingml/2006/main" noGrp="1"/>
          </p:cNvSpPr>
          <p:nvPr/>
        </p:nvSpPr>
        <p:spPr>
          <a:xfrm xmlns:a="http://schemas.openxmlformats.org/drawingml/2006/main">
            <a:off x="996696" y="1417320"/>
            <a:ext cx="34015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Ready in Data_1</a:t>
            </a:r>
          </a:p>
        </p:txBody>
      </p:sp>
      <p:sp>
        <p:nvSpPr>
          <p:cNvPr id="12" name="Text 10">
            <a:extLst xmlns:a="http://schemas.openxmlformats.org/drawingml/2006/main">
              <a:ext uri="{FF2B5EF4-FFF2-40B4-BE49-F238E27FC236}">
                <a16:creationId xmlns:a16="http://schemas.microsoft.com/office/drawing/2014/main" id="{A802241F-9C24-4581-9423-15EAB180D408}"/>
              </a:ext>
            </a:extLst>
          </p:cNvPr>
          <p:cNvSpPr>
            <a:spLocks xmlns:a="http://schemas.openxmlformats.org/drawingml/2006/main" noGrp="1"/>
          </p:cNvSpPr>
          <p:nvPr/>
        </p:nvSpPr>
        <p:spPr>
          <a:xfrm xmlns:a="http://schemas.openxmlformats.org/drawingml/2006/main">
            <a:off x="996696" y="1655064"/>
            <a:ext cx="3401568" cy="41696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EtaCO target and timestamps; top-gas CO / CO₂; blast flow, pressure and temperature; oxygen, moisture, steam, RAFT, top-gas temperature, stockline, heat loss, CSR, tuyere velocity and pressure indicators.</a:t>
            </a:r>
          </a:p>
        </p:txBody>
      </p:sp>
      <p:sp>
        <p:nvSpPr>
          <p:cNvPr id="13" name="Shape 11">
            <a:extLst xmlns:a="http://schemas.openxmlformats.org/drawingml/2006/main">
              <a:ext uri="{FF2B5EF4-FFF2-40B4-BE49-F238E27FC236}">
                <a16:creationId xmlns:a16="http://schemas.microsoft.com/office/drawing/2014/main" id="{D7011BA0-3AA7-4F60-B594-F257AE5DEE76}"/>
              </a:ext>
            </a:extLst>
          </p:cNvPr>
          <p:cNvSpPr>
            <a:spLocks xmlns:a="http://schemas.openxmlformats.org/drawingml/2006/main" noGrp="1"/>
          </p:cNvSpPr>
          <p:nvPr/>
        </p:nvSpPr>
        <p:spPr>
          <a:xfrm xmlns:a="http://schemas.openxmlformats.org/drawingml/2006/main">
            <a:off x="4709160" y="1325880"/>
            <a:ext cx="3108960" cy="4572000"/>
          </a:xfrm>
          <a:prstGeom xmlns:a="http://schemas.openxmlformats.org/drawingml/2006/main" prst="roundRect">
            <a:avLst>
              <a:gd name="adj" fmla="val 1471"/>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191AA24F-DFF5-4DE7-B3BB-CF9BF2710C2C}"/>
              </a:ext>
            </a:extLst>
          </p:cNvPr>
          <p:cNvSpPr>
            <a:spLocks xmlns:a="http://schemas.openxmlformats.org/drawingml/2006/main" noGrp="1"/>
          </p:cNvSpPr>
          <p:nvPr/>
        </p:nvSpPr>
        <p:spPr>
          <a:xfrm xmlns:a="http://schemas.openxmlformats.org/drawingml/2006/main">
            <a:off x="4837176" y="1417320"/>
            <a:ext cx="28529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Available but not linked</a:t>
            </a:r>
          </a:p>
        </p:txBody>
      </p:sp>
      <p:sp>
        <p:nvSpPr>
          <p:cNvPr id="15" name="Text 13">
            <a:extLst xmlns:a="http://schemas.openxmlformats.org/drawingml/2006/main">
              <a:ext uri="{FF2B5EF4-FFF2-40B4-BE49-F238E27FC236}">
                <a16:creationId xmlns:a16="http://schemas.microsoft.com/office/drawing/2014/main" id="{D53F45AD-A9AE-41BE-AC0D-52C44270A7B7}"/>
              </a:ext>
            </a:extLst>
          </p:cNvPr>
          <p:cNvSpPr>
            <a:spLocks xmlns:a="http://schemas.openxmlformats.org/drawingml/2006/main" noGrp="1"/>
          </p:cNvSpPr>
          <p:nvPr/>
        </p:nvSpPr>
        <p:spPr>
          <a:xfrm xmlns:a="http://schemas.openxmlformats.org/drawingml/2006/main">
            <a:off x="4837176" y="1655064"/>
            <a:ext cx="2852928" cy="41696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Recipe, Cast, HM and Slag sheets are available, but a reliable primary key or timestamp relationship to Data_1 is not yet confirmed. They are excluded from the initial baseline.</a:t>
            </a:r>
          </a:p>
        </p:txBody>
      </p:sp>
      <p:sp>
        <p:nvSpPr>
          <p:cNvPr id="16" name="Shape 14">
            <a:extLst xmlns:a="http://schemas.openxmlformats.org/drawingml/2006/main">
              <a:ext uri="{FF2B5EF4-FFF2-40B4-BE49-F238E27FC236}">
                <a16:creationId xmlns:a16="http://schemas.microsoft.com/office/drawing/2014/main" id="{310CB6C4-C8B7-46F9-9240-A662CEDC2F36}"/>
              </a:ext>
            </a:extLst>
          </p:cNvPr>
          <p:cNvSpPr>
            <a:spLocks xmlns:a="http://schemas.openxmlformats.org/drawingml/2006/main" noGrp="1"/>
          </p:cNvSpPr>
          <p:nvPr/>
        </p:nvSpPr>
        <p:spPr>
          <a:xfrm xmlns:a="http://schemas.openxmlformats.org/drawingml/2006/main">
            <a:off x="8046720" y="1325880"/>
            <a:ext cx="3200400" cy="4572000"/>
          </a:xfrm>
          <a:prstGeom xmlns:a="http://schemas.openxmlformats.org/drawingml/2006/main" prst="roundRect">
            <a:avLst>
              <a:gd name="adj" fmla="val 142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BC989B9B-1D2A-4686-AECA-3761BC86745A}"/>
              </a:ext>
            </a:extLst>
          </p:cNvPr>
          <p:cNvSpPr>
            <a:spLocks xmlns:a="http://schemas.openxmlformats.org/drawingml/2006/main" noGrp="1"/>
          </p:cNvSpPr>
          <p:nvPr/>
        </p:nvSpPr>
        <p:spPr>
          <a:xfrm xmlns:a="http://schemas.openxmlformats.org/drawingml/2006/main">
            <a:off x="8174736" y="1417320"/>
            <a:ext cx="29443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Useful upstream outputs</a:t>
            </a:r>
          </a:p>
        </p:txBody>
      </p:sp>
      <p:sp>
        <p:nvSpPr>
          <p:cNvPr id="18" name="Text 16">
            <a:extLst xmlns:a="http://schemas.openxmlformats.org/drawingml/2006/main">
              <a:ext uri="{FF2B5EF4-FFF2-40B4-BE49-F238E27FC236}">
                <a16:creationId xmlns:a16="http://schemas.microsoft.com/office/drawing/2014/main" id="{D9678344-139C-4A56-85F9-E0C24347F54B}"/>
              </a:ext>
            </a:extLst>
          </p:cNvPr>
          <p:cNvSpPr>
            <a:spLocks xmlns:a="http://schemas.openxmlformats.org/drawingml/2006/main" noGrp="1"/>
          </p:cNvSpPr>
          <p:nvPr/>
        </p:nvSpPr>
        <p:spPr>
          <a:xfrm xmlns:a="http://schemas.openxmlformats.org/drawingml/2006/main">
            <a:off x="8174736" y="1655064"/>
            <a:ext cx="2944368" cy="41696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Burden: central coke ratio, ore/coke ratio, uniformity.</a:t>
            </a:r>
          </a:p>
          <a:p xmlns:a="http://schemas.openxmlformats.org/drawingml/2006/main">
            <a:pPr marL="0" indent="0">
              <a:buNone/>
            </a:pPr>
            <a:r>
              <a:t>Permeability: index, resistance, pressure drop.</a:t>
            </a:r>
          </a:p>
          <a:p xmlns:a="http://schemas.openxmlformats.org/drawingml/2006/main">
            <a:pPr marL="0" indent="0">
              <a:buNone/>
            </a:pPr>
            <a:r>
              <a:rPr sz="1150">
                <a:solidFill>
                  <a:srgbClr val="1A1F2E"/>
                </a:solidFill>
                <a:latin typeface="Aptos"/>
                <a:ea typeface="Aptos"/>
                <a:cs typeface="Aptos"/>
              </a:rPr>
              <a:t>Gas flow: uniformity and stability.</a:t>
            </a:r>
          </a:p>
          <a:p xmlns:a="http://schemas.openxmlformats.org/drawingml/2006/main">
            <a:pPr marL="0" indent="0">
              <a:buNone/>
            </a:pPr>
            <a:r>
              <a:rPr sz="1150">
                <a:solidFill>
                  <a:srgbClr val="1A1F2E"/>
                </a:solidFill>
                <a:latin typeface="Aptos"/>
                <a:ea typeface="Aptos"/>
                <a:cs typeface="Aptos"/>
              </a:rPr>
              <a:t/>
            </a:r>
          </a:p>
          <a:p xmlns:a="http://schemas.openxmlformats.org/drawingml/2006/main">
            <a:pPr marL="0" indent="0">
              <a:buNone/>
            </a:pPr>
            <a:r>
              <a:rPr sz="1150">
                <a:solidFill>
                  <a:srgbClr val="1A1F2E"/>
                </a:solidFill>
                <a:latin typeface="Aptos"/>
                <a:ea typeface="Aptos"/>
                <a:cs typeface="Aptos"/>
              </a:rPr>
              <a:t>These inputs remain optional / TBD until outputs are available.</a:t>
            </a:r>
          </a:p>
        </p:txBody>
      </p:sp>
    </p:spTree>
    <p:extLst>
      <p:ext uri="{BB962C8B-B14F-4D97-AF65-F5344CB8AC3E}">
        <p14:creationId xmlns:p14="http://schemas.microsoft.com/office/powerpoint/2010/main" val="16052111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5F494C3-2F12-4697-87D9-714CB78178B5}"/>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72745BB1-E91A-4DBA-BAB7-50E9ABFF8ED5}"/>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4C54AB3C-900F-4097-B4DB-2A179A65D81C}"/>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2EFBBBA7-366F-4555-B5A4-6C4D040DEEF3}"/>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3283B65B-2C10-40B9-8A03-2804220FE79A}"/>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14</a:t>
            </a:r>
          </a:p>
        </p:txBody>
      </p:sp>
      <p:sp>
        <p:nvSpPr>
          <p:cNvPr id="7" name="Shape 5">
            <a:extLst xmlns:a="http://schemas.openxmlformats.org/drawingml/2006/main">
              <a:ext uri="{FF2B5EF4-FFF2-40B4-BE49-F238E27FC236}">
                <a16:creationId xmlns:a16="http://schemas.microsoft.com/office/drawing/2014/main" id="{C791AD59-5AB6-4A59-A38A-328E7AA4DC56}"/>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0986CB84-C3CA-49A4-B423-3E968D3EB542}"/>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EtaCO Model Plan: Build Value in Two Phases</a:t>
            </a:r>
          </a:p>
        </p:txBody>
      </p:sp>
      <p:sp>
        <p:nvSpPr>
          <p:cNvPr id="9" name="Shape 7">
            <a:extLst xmlns:a="http://schemas.openxmlformats.org/drawingml/2006/main">
              <a:ext uri="{FF2B5EF4-FFF2-40B4-BE49-F238E27FC236}">
                <a16:creationId xmlns:a16="http://schemas.microsoft.com/office/drawing/2014/main" id="{A9A70128-2955-4774-94EB-7C89FD6459CE}"/>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8DF57891-8288-4FDF-A649-6C9C8DDA4900}"/>
              </a:ext>
            </a:extLst>
          </p:cNvPr>
          <p:cNvSpPr>
            <a:spLocks xmlns:a="http://schemas.openxmlformats.org/drawingml/2006/main" noGrp="1"/>
          </p:cNvSpPr>
          <p:nvPr/>
        </p:nvSpPr>
        <p:spPr>
          <a:xfrm xmlns:a="http://schemas.openxmlformats.org/drawingml/2006/main">
            <a:off x="868680" y="1325880"/>
            <a:ext cx="4572000" cy="4526280"/>
          </a:xfrm>
          <a:prstGeom xmlns:a="http://schemas.openxmlformats.org/drawingml/2006/main" prst="roundRect">
            <a:avLst>
              <a:gd name="adj" fmla="val 101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DBDCEAF5-86FA-41AB-8D79-314A9300DAC6}"/>
              </a:ext>
            </a:extLst>
          </p:cNvPr>
          <p:cNvSpPr>
            <a:spLocks xmlns:a="http://schemas.openxmlformats.org/drawingml/2006/main" noGrp="1"/>
          </p:cNvSpPr>
          <p:nvPr/>
        </p:nvSpPr>
        <p:spPr>
          <a:xfrm xmlns:a="http://schemas.openxmlformats.org/drawingml/2006/main">
            <a:off x="996696" y="1417320"/>
            <a:ext cx="43159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Phase 1 | Baseline (1–2 weeks)</a:t>
            </a:r>
          </a:p>
        </p:txBody>
      </p:sp>
      <p:sp>
        <p:nvSpPr>
          <p:cNvPr id="12" name="Text 10">
            <a:extLst xmlns:a="http://schemas.openxmlformats.org/drawingml/2006/main">
              <a:ext uri="{FF2B5EF4-FFF2-40B4-BE49-F238E27FC236}">
                <a16:creationId xmlns:a16="http://schemas.microsoft.com/office/drawing/2014/main" id="{5689CAF6-4BD2-44D2-B877-176875D098A0}"/>
              </a:ext>
            </a:extLst>
          </p:cNvPr>
          <p:cNvSpPr>
            <a:spLocks xmlns:a="http://schemas.openxmlformats.org/drawingml/2006/main" noGrp="1"/>
          </p:cNvSpPr>
          <p:nvPr/>
        </p:nvSpPr>
        <p:spPr>
          <a:xfrm xmlns:a="http://schemas.openxmlformats.org/drawingml/2006/main">
            <a:off x="996696" y="1655064"/>
            <a:ext cx="4315968" cy="4123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Use Data_1 only. Verify the EtaCO target and timestamps, clean the data, perform EDA, assess feature relevance, train an XGBoost regressor, test on future time blocks and explain results with SHAP.</a:t>
            </a:r>
          </a:p>
        </p:txBody>
      </p:sp>
      <p:sp>
        <p:nvSpPr>
          <p:cNvPr id="13" name="Shape 11">
            <a:extLst xmlns:a="http://schemas.openxmlformats.org/drawingml/2006/main">
              <a:ext uri="{FF2B5EF4-FFF2-40B4-BE49-F238E27FC236}">
                <a16:creationId xmlns:a16="http://schemas.microsoft.com/office/drawing/2014/main" id="{16ADFD02-3511-4DFD-A4A8-83ACFD77FA6E}"/>
              </a:ext>
            </a:extLst>
          </p:cNvPr>
          <p:cNvSpPr>
            <a:spLocks xmlns:a="http://schemas.openxmlformats.org/drawingml/2006/main" noGrp="1"/>
          </p:cNvSpPr>
          <p:nvPr/>
        </p:nvSpPr>
        <p:spPr>
          <a:xfrm xmlns:a="http://schemas.openxmlformats.org/drawingml/2006/main">
            <a:off x="5760720" y="1417320"/>
            <a:ext cx="1554480" cy="256032"/>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E72498A5-C50F-4B09-A615-80B285EF8E85}"/>
              </a:ext>
            </a:extLst>
          </p:cNvPr>
          <p:cNvSpPr>
            <a:spLocks xmlns:a="http://schemas.openxmlformats.org/drawingml/2006/main" noGrp="1"/>
          </p:cNvSpPr>
          <p:nvPr/>
        </p:nvSpPr>
        <p:spPr>
          <a:xfrm xmlns:a="http://schemas.openxmlformats.org/drawingml/2006/main">
            <a:off x="5760720" y="1444752"/>
            <a:ext cx="1554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5AA6"/>
                </a:solidFill>
                <a:latin typeface="Aptos"/>
                <a:ea typeface="Aptos"/>
                <a:cs typeface="Aptos"/>
              </a:rPr>
              <a:t>Phase 2 | Forecasting (2–3 weeks)</a:t>
            </a:r>
          </a:p>
        </p:txBody>
      </p:sp>
      <p:sp>
        <p:nvSpPr>
          <p:cNvPr id="15" name="Text 13">
            <a:extLst xmlns:a="http://schemas.openxmlformats.org/drawingml/2006/main">
              <a:ext uri="{FF2B5EF4-FFF2-40B4-BE49-F238E27FC236}">
                <a16:creationId xmlns:a16="http://schemas.microsoft.com/office/drawing/2014/main" id="{1824A467-4B40-4DAB-9BE7-2D8CCB815596}"/>
              </a:ext>
            </a:extLst>
          </p:cNvPr>
          <p:cNvSpPr>
            <a:spLocks xmlns:a="http://schemas.openxmlformats.org/drawingml/2006/main" noGrp="1"/>
          </p:cNvSpPr>
          <p:nvPr/>
        </p:nvSpPr>
        <p:spPr>
          <a:xfrm xmlns:a="http://schemas.openxmlformats.org/drawingml/2006/main">
            <a:off x="5669280" y="1783080"/>
            <a:ext cx="4846320" cy="17373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Engineer process-delay features, train a GRU model, test agreed forecast horizons and tune for stability.</a:t>
            </a:r>
          </a:p>
        </p:txBody>
      </p:sp>
      <p:sp>
        <p:nvSpPr>
          <p:cNvPr id="16" name="Shape 14">
            <a:extLst xmlns:a="http://schemas.openxmlformats.org/drawingml/2006/main">
              <a:ext uri="{FF2B5EF4-FFF2-40B4-BE49-F238E27FC236}">
                <a16:creationId xmlns:a16="http://schemas.microsoft.com/office/drawing/2014/main" id="{491CFF2E-E0BA-4707-8D79-C488747DC55C}"/>
              </a:ext>
            </a:extLst>
          </p:cNvPr>
          <p:cNvSpPr>
            <a:spLocks xmlns:a="http://schemas.openxmlformats.org/drawingml/2006/main" noGrp="1"/>
          </p:cNvSpPr>
          <p:nvPr/>
        </p:nvSpPr>
        <p:spPr>
          <a:xfrm xmlns:a="http://schemas.openxmlformats.org/drawingml/2006/main">
            <a:off x="5760720" y="3657600"/>
            <a:ext cx="1508760" cy="256032"/>
          </a:xfrm>
          <a:prstGeom xmlns:a="http://schemas.openxmlformats.org/drawingml/2006/main" prst="roundRect">
            <a:avLst>
              <a:gd name="adj" fmla="val 14286"/>
            </a:avLst>
          </a:prstGeom>
          <a:solidFill xmlns:a="http://schemas.openxmlformats.org/drawingml/2006/main">
            <a:srgbClr val="EAF2FF"/>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E3FDB7AD-3F65-480D-9FA8-E7B650A2F906}"/>
              </a:ext>
            </a:extLst>
          </p:cNvPr>
          <p:cNvSpPr>
            <a:spLocks xmlns:a="http://schemas.openxmlformats.org/drawingml/2006/main" noGrp="1"/>
          </p:cNvSpPr>
          <p:nvPr/>
        </p:nvSpPr>
        <p:spPr>
          <a:xfrm xmlns:a="http://schemas.openxmlformats.org/drawingml/2006/main">
            <a:off x="5760720" y="3685032"/>
            <a:ext cx="15087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F5AA6"/>
                </a:solidFill>
                <a:latin typeface="Aptos"/>
                <a:ea typeface="Aptos"/>
                <a:cs typeface="Aptos"/>
              </a:rPr>
              <a:t>Why two phases</a:t>
            </a:r>
          </a:p>
        </p:txBody>
      </p:sp>
      <p:sp>
        <p:nvSpPr>
          <p:cNvPr id="18" name="Text 16">
            <a:extLst xmlns:a="http://schemas.openxmlformats.org/drawingml/2006/main">
              <a:ext uri="{FF2B5EF4-FFF2-40B4-BE49-F238E27FC236}">
                <a16:creationId xmlns:a16="http://schemas.microsoft.com/office/drawing/2014/main" id="{45AFA463-6F2B-47BC-B686-F138DF8BC13A}"/>
              </a:ext>
            </a:extLst>
          </p:cNvPr>
          <p:cNvSpPr>
            <a:spLocks xmlns:a="http://schemas.openxmlformats.org/drawingml/2006/main" noGrp="1"/>
          </p:cNvSpPr>
          <p:nvPr/>
        </p:nvSpPr>
        <p:spPr>
          <a:xfrm xmlns:a="http://schemas.openxmlformats.org/drawingml/2006/main">
            <a:off x="5669280" y="3977640"/>
            <a:ext cx="4754880" cy="192024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Phase 1 quickly proves feasibility. Phase 2 adds time-aware forecasting after the target, data quality and forecast horizon are validated.</a:t>
            </a:r>
          </a:p>
        </p:txBody>
      </p:sp>
    </p:spTree>
    <p:extLst>
      <p:ext uri="{BB962C8B-B14F-4D97-AF65-F5344CB8AC3E}">
        <p14:creationId xmlns:p14="http://schemas.microsoft.com/office/powerpoint/2010/main" val="18889592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6F6FE4D-6131-4E0E-B7BD-495FBBE46ED7}"/>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FC283B1D-0BC2-4E9F-9717-FAC46F97A371}"/>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A4E64223-A697-4778-966E-CF19EE882BC4}"/>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AAF71BFB-63EC-4212-B4FC-51D6A000138A}"/>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F76ACF62-500C-45A2-BB57-674B4A371F4D}"/>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15</a:t>
            </a:r>
          </a:p>
        </p:txBody>
      </p:sp>
      <p:sp>
        <p:nvSpPr>
          <p:cNvPr id="7" name="Shape 5">
            <a:extLst xmlns:a="http://schemas.openxmlformats.org/drawingml/2006/main">
              <a:ext uri="{FF2B5EF4-FFF2-40B4-BE49-F238E27FC236}">
                <a16:creationId xmlns:a16="http://schemas.microsoft.com/office/drawing/2014/main" id="{D58FF5CA-67CA-4150-9EAE-2104BE8BD612}"/>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47CB606-BDFB-4A7F-8843-B7CAC7D0088E}"/>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EtaCO Depends on What Happened Earlier</a:t>
            </a:r>
          </a:p>
        </p:txBody>
      </p:sp>
      <p:sp>
        <p:nvSpPr>
          <p:cNvPr id="9" name="Shape 7">
            <a:extLst xmlns:a="http://schemas.openxmlformats.org/drawingml/2006/main">
              <a:ext uri="{FF2B5EF4-FFF2-40B4-BE49-F238E27FC236}">
                <a16:creationId xmlns:a16="http://schemas.microsoft.com/office/drawing/2014/main" id="{2DAF6B7A-FF60-4041-8E0B-72A957E90733}"/>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7A4B2011-BEC5-4421-AB6A-A57B41FB58EB}"/>
              </a:ext>
            </a:extLst>
          </p:cNvPr>
          <p:cNvSpPr>
            <a:spLocks xmlns:a="http://schemas.openxmlformats.org/drawingml/2006/main" noGrp="1"/>
          </p:cNvSpPr>
          <p:nvPr/>
        </p:nvSpPr>
        <p:spPr>
          <a:xfrm xmlns:a="http://schemas.openxmlformats.org/drawingml/2006/main">
            <a:off x="914400" y="1371600"/>
            <a:ext cx="10241280" cy="10515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Blast-furnace responses are delayed. Each input must be aligned to the time when it can influence EtaCO; otherwise the model may learn misleading relationships.</a:t>
            </a:r>
          </a:p>
        </p:txBody>
      </p:sp>
      <p:sp>
        <p:nvSpPr>
          <p:cNvPr id="11" name="Shape 9">
            <a:extLst xmlns:a="http://schemas.openxmlformats.org/drawingml/2006/main">
              <a:ext uri="{FF2B5EF4-FFF2-40B4-BE49-F238E27FC236}">
                <a16:creationId xmlns:a16="http://schemas.microsoft.com/office/drawing/2014/main" id="{792FD5B1-C995-47E8-B8F7-86DDBCF1BBB2}"/>
              </a:ext>
            </a:extLst>
          </p:cNvPr>
          <p:cNvSpPr>
            <a:spLocks xmlns:a="http://schemas.openxmlformats.org/drawingml/2006/main" noGrp="1"/>
          </p:cNvSpPr>
          <p:nvPr/>
        </p:nvSpPr>
        <p:spPr>
          <a:xfrm xmlns:a="http://schemas.openxmlformats.org/drawingml/2006/main">
            <a:off x="914400" y="2194560"/>
            <a:ext cx="3017520" cy="3108960"/>
          </a:xfrm>
          <a:prstGeom xmlns:a="http://schemas.openxmlformats.org/drawingml/2006/main" prst="roundRect">
            <a:avLst>
              <a:gd name="adj" fmla="val 1515"/>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2A06F654-90DF-4AE5-B8EE-6E95311CFE53}"/>
              </a:ext>
            </a:extLst>
          </p:cNvPr>
          <p:cNvSpPr>
            <a:spLocks xmlns:a="http://schemas.openxmlformats.org/drawingml/2006/main" noGrp="1"/>
          </p:cNvSpPr>
          <p:nvPr/>
        </p:nvSpPr>
        <p:spPr>
          <a:xfrm xmlns:a="http://schemas.openxmlformats.org/drawingml/2006/main">
            <a:off x="1042416" y="2286000"/>
            <a:ext cx="2761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Typical lag windows</a:t>
            </a:r>
          </a:p>
        </p:txBody>
      </p:sp>
      <p:sp>
        <p:nvSpPr>
          <p:cNvPr id="13" name="Text 11">
            <a:extLst xmlns:a="http://schemas.openxmlformats.org/drawingml/2006/main">
              <a:ext uri="{FF2B5EF4-FFF2-40B4-BE49-F238E27FC236}">
                <a16:creationId xmlns:a16="http://schemas.microsoft.com/office/drawing/2014/main" id="{946184A6-76F7-4C50-9A29-9D7B4E89BB28}"/>
              </a:ext>
            </a:extLst>
          </p:cNvPr>
          <p:cNvSpPr>
            <a:spLocks xmlns:a="http://schemas.openxmlformats.org/drawingml/2006/main" noGrp="1"/>
          </p:cNvSpPr>
          <p:nvPr/>
        </p:nvSpPr>
        <p:spPr>
          <a:xfrm xmlns:a="http://schemas.openxmlformats.org/drawingml/2006/main">
            <a:off x="1042416" y="2523744"/>
            <a:ext cx="2761488" cy="2706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Blast temperature: 1–4 h</a:t>
            </a:r>
          </a:p>
          <a:p xmlns:a="http://schemas.openxmlformats.org/drawingml/2006/main">
            <a:pPr marL="228600" indent="-228600">
              <a:buAutoNum type="arabicPeriod"/>
            </a:pPr>
            <a:r>
              <a:rPr sz="1150">
                <a:solidFill>
                  <a:srgbClr val="1A1F2E"/>
                </a:solidFill>
                <a:latin typeface="Aptos"/>
                <a:ea typeface="Aptos"/>
                <a:cs typeface="Aptos"/>
              </a:rPr>
              <a:t>PCI: 1–2 h</a:t>
            </a:r>
          </a:p>
          <a:p xmlns:a="http://schemas.openxmlformats.org/drawingml/2006/main">
            <a:pPr marL="228600" indent="-228600">
              <a:buAutoNum type="arabicPeriod"/>
            </a:pPr>
            <a:r>
              <a:rPr sz="1150">
                <a:solidFill>
                  <a:srgbClr val="1A1F2E"/>
                </a:solidFill>
                <a:latin typeface="Aptos"/>
                <a:ea typeface="Aptos"/>
                <a:cs typeface="Aptos"/>
              </a:rPr>
              <a:t>Burden distribution: 4–8 h</a:t>
            </a:r>
          </a:p>
          <a:p xmlns:a="http://schemas.openxmlformats.org/drawingml/2006/main">
            <a:pPr marL="228600" indent="-228600">
              <a:buAutoNum type="arabicPeriod"/>
            </a:pPr>
            <a:r>
              <a:rPr sz="1150">
                <a:solidFill>
                  <a:srgbClr val="1A1F2E"/>
                </a:solidFill>
                <a:latin typeface="Aptos"/>
                <a:ea typeface="Aptos"/>
                <a:cs typeface="Aptos"/>
              </a:rPr>
              <a:t>Coke quality: 6–10 h</a:t>
            </a:r>
          </a:p>
          <a:p xmlns:a="http://schemas.openxmlformats.org/drawingml/2006/main">
            <a:pPr marL="228600" indent="-228600">
              <a:buAutoNum type="arabicPeriod"/>
            </a:pPr>
            <a:r>
              <a:rPr sz="1150">
                <a:solidFill>
                  <a:srgbClr val="1A1F2E"/>
                </a:solidFill>
                <a:latin typeface="Aptos"/>
                <a:ea typeface="Aptos"/>
                <a:cs typeface="Aptos"/>
              </a:rPr>
              <a:t>Sinter ratio: 5–8 h</a:t>
            </a:r>
          </a:p>
          <a:p xmlns:a="http://schemas.openxmlformats.org/drawingml/2006/main">
            <a:pPr marL="228600" indent="-228600">
              <a:buAutoNum type="arabicPeriod"/>
            </a:pPr>
            <a:r>
              <a:rPr sz="1150">
                <a:solidFill>
                  <a:srgbClr val="1A1F2E"/>
                </a:solidFill>
                <a:latin typeface="Aptos"/>
                <a:ea typeface="Aptos"/>
                <a:cs typeface="Aptos"/>
              </a:rPr>
              <a:t>Top pressure: minutes–1 h</a:t>
            </a:r>
          </a:p>
          <a:p xmlns:a="http://schemas.openxmlformats.org/drawingml/2006/main">
            <a:pPr marL="228600" indent="-228600">
              <a:buAutoNum type="arabicPeriod"/>
            </a:pPr>
            <a:r>
              <a:rPr sz="1150">
                <a:solidFill>
                  <a:srgbClr val="1A1F2E"/>
                </a:solidFill>
                <a:latin typeface="Aptos"/>
                <a:ea typeface="Aptos"/>
                <a:cs typeface="Aptos"/>
              </a:rPr>
              <a:t>Gas flow: immediate–1 h</a:t>
            </a:r>
          </a:p>
        </p:txBody>
      </p:sp>
      <p:sp>
        <p:nvSpPr>
          <p:cNvPr id="14" name="Shape 12">
            <a:extLst xmlns:a="http://schemas.openxmlformats.org/drawingml/2006/main">
              <a:ext uri="{FF2B5EF4-FFF2-40B4-BE49-F238E27FC236}">
                <a16:creationId xmlns:a16="http://schemas.microsoft.com/office/drawing/2014/main" id="{D7D0C7A4-EF2D-4CDD-800E-1B1182A3EECF}"/>
              </a:ext>
            </a:extLst>
          </p:cNvPr>
          <p:cNvSpPr>
            <a:spLocks xmlns:a="http://schemas.openxmlformats.org/drawingml/2006/main" noGrp="1"/>
          </p:cNvSpPr>
          <p:nvPr/>
        </p:nvSpPr>
        <p:spPr>
          <a:xfrm xmlns:a="http://schemas.openxmlformats.org/drawingml/2006/main">
            <a:off x="4160520" y="2194560"/>
            <a:ext cx="3383280" cy="3108960"/>
          </a:xfrm>
          <a:prstGeom xmlns:a="http://schemas.openxmlformats.org/drawingml/2006/main" prst="roundRect">
            <a:avLst>
              <a:gd name="adj" fmla="val 1471"/>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FCFB0DA0-EE6F-4ADF-92F6-BA2ADB51EE34}"/>
              </a:ext>
            </a:extLst>
          </p:cNvPr>
          <p:cNvSpPr>
            <a:spLocks xmlns:a="http://schemas.openxmlformats.org/drawingml/2006/main" noGrp="1"/>
          </p:cNvSpPr>
          <p:nvPr/>
        </p:nvSpPr>
        <p:spPr>
          <a:xfrm xmlns:a="http://schemas.openxmlformats.org/drawingml/2006/main">
            <a:off x="4288536" y="2286000"/>
            <a:ext cx="31272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Model training</a:t>
            </a:r>
          </a:p>
        </p:txBody>
      </p:sp>
      <p:sp>
        <p:nvSpPr>
          <p:cNvPr id="16" name="Text 14">
            <a:extLst xmlns:a="http://schemas.openxmlformats.org/drawingml/2006/main">
              <a:ext uri="{FF2B5EF4-FFF2-40B4-BE49-F238E27FC236}">
                <a16:creationId xmlns:a16="http://schemas.microsoft.com/office/drawing/2014/main" id="{08C76548-CFCE-44F2-AB38-C61F7C7C6032}"/>
              </a:ext>
            </a:extLst>
          </p:cNvPr>
          <p:cNvSpPr>
            <a:spLocks xmlns:a="http://schemas.openxmlformats.org/drawingml/2006/main" noGrp="1"/>
          </p:cNvSpPr>
          <p:nvPr/>
        </p:nvSpPr>
        <p:spPr>
          <a:xfrm xmlns:a="http://schemas.openxmlformats.org/drawingml/2006/main">
            <a:off x="4288536" y="2523744"/>
            <a:ext cx="3127248" cy="2706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Phase 1: XGBoost baseline</a:t>
            </a:r>
          </a:p>
          <a:p xmlns:a="http://schemas.openxmlformats.org/drawingml/2006/main">
            <a:pPr marL="228600" indent="-228600">
              <a:buAutoNum type="arabicPeriod"/>
            </a:pPr>
            <a:r>
              <a:rPr sz="1150">
                <a:solidFill>
                  <a:srgbClr val="1A1F2E"/>
                </a:solidFill>
                <a:latin typeface="Aptos"/>
                <a:ea typeface="Aptos"/>
                <a:cs typeface="Aptos"/>
              </a:rPr>
              <a:t>Phase 2: GRU time-series model</a:t>
            </a:r>
          </a:p>
          <a:p xmlns:a="http://schemas.openxmlformats.org/drawingml/2006/main">
            <a:pPr marL="228600" indent="-228600">
              <a:buAutoNum type="arabicPeriod"/>
            </a:pPr>
            <a:r>
              <a:rPr sz="1150">
                <a:solidFill>
                  <a:srgbClr val="1A1F2E"/>
                </a:solidFill>
                <a:latin typeface="Aptos"/>
                <a:ea typeface="Aptos"/>
                <a:cs typeface="Aptos"/>
              </a:rPr>
              <a:t/>
            </a:r>
          </a:p>
          <a:p xmlns:a="http://schemas.openxmlformats.org/drawingml/2006/main">
            <a:pPr marL="228600" indent="-228600">
              <a:buAutoNum type="arabicPeriod"/>
            </a:pPr>
            <a:r>
              <a:rPr sz="1150">
                <a:solidFill>
                  <a:srgbClr val="1A1F2E"/>
                </a:solidFill>
                <a:latin typeface="Aptos"/>
                <a:ea typeface="Aptos"/>
                <a:cs typeface="Aptos"/>
              </a:rPr>
              <a:t>Use time-based train/test splits, rolling windows and configurable forecast horizons.</a:t>
            </a:r>
          </a:p>
        </p:txBody>
      </p:sp>
      <p:sp>
        <p:nvSpPr>
          <p:cNvPr id="17" name="Shape 15">
            <a:extLst xmlns:a="http://schemas.openxmlformats.org/drawingml/2006/main">
              <a:ext uri="{FF2B5EF4-FFF2-40B4-BE49-F238E27FC236}">
                <a16:creationId xmlns:a16="http://schemas.microsoft.com/office/drawing/2014/main" id="{B3D85284-D180-4731-B6C2-6C2B64E15DFD}"/>
              </a:ext>
            </a:extLst>
          </p:cNvPr>
          <p:cNvSpPr>
            <a:spLocks xmlns:a="http://schemas.openxmlformats.org/drawingml/2006/main" noGrp="1"/>
          </p:cNvSpPr>
          <p:nvPr/>
        </p:nvSpPr>
        <p:spPr>
          <a:xfrm xmlns:a="http://schemas.openxmlformats.org/drawingml/2006/main">
            <a:off x="7754112" y="2194560"/>
            <a:ext cx="3474720" cy="3108960"/>
          </a:xfrm>
          <a:prstGeom xmlns:a="http://schemas.openxmlformats.org/drawingml/2006/main" prst="roundRect">
            <a:avLst>
              <a:gd name="adj" fmla="val 1471"/>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91CBFA5B-825B-404C-A7DB-783437FE0C68}"/>
              </a:ext>
            </a:extLst>
          </p:cNvPr>
          <p:cNvSpPr>
            <a:spLocks xmlns:a="http://schemas.openxmlformats.org/drawingml/2006/main" noGrp="1"/>
          </p:cNvSpPr>
          <p:nvPr/>
        </p:nvSpPr>
        <p:spPr>
          <a:xfrm xmlns:a="http://schemas.openxmlformats.org/drawingml/2006/main">
            <a:off x="7882128" y="2286000"/>
            <a:ext cx="32186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Explainability</a:t>
            </a:r>
          </a:p>
        </p:txBody>
      </p:sp>
      <p:sp>
        <p:nvSpPr>
          <p:cNvPr id="19" name="Text 17">
            <a:extLst xmlns:a="http://schemas.openxmlformats.org/drawingml/2006/main">
              <a:ext uri="{FF2B5EF4-FFF2-40B4-BE49-F238E27FC236}">
                <a16:creationId xmlns:a16="http://schemas.microsoft.com/office/drawing/2014/main" id="{AD1BDED7-6E19-44E5-890E-798CF9486F72}"/>
              </a:ext>
            </a:extLst>
          </p:cNvPr>
          <p:cNvSpPr>
            <a:spLocks xmlns:a="http://schemas.openxmlformats.org/drawingml/2006/main" noGrp="1"/>
          </p:cNvSpPr>
          <p:nvPr/>
        </p:nvSpPr>
        <p:spPr>
          <a:xfrm xmlns:a="http://schemas.openxmlformats.org/drawingml/2006/main">
            <a:off x="7882128" y="2523744"/>
            <a:ext cx="3218688" cy="2706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buAutoNum type="arabicPeriod"/>
            </a:pPr>
            <a:r>
              <a:rPr sz="1150">
                <a:solidFill>
                  <a:srgbClr val="1A1F2E"/>
                </a:solidFill>
                <a:latin typeface="Aptos"/>
                <a:ea typeface="Aptos"/>
                <a:cs typeface="Aptos"/>
              </a:rPr>
              <a:t>SHAP summary and dependence plots</a:t>
            </a:r>
          </a:p>
          <a:p xmlns:a="http://schemas.openxmlformats.org/drawingml/2006/main">
            <a:pPr marL="228600" indent="-228600">
              <a:buAutoNum type="arabicPeriod"/>
            </a:pPr>
            <a:r>
              <a:t>Local waterfall for each forecast</a:t>
            </a:r>
          </a:p>
          <a:p xmlns:a="http://schemas.openxmlformats.org/drawingml/2006/main">
            <a:pPr marL="228600" indent="-228600">
              <a:buAutoNum type="arabicPeriod"/>
            </a:pPr>
            <a:r>
              <a:rPr sz="1150">
                <a:solidFill>
                  <a:srgbClr val="1A1F2E"/>
                </a:solidFill>
                <a:latin typeface="Aptos"/>
                <a:ea typeface="Aptos"/>
                <a:cs typeface="Aptos"/>
              </a:rPr>
              <a:t>Actual vs predicted with confidence band</a:t>
            </a:r>
          </a:p>
          <a:p xmlns:a="http://schemas.openxmlformats.org/drawingml/2006/main">
            <a:pPr marL="228600" indent="-228600">
              <a:buAutoNum type="arabicPeriod"/>
            </a:pPr>
            <a:r>
              <a:rPr sz="1150">
                <a:solidFill>
                  <a:srgbClr val="1A1F2E"/>
                </a:solidFill>
                <a:latin typeface="Aptos"/>
                <a:ea typeface="Aptos"/>
                <a:cs typeface="Aptos"/>
              </a:rPr>
              <a:t>Error by time and operating regime</a:t>
            </a:r>
          </a:p>
        </p:txBody>
      </p:sp>
    </p:spTree>
    <p:extLst>
      <p:ext uri="{BB962C8B-B14F-4D97-AF65-F5344CB8AC3E}">
        <p14:creationId xmlns:p14="http://schemas.microsoft.com/office/powerpoint/2010/main" val="18494476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28F46C7-AE38-4588-A13A-49D68F347251}"/>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FAF14536-9D86-4AB2-ABE2-5D034CD89A5E}"/>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D6977B78-898E-4E98-82BA-4858B81CCDFC}"/>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868BC9A9-28D7-4254-8964-59A14E2DCFF9}"/>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AF0401EE-1E1A-4F15-8564-9C3298315200}"/>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16</a:t>
            </a:r>
          </a:p>
        </p:txBody>
      </p:sp>
      <p:sp>
        <p:nvSpPr>
          <p:cNvPr id="7" name="Shape 5">
            <a:extLst xmlns:a="http://schemas.openxmlformats.org/drawingml/2006/main">
              <a:ext uri="{FF2B5EF4-FFF2-40B4-BE49-F238E27FC236}">
                <a16:creationId xmlns:a16="http://schemas.microsoft.com/office/drawing/2014/main" id="{A3814CC3-9307-483C-961D-FF9031B2C54A}"/>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800AA93A-D377-4F8F-ABC3-F38F0B587916}"/>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What the Operator Will Receive</a:t>
            </a:r>
          </a:p>
        </p:txBody>
      </p:sp>
      <p:sp>
        <p:nvSpPr>
          <p:cNvPr id="9" name="Shape 7">
            <a:extLst xmlns:a="http://schemas.openxmlformats.org/drawingml/2006/main">
              <a:ext uri="{FF2B5EF4-FFF2-40B4-BE49-F238E27FC236}">
                <a16:creationId xmlns:a16="http://schemas.microsoft.com/office/drawing/2014/main" id="{70B4B22E-F9D7-4DDA-9D97-2530CF62F8C8}"/>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729A4493-C125-4CEC-8F60-7C899F656BDF}"/>
              </a:ext>
            </a:extLst>
          </p:cNvPr>
          <p:cNvSpPr>
            <a:spLocks xmlns:a="http://schemas.openxmlformats.org/drawingml/2006/main" noGrp="1"/>
          </p:cNvSpPr>
          <p:nvPr/>
        </p:nvSpPr>
        <p:spPr>
          <a:xfrm xmlns:a="http://schemas.openxmlformats.org/drawingml/2006/main">
            <a:off x="868680" y="1325880"/>
            <a:ext cx="3520440" cy="4389120"/>
          </a:xfrm>
          <a:prstGeom xmlns:a="http://schemas.openxmlformats.org/drawingml/2006/main" prst="roundRect">
            <a:avLst>
              <a:gd name="adj" fmla="val 1299"/>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F2B89F69-2C86-48DC-9750-6B90570F2128}"/>
              </a:ext>
            </a:extLst>
          </p:cNvPr>
          <p:cNvSpPr>
            <a:spLocks xmlns:a="http://schemas.openxmlformats.org/drawingml/2006/main" noGrp="1"/>
          </p:cNvSpPr>
          <p:nvPr/>
        </p:nvSpPr>
        <p:spPr>
          <a:xfrm xmlns:a="http://schemas.openxmlformats.org/drawingml/2006/main">
            <a:off x="996696" y="1417320"/>
            <a:ext cx="32644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Illustrative forecast</a:t>
            </a:r>
          </a:p>
        </p:txBody>
      </p:sp>
      <p:sp>
        <p:nvSpPr>
          <p:cNvPr id="12" name="Text 10">
            <a:extLst xmlns:a="http://schemas.openxmlformats.org/drawingml/2006/main">
              <a:ext uri="{FF2B5EF4-FFF2-40B4-BE49-F238E27FC236}">
                <a16:creationId xmlns:a16="http://schemas.microsoft.com/office/drawing/2014/main" id="{B2CB05EF-CE85-4FCD-ABD0-2DDEED2DA3A4}"/>
              </a:ext>
            </a:extLst>
          </p:cNvPr>
          <p:cNvSpPr>
            <a:spLocks xmlns:a="http://schemas.openxmlformats.org/drawingml/2006/main" noGrp="1"/>
          </p:cNvSpPr>
          <p:nvPr/>
        </p:nvSpPr>
        <p:spPr>
          <a:xfrm xmlns:a="http://schemas.openxmlformats.org/drawingml/2006/main">
            <a:off x="996696" y="1655064"/>
            <a:ext cx="3264408"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08:00 current EtaCO: 47%</a:t>
            </a:r>
          </a:p>
          <a:p xmlns:a="http://schemas.openxmlformats.org/drawingml/2006/main">
            <a:pPr marL="0" indent="0">
              <a:buNone/>
            </a:pPr>
            <a:r>
              <a:t>Forecast for next 5 h: 43%</a:t>
            </a:r>
          </a:p>
          <a:p xmlns:a="http://schemas.openxmlformats.org/drawingml/2006/main">
            <a:pPr marL="0" indent="0">
              <a:buNone/>
            </a:pPr>
            <a:r>
              <a:rPr sz="1150">
                <a:solidFill>
                  <a:srgbClr val="1A1F2E"/>
                </a:solidFill>
                <a:latin typeface="Aptos"/>
                <a:ea typeface="Aptos"/>
                <a:cs typeface="Aptos"/>
              </a:rPr>
              <a:t>Direction: falling</a:t>
            </a:r>
          </a:p>
          <a:p xmlns:a="http://schemas.openxmlformats.org/drawingml/2006/main">
            <a:pPr marL="0" indent="0">
              <a:buNone/>
            </a:pPr>
            <a:r>
              <a:rPr sz="1150">
                <a:solidFill>
                  <a:srgbClr val="1A1F2E"/>
                </a:solidFill>
                <a:latin typeface="Aptos"/>
                <a:ea typeface="Aptos"/>
                <a:cs typeface="Aptos"/>
              </a:rPr>
              <a:t>Confidence: show prediction band</a:t>
            </a:r>
          </a:p>
          <a:p xmlns:a="http://schemas.openxmlformats.org/drawingml/2006/main">
            <a:pPr marL="0" indent="0">
              <a:buNone/>
            </a:pPr>
            <a:r>
              <a:rPr sz="1150">
                <a:solidFill>
                  <a:srgbClr val="1A1F2E"/>
                </a:solidFill>
                <a:latin typeface="Aptos"/>
                <a:ea typeface="Aptos"/>
                <a:cs typeface="Aptos"/>
              </a:rPr>
              <a:t/>
            </a:r>
          </a:p>
          <a:p xmlns:a="http://schemas.openxmlformats.org/drawingml/2006/main">
            <a:pPr marL="0" indent="0">
              <a:buNone/>
            </a:pPr>
            <a:r>
              <a:rPr sz="1150">
                <a:solidFill>
                  <a:srgbClr val="1A1F2E"/>
                </a:solidFill>
                <a:latin typeface="Aptos"/>
                <a:ea typeface="Aptos"/>
                <a:cs typeface="Aptos"/>
              </a:rPr>
              <a:t>This is an example output format, not a plant result.</a:t>
            </a:r>
          </a:p>
        </p:txBody>
      </p:sp>
      <p:sp>
        <p:nvSpPr>
          <p:cNvPr id="13" name="Shape 11">
            <a:extLst xmlns:a="http://schemas.openxmlformats.org/drawingml/2006/main">
              <a:ext uri="{FF2B5EF4-FFF2-40B4-BE49-F238E27FC236}">
                <a16:creationId xmlns:a16="http://schemas.microsoft.com/office/drawing/2014/main" id="{F3E3A145-3824-4284-A8F2-688552F1C806}"/>
              </a:ext>
            </a:extLst>
          </p:cNvPr>
          <p:cNvSpPr>
            <a:spLocks xmlns:a="http://schemas.openxmlformats.org/drawingml/2006/main" noGrp="1"/>
          </p:cNvSpPr>
          <p:nvPr/>
        </p:nvSpPr>
        <p:spPr>
          <a:xfrm xmlns:a="http://schemas.openxmlformats.org/drawingml/2006/main">
            <a:off x="4572000" y="1325880"/>
            <a:ext cx="2926080" cy="2011680"/>
          </a:xfrm>
          <a:prstGeom xmlns:a="http://schemas.openxmlformats.org/drawingml/2006/main" prst="roundRect">
            <a:avLst>
              <a:gd name="adj" fmla="val 2273"/>
            </a:avLst>
          </a:prstGeom>
          <a:solidFill xmlns:a="http://schemas.openxmlformats.org/drawingml/2006/main">
            <a:srgbClr val="EAF2FF"/>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E84B9244-4142-47C3-B793-335BE27A1515}"/>
              </a:ext>
            </a:extLst>
          </p:cNvPr>
          <p:cNvSpPr>
            <a:spLocks xmlns:a="http://schemas.openxmlformats.org/drawingml/2006/main" noGrp="1"/>
          </p:cNvSpPr>
          <p:nvPr/>
        </p:nvSpPr>
        <p:spPr>
          <a:xfrm xmlns:a="http://schemas.openxmlformats.org/drawingml/2006/main">
            <a:off x="4700016" y="1417320"/>
            <a:ext cx="2670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Why the model expects a drop</a:t>
            </a:r>
          </a:p>
        </p:txBody>
      </p:sp>
      <p:sp>
        <p:nvSpPr>
          <p:cNvPr id="15" name="Text 13">
            <a:extLst xmlns:a="http://schemas.openxmlformats.org/drawingml/2006/main">
              <a:ext uri="{FF2B5EF4-FFF2-40B4-BE49-F238E27FC236}">
                <a16:creationId xmlns:a16="http://schemas.microsoft.com/office/drawing/2014/main" id="{47753560-50DB-4984-9D81-08B17B7F96A3}"/>
              </a:ext>
            </a:extLst>
          </p:cNvPr>
          <p:cNvSpPr>
            <a:spLocks xmlns:a="http://schemas.openxmlformats.org/drawingml/2006/main" noGrp="1"/>
          </p:cNvSpPr>
          <p:nvPr/>
        </p:nvSpPr>
        <p:spPr>
          <a:xfrm xmlns:a="http://schemas.openxmlformats.org/drawingml/2006/main">
            <a:off x="4700016" y="1655064"/>
            <a:ext cx="2670048"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Possible drivers:</a:t>
            </a:r>
          </a:p>
          <a:p xmlns:a="http://schemas.openxmlformats.org/drawingml/2006/main">
            <a:pPr marL="0" indent="0">
              <a:buNone/>
            </a:pPr>
            <a:r>
              <a:t>blast temperature at t–3 h</a:t>
            </a:r>
          </a:p>
          <a:p xmlns:a="http://schemas.openxmlformats.org/drawingml/2006/main">
            <a:pPr marL="0" indent="0">
              <a:buNone/>
            </a:pPr>
            <a:r>
              <a:rPr sz="1150">
                <a:solidFill>
                  <a:srgbClr val="1A1F2E"/>
                </a:solidFill>
                <a:latin typeface="Aptos"/>
                <a:ea typeface="Aptos"/>
                <a:cs typeface="Aptos"/>
              </a:rPr>
              <a:t>PCI at t–2 h</a:t>
            </a:r>
          </a:p>
          <a:p xmlns:a="http://schemas.openxmlformats.org/drawingml/2006/main">
            <a:pPr marL="0" indent="0">
              <a:buNone/>
            </a:pPr>
            <a:r>
              <a:rPr sz="1150">
                <a:solidFill>
                  <a:srgbClr val="1A1F2E"/>
                </a:solidFill>
                <a:latin typeface="Aptos"/>
                <a:ea typeface="Aptos"/>
                <a:cs typeface="Aptos"/>
              </a:rPr>
              <a:t>top pressure at t–1 h</a:t>
            </a:r>
          </a:p>
        </p:txBody>
      </p:sp>
      <p:sp>
        <p:nvSpPr>
          <p:cNvPr id="16" name="Shape 14">
            <a:extLst xmlns:a="http://schemas.openxmlformats.org/drawingml/2006/main">
              <a:ext uri="{FF2B5EF4-FFF2-40B4-BE49-F238E27FC236}">
                <a16:creationId xmlns:a16="http://schemas.microsoft.com/office/drawing/2014/main" id="{B27C2181-416E-45EE-B317-B0EA1EAAF4FD}"/>
              </a:ext>
            </a:extLst>
          </p:cNvPr>
          <p:cNvSpPr>
            <a:spLocks xmlns:a="http://schemas.openxmlformats.org/drawingml/2006/main" noGrp="1"/>
          </p:cNvSpPr>
          <p:nvPr/>
        </p:nvSpPr>
        <p:spPr>
          <a:xfrm xmlns:a="http://schemas.openxmlformats.org/drawingml/2006/main">
            <a:off x="4572000" y="3703320"/>
            <a:ext cx="2926080" cy="2011680"/>
          </a:xfrm>
          <a:prstGeom xmlns:a="http://schemas.openxmlformats.org/drawingml/2006/main" prst="roundRect">
            <a:avLst>
              <a:gd name="adj" fmla="val 2273"/>
            </a:avLst>
          </a:prstGeom>
          <a:solidFill xmlns:a="http://schemas.openxmlformats.org/drawingml/2006/main">
            <a:srgbClr val="EAF2FF"/>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2D83E113-9032-4C75-B2F1-81902B7D828C}"/>
              </a:ext>
            </a:extLst>
          </p:cNvPr>
          <p:cNvSpPr>
            <a:spLocks xmlns:a="http://schemas.openxmlformats.org/drawingml/2006/main" noGrp="1"/>
          </p:cNvSpPr>
          <p:nvPr/>
        </p:nvSpPr>
        <p:spPr>
          <a:xfrm xmlns:a="http://schemas.openxmlformats.org/drawingml/2006/main">
            <a:off x="4700016" y="3794760"/>
            <a:ext cx="2670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How it is checked</a:t>
            </a:r>
          </a:p>
        </p:txBody>
      </p:sp>
      <p:sp>
        <p:nvSpPr>
          <p:cNvPr id="18" name="Text 16">
            <a:extLst xmlns:a="http://schemas.openxmlformats.org/drawingml/2006/main">
              <a:ext uri="{FF2B5EF4-FFF2-40B4-BE49-F238E27FC236}">
                <a16:creationId xmlns:a16="http://schemas.microsoft.com/office/drawing/2014/main" id="{4F64CEEF-1016-43A9-BF6B-14E320C203C0}"/>
              </a:ext>
            </a:extLst>
          </p:cNvPr>
          <p:cNvSpPr>
            <a:spLocks xmlns:a="http://schemas.openxmlformats.org/drawingml/2006/main" noGrp="1"/>
          </p:cNvSpPr>
          <p:nvPr/>
        </p:nvSpPr>
        <p:spPr>
          <a:xfrm xmlns:a="http://schemas.openxmlformats.org/drawingml/2006/main">
            <a:off x="4700016" y="4032504"/>
            <a:ext cx="2670048"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Compare the forecast with actual EtaCO, track error, and review performance by operating regime.</a:t>
            </a:r>
          </a:p>
        </p:txBody>
      </p:sp>
      <p:sp>
        <p:nvSpPr>
          <p:cNvPr id="19" name="Shape 17">
            <a:extLst xmlns:a="http://schemas.openxmlformats.org/drawingml/2006/main">
              <a:ext uri="{FF2B5EF4-FFF2-40B4-BE49-F238E27FC236}">
                <a16:creationId xmlns:a16="http://schemas.microsoft.com/office/drawing/2014/main" id="{9B1086B8-B909-4CFF-8685-D4DA9F749334}"/>
              </a:ext>
            </a:extLst>
          </p:cNvPr>
          <p:cNvSpPr>
            <a:spLocks xmlns:a="http://schemas.openxmlformats.org/drawingml/2006/main" noGrp="1"/>
          </p:cNvSpPr>
          <p:nvPr/>
        </p:nvSpPr>
        <p:spPr>
          <a:xfrm xmlns:a="http://schemas.openxmlformats.org/drawingml/2006/main">
            <a:off x="7726680" y="1325880"/>
            <a:ext cx="3566160" cy="4389120"/>
          </a:xfrm>
          <a:prstGeom xmlns:a="http://schemas.openxmlformats.org/drawingml/2006/main" prst="roundRect">
            <a:avLst>
              <a:gd name="adj" fmla="val 1282"/>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D12BB5FC-13C2-493D-8178-78F77D8277F6}"/>
              </a:ext>
            </a:extLst>
          </p:cNvPr>
          <p:cNvSpPr>
            <a:spLocks xmlns:a="http://schemas.openxmlformats.org/drawingml/2006/main" noGrp="1"/>
          </p:cNvSpPr>
          <p:nvPr/>
        </p:nvSpPr>
        <p:spPr>
          <a:xfrm xmlns:a="http://schemas.openxmlformats.org/drawingml/2006/main">
            <a:off x="7854696" y="1417320"/>
            <a:ext cx="33101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Operator response</a:t>
            </a:r>
          </a:p>
        </p:txBody>
      </p:sp>
      <p:sp>
        <p:nvSpPr>
          <p:cNvPr id="21" name="Text 19">
            <a:extLst xmlns:a="http://schemas.openxmlformats.org/drawingml/2006/main">
              <a:ext uri="{FF2B5EF4-FFF2-40B4-BE49-F238E27FC236}">
                <a16:creationId xmlns:a16="http://schemas.microsoft.com/office/drawing/2014/main" id="{6F9708F7-0D82-4312-B8ED-EC19262E0A55}"/>
              </a:ext>
            </a:extLst>
          </p:cNvPr>
          <p:cNvSpPr>
            <a:spLocks xmlns:a="http://schemas.openxmlformats.org/drawingml/2006/main" noGrp="1"/>
          </p:cNvSpPr>
          <p:nvPr/>
        </p:nvSpPr>
        <p:spPr>
          <a:xfrm xmlns:a="http://schemas.openxmlformats.org/drawingml/2006/main">
            <a:off x="7854696" y="1655064"/>
            <a:ext cx="3310128"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Review gas flow, permeability, burden distribution, blast temperature and PCI.</a:t>
            </a:r>
          </a:p>
          <a:p xmlns:a="http://schemas.openxmlformats.org/drawingml/2006/main">
            <a:pPr marL="0" indent="0">
              <a:buNone/>
            </a:pPr>
            <a:r>
              <a:t/>
            </a:r>
          </a:p>
          <a:p xmlns:a="http://schemas.openxmlformats.org/drawingml/2006/main">
            <a:pPr marL="0" indent="0">
              <a:buNone/>
            </a:pPr>
            <a:r>
              <a:rPr sz="1150">
                <a:solidFill>
                  <a:srgbClr val="1A1F2E"/>
                </a:solidFill>
                <a:latin typeface="Aptos"/>
                <a:ea typeface="Aptos"/>
                <a:cs typeface="Aptos"/>
              </a:rPr>
              <a:t>Evaluate actions only within approved operating constraints.</a:t>
            </a:r>
          </a:p>
          <a:p xmlns:a="http://schemas.openxmlformats.org/drawingml/2006/main">
            <a:pPr marL="0" indent="0">
              <a:buNone/>
            </a:pPr>
            <a:r>
              <a:rPr sz="1150">
                <a:solidFill>
                  <a:srgbClr val="1A1F2E"/>
                </a:solidFill>
                <a:latin typeface="Aptos"/>
                <a:ea typeface="Aptos"/>
                <a:cs typeface="Aptos"/>
              </a:rPr>
              <a:t/>
            </a:r>
          </a:p>
          <a:p xmlns:a="http://schemas.openxmlformats.org/drawingml/2006/main">
            <a:pPr marL="0" indent="0">
              <a:buNone/>
            </a:pPr>
            <a:r>
              <a:rPr sz="1150">
                <a:solidFill>
                  <a:srgbClr val="1A1F2E"/>
                </a:solidFill>
                <a:latin typeface="Aptos"/>
                <a:ea typeface="Aptos"/>
                <a:cs typeface="Aptos"/>
              </a:rPr>
              <a:t>The model supports decisions; it does not automatically control the furnace.</a:t>
            </a:r>
          </a:p>
        </p:txBody>
      </p:sp>
    </p:spTree>
    <p:extLst>
      <p:ext uri="{BB962C8B-B14F-4D97-AF65-F5344CB8AC3E}">
        <p14:creationId xmlns:p14="http://schemas.microsoft.com/office/powerpoint/2010/main" val="150866961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BB51A60-CE1B-4BBD-9F3A-18209EDC0864}"/>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688D78AF-E6BC-43F1-A380-10458D0860C4}"/>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2A9F117F-9E2C-49A0-A071-5BDD80722DA8}"/>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A03E2469-C9D4-4604-9340-ED3E8BC53DB6}"/>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7C70FB42-26E6-4BB6-ADFE-9880E7B3A070}"/>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17</a:t>
            </a:r>
          </a:p>
        </p:txBody>
      </p:sp>
      <p:sp>
        <p:nvSpPr>
          <p:cNvPr id="7" name="Shape 5">
            <a:extLst xmlns:a="http://schemas.openxmlformats.org/drawingml/2006/main">
              <a:ext uri="{FF2B5EF4-FFF2-40B4-BE49-F238E27FC236}">
                <a16:creationId xmlns:a16="http://schemas.microsoft.com/office/drawing/2014/main" id="{D78A30C8-CFB1-437C-884A-FD9410202DC5}"/>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F301E543-F849-4F5A-87E6-82119A3B5DC1}"/>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Integrated Advisory Framework</a:t>
            </a:r>
          </a:p>
        </p:txBody>
      </p:sp>
      <p:sp>
        <p:nvSpPr>
          <p:cNvPr id="9" name="Shape 7">
            <a:extLst xmlns:a="http://schemas.openxmlformats.org/drawingml/2006/main">
              <a:ext uri="{FF2B5EF4-FFF2-40B4-BE49-F238E27FC236}">
                <a16:creationId xmlns:a16="http://schemas.microsoft.com/office/drawing/2014/main" id="{A11AAF27-56F8-4DD9-9754-D5F19BE6FC27}"/>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0D837BC8-A12B-4939-96A6-6886FAD4DFE6}"/>
              </a:ext>
            </a:extLst>
          </p:cNvPr>
          <p:cNvSpPr>
            <a:spLocks xmlns:a="http://schemas.openxmlformats.org/drawingml/2006/main" noGrp="1"/>
          </p:cNvSpPr>
          <p:nvPr/>
        </p:nvSpPr>
        <p:spPr>
          <a:xfrm xmlns:a="http://schemas.openxmlformats.org/drawingml/2006/main">
            <a:off x="868680" y="1828800"/>
            <a:ext cx="2468880" cy="1828800"/>
          </a:xfrm>
          <a:prstGeom xmlns:a="http://schemas.openxmlformats.org/drawingml/2006/main" prst="roundRect">
            <a:avLst>
              <a:gd name="adj" fmla="val 250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991B91BF-5EB4-41C1-825A-9E2805CA6E77}"/>
              </a:ext>
            </a:extLst>
          </p:cNvPr>
          <p:cNvSpPr>
            <a:spLocks xmlns:a="http://schemas.openxmlformats.org/drawingml/2006/main" noGrp="1"/>
          </p:cNvSpPr>
          <p:nvPr/>
        </p:nvSpPr>
        <p:spPr>
          <a:xfrm xmlns:a="http://schemas.openxmlformats.org/drawingml/2006/main">
            <a:off x="996696" y="1920240"/>
            <a:ext cx="22128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Sense</a:t>
            </a:r>
          </a:p>
        </p:txBody>
      </p:sp>
      <p:sp>
        <p:nvSpPr>
          <p:cNvPr id="12" name="Text 10">
            <a:extLst xmlns:a="http://schemas.openxmlformats.org/drawingml/2006/main">
              <a:ext uri="{FF2B5EF4-FFF2-40B4-BE49-F238E27FC236}">
                <a16:creationId xmlns:a16="http://schemas.microsoft.com/office/drawing/2014/main" id="{8CE67C3D-D762-4EFC-B69C-3D7D09677128}"/>
              </a:ext>
            </a:extLst>
          </p:cNvPr>
          <p:cNvSpPr>
            <a:spLocks xmlns:a="http://schemas.openxmlformats.org/drawingml/2006/main" noGrp="1"/>
          </p:cNvSpPr>
          <p:nvPr/>
        </p:nvSpPr>
        <p:spPr>
          <a:xfrm xmlns:a="http://schemas.openxmlformats.org/drawingml/2006/main">
            <a:off x="996696" y="2157984"/>
            <a:ext cx="2212848" cy="14264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Acquire Data_1 process, top-gas, pressure and thermal signals</a:t>
            </a:r>
          </a:p>
        </p:txBody>
      </p:sp>
      <p:sp>
        <p:nvSpPr>
          <p:cNvPr id="13" name="Shape 11">
            <a:extLst xmlns:a="http://schemas.openxmlformats.org/drawingml/2006/main">
              <a:ext uri="{FF2B5EF4-FFF2-40B4-BE49-F238E27FC236}">
                <a16:creationId xmlns:a16="http://schemas.microsoft.com/office/drawing/2014/main" id="{1F636CBF-5090-47EF-9752-FB8EA60BD4A1}"/>
              </a:ext>
            </a:extLst>
          </p:cNvPr>
          <p:cNvSpPr>
            <a:spLocks xmlns:a="http://schemas.openxmlformats.org/drawingml/2006/main" noGrp="1"/>
          </p:cNvSpPr>
          <p:nvPr/>
        </p:nvSpPr>
        <p:spPr>
          <a:xfrm xmlns:a="http://schemas.openxmlformats.org/drawingml/2006/main">
            <a:off x="3566160" y="1828800"/>
            <a:ext cx="2468880" cy="1828800"/>
          </a:xfrm>
          <a:prstGeom xmlns:a="http://schemas.openxmlformats.org/drawingml/2006/main" prst="roundRect">
            <a:avLst>
              <a:gd name="adj" fmla="val 250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A8E60B96-BF5B-4DC9-8250-78BDC9C4F543}"/>
              </a:ext>
            </a:extLst>
          </p:cNvPr>
          <p:cNvSpPr>
            <a:spLocks xmlns:a="http://schemas.openxmlformats.org/drawingml/2006/main" noGrp="1"/>
          </p:cNvSpPr>
          <p:nvPr/>
        </p:nvSpPr>
        <p:spPr>
          <a:xfrm xmlns:a="http://schemas.openxmlformats.org/drawingml/2006/main">
            <a:off x="3694176" y="1920240"/>
            <a:ext cx="22128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Predict</a:t>
            </a:r>
          </a:p>
        </p:txBody>
      </p:sp>
      <p:sp>
        <p:nvSpPr>
          <p:cNvPr id="15" name="Text 13">
            <a:extLst xmlns:a="http://schemas.openxmlformats.org/drawingml/2006/main">
              <a:ext uri="{FF2B5EF4-FFF2-40B4-BE49-F238E27FC236}">
                <a16:creationId xmlns:a16="http://schemas.microsoft.com/office/drawing/2014/main" id="{04F1599B-5141-4783-AFA5-7F8E3F5AC14A}"/>
              </a:ext>
            </a:extLst>
          </p:cNvPr>
          <p:cNvSpPr>
            <a:spLocks xmlns:a="http://schemas.openxmlformats.org/drawingml/2006/main" noGrp="1"/>
          </p:cNvSpPr>
          <p:nvPr/>
        </p:nvSpPr>
        <p:spPr>
          <a:xfrm xmlns:a="http://schemas.openxmlformats.org/drawingml/2006/main">
            <a:off x="3694176" y="2157984"/>
            <a:ext cx="2212848" cy="14264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Forecast HMT and EtaCO for the agreed horizon</a:t>
            </a:r>
          </a:p>
        </p:txBody>
      </p:sp>
      <p:sp>
        <p:nvSpPr>
          <p:cNvPr id="16" name="Shape 14">
            <a:extLst xmlns:a="http://schemas.openxmlformats.org/drawingml/2006/main">
              <a:ext uri="{FF2B5EF4-FFF2-40B4-BE49-F238E27FC236}">
                <a16:creationId xmlns:a16="http://schemas.microsoft.com/office/drawing/2014/main" id="{ADAC0965-3B7D-4756-A545-BECB7E47607F}"/>
              </a:ext>
            </a:extLst>
          </p:cNvPr>
          <p:cNvSpPr>
            <a:spLocks xmlns:a="http://schemas.openxmlformats.org/drawingml/2006/main" noGrp="1"/>
          </p:cNvSpPr>
          <p:nvPr/>
        </p:nvSpPr>
        <p:spPr>
          <a:xfrm xmlns:a="http://schemas.openxmlformats.org/drawingml/2006/main">
            <a:off x="6263640" y="1828800"/>
            <a:ext cx="2468880" cy="1828800"/>
          </a:xfrm>
          <a:prstGeom xmlns:a="http://schemas.openxmlformats.org/drawingml/2006/main" prst="roundRect">
            <a:avLst>
              <a:gd name="adj" fmla="val 250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95834C76-3002-4809-B32E-AC875C9FA27B}"/>
              </a:ext>
            </a:extLst>
          </p:cNvPr>
          <p:cNvSpPr>
            <a:spLocks xmlns:a="http://schemas.openxmlformats.org/drawingml/2006/main" noGrp="1"/>
          </p:cNvSpPr>
          <p:nvPr/>
        </p:nvSpPr>
        <p:spPr>
          <a:xfrm xmlns:a="http://schemas.openxmlformats.org/drawingml/2006/main">
            <a:off x="6391656" y="1920240"/>
            <a:ext cx="22128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Diagnose</a:t>
            </a:r>
          </a:p>
        </p:txBody>
      </p:sp>
      <p:sp>
        <p:nvSpPr>
          <p:cNvPr id="18" name="Text 16">
            <a:extLst xmlns:a="http://schemas.openxmlformats.org/drawingml/2006/main">
              <a:ext uri="{FF2B5EF4-FFF2-40B4-BE49-F238E27FC236}">
                <a16:creationId xmlns:a16="http://schemas.microsoft.com/office/drawing/2014/main" id="{53789B14-4000-4A7F-8265-FD5803743803}"/>
              </a:ext>
            </a:extLst>
          </p:cNvPr>
          <p:cNvSpPr>
            <a:spLocks xmlns:a="http://schemas.openxmlformats.org/drawingml/2006/main" noGrp="1"/>
          </p:cNvSpPr>
          <p:nvPr/>
        </p:nvSpPr>
        <p:spPr>
          <a:xfrm xmlns:a="http://schemas.openxmlformats.org/drawingml/2006/main">
            <a:off x="6391656" y="2157984"/>
            <a:ext cx="2212848" cy="14264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Use SHAP, lag effects and RIST-RAFT physics</a:t>
            </a:r>
          </a:p>
        </p:txBody>
      </p:sp>
      <p:sp>
        <p:nvSpPr>
          <p:cNvPr id="19" name="Shape 17">
            <a:extLst xmlns:a="http://schemas.openxmlformats.org/drawingml/2006/main">
              <a:ext uri="{FF2B5EF4-FFF2-40B4-BE49-F238E27FC236}">
                <a16:creationId xmlns:a16="http://schemas.microsoft.com/office/drawing/2014/main" id="{E9D10D39-BA84-4D78-851B-82AEA14D0F32}"/>
              </a:ext>
            </a:extLst>
          </p:cNvPr>
          <p:cNvSpPr>
            <a:spLocks xmlns:a="http://schemas.openxmlformats.org/drawingml/2006/main" noGrp="1"/>
          </p:cNvSpPr>
          <p:nvPr/>
        </p:nvSpPr>
        <p:spPr>
          <a:xfrm xmlns:a="http://schemas.openxmlformats.org/drawingml/2006/main">
            <a:off x="8961120" y="1828800"/>
            <a:ext cx="2240280" cy="1828800"/>
          </a:xfrm>
          <a:prstGeom xmlns:a="http://schemas.openxmlformats.org/drawingml/2006/main" prst="roundRect">
            <a:avLst>
              <a:gd name="adj" fmla="val 2500"/>
            </a:avLst>
          </a:prstGeom>
          <a:solidFill xmlns:a="http://schemas.openxmlformats.org/drawingml/2006/main">
            <a:srgbClr val="F8F6F1"/>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12D0A37C-351C-46FF-85A2-A1DF5BE5785C}"/>
              </a:ext>
            </a:extLst>
          </p:cNvPr>
          <p:cNvSpPr>
            <a:spLocks xmlns:a="http://schemas.openxmlformats.org/drawingml/2006/main" noGrp="1"/>
          </p:cNvSpPr>
          <p:nvPr/>
        </p:nvSpPr>
        <p:spPr>
          <a:xfrm xmlns:a="http://schemas.openxmlformats.org/drawingml/2006/main">
            <a:off x="9089136" y="1920240"/>
            <a:ext cx="19842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Advise</a:t>
            </a:r>
          </a:p>
        </p:txBody>
      </p:sp>
      <p:sp>
        <p:nvSpPr>
          <p:cNvPr id="21" name="Text 19">
            <a:extLst xmlns:a="http://schemas.openxmlformats.org/drawingml/2006/main">
              <a:ext uri="{FF2B5EF4-FFF2-40B4-BE49-F238E27FC236}">
                <a16:creationId xmlns:a16="http://schemas.microsoft.com/office/drawing/2014/main" id="{1CEE8AAC-787E-47D0-81EF-590CD801C3C4}"/>
              </a:ext>
            </a:extLst>
          </p:cNvPr>
          <p:cNvSpPr>
            <a:spLocks xmlns:a="http://schemas.openxmlformats.org/drawingml/2006/main" noGrp="1"/>
          </p:cNvSpPr>
          <p:nvPr/>
        </p:nvSpPr>
        <p:spPr>
          <a:xfrm xmlns:a="http://schemas.openxmlformats.org/drawingml/2006/main">
            <a:off x="9089136" y="2157984"/>
            <a:ext cx="1984248" cy="14264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Present practical checks and controllable response options</a:t>
            </a:r>
          </a:p>
        </p:txBody>
      </p:sp>
      <p:sp>
        <p:nvSpPr>
          <p:cNvPr id="22" name="Shape 20">
            <a:extLst xmlns:a="http://schemas.openxmlformats.org/drawingml/2006/main">
              <a:ext uri="{FF2B5EF4-FFF2-40B4-BE49-F238E27FC236}">
                <a16:creationId xmlns:a16="http://schemas.microsoft.com/office/drawing/2014/main" id="{70797C53-0E0F-4377-B7AE-EB78E409F837}"/>
              </a:ext>
            </a:extLst>
          </p:cNvPr>
          <p:cNvSpPr>
            <a:spLocks xmlns:a="http://schemas.openxmlformats.org/drawingml/2006/main" noGrp="1"/>
          </p:cNvSpPr>
          <p:nvPr/>
        </p:nvSpPr>
        <p:spPr>
          <a:xfrm xmlns:a="http://schemas.openxmlformats.org/drawingml/2006/main">
            <a:off x="3278124" y="2532887"/>
            <a:ext cx="347472" cy="310896"/>
          </a:xfrm>
          <a:prstGeom xmlns:a="http://schemas.openxmlformats.org/drawingml/2006/main" prst="chevron">
            <a:avLst/>
          </a:prstGeom>
          <a:solidFill xmlns:a="http://schemas.openxmlformats.org/drawingml/2006/main">
            <a:srgbClr val="1F5AA6"/>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994B5340-FD5A-4A4B-9D51-14AD146B0B8B}"/>
              </a:ext>
            </a:extLst>
          </p:cNvPr>
          <p:cNvSpPr>
            <a:spLocks xmlns:a="http://schemas.openxmlformats.org/drawingml/2006/main" noGrp="1"/>
          </p:cNvSpPr>
          <p:nvPr/>
        </p:nvSpPr>
        <p:spPr>
          <a:xfrm xmlns:a="http://schemas.openxmlformats.org/drawingml/2006/main">
            <a:off x="5975604" y="2532887"/>
            <a:ext cx="347472" cy="310896"/>
          </a:xfrm>
          <a:prstGeom xmlns:a="http://schemas.openxmlformats.org/drawingml/2006/main" prst="chevron">
            <a:avLst/>
          </a:prstGeom>
          <a:solidFill xmlns:a="http://schemas.openxmlformats.org/drawingml/2006/main">
            <a:srgbClr val="1F5AA6"/>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24" name="Shape 22">
            <a:extLst xmlns:a="http://schemas.openxmlformats.org/drawingml/2006/main">
              <a:ext uri="{FF2B5EF4-FFF2-40B4-BE49-F238E27FC236}">
                <a16:creationId xmlns:a16="http://schemas.microsoft.com/office/drawing/2014/main" id="{3776AAF6-6B1B-4321-87EB-5679388BF4AB}"/>
              </a:ext>
            </a:extLst>
          </p:cNvPr>
          <p:cNvSpPr>
            <a:spLocks xmlns:a="http://schemas.openxmlformats.org/drawingml/2006/main" noGrp="1"/>
          </p:cNvSpPr>
          <p:nvPr/>
        </p:nvSpPr>
        <p:spPr>
          <a:xfrm xmlns:a="http://schemas.openxmlformats.org/drawingml/2006/main">
            <a:off x="8659368" y="2532887"/>
            <a:ext cx="347472" cy="310896"/>
          </a:xfrm>
          <a:prstGeom xmlns:a="http://schemas.openxmlformats.org/drawingml/2006/main" prst="chevron">
            <a:avLst/>
          </a:prstGeom>
          <a:solidFill xmlns:a="http://schemas.openxmlformats.org/drawingml/2006/main">
            <a:srgbClr val="1F5AA6"/>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68EE6F73-FBE0-4DC7-93D7-83EBD53559F7}"/>
              </a:ext>
            </a:extLst>
          </p:cNvPr>
          <p:cNvSpPr>
            <a:spLocks xmlns:a="http://schemas.openxmlformats.org/drawingml/2006/main" noGrp="1"/>
          </p:cNvSpPr>
          <p:nvPr/>
        </p:nvSpPr>
        <p:spPr>
          <a:xfrm xmlns:a="http://schemas.openxmlformats.org/drawingml/2006/main">
            <a:off x="914400" y="4160520"/>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Logic</a:t>
            </a:r>
          </a:p>
        </p:txBody>
      </p:sp>
      <p:sp>
        <p:nvSpPr>
          <p:cNvPr id="26" name="Text 24">
            <a:extLst xmlns:a="http://schemas.openxmlformats.org/drawingml/2006/main">
              <a:ext uri="{FF2B5EF4-FFF2-40B4-BE49-F238E27FC236}">
                <a16:creationId xmlns:a16="http://schemas.microsoft.com/office/drawing/2014/main" id="{C14CAE4D-2211-4C34-AF98-EA6443A43F1E}"/>
              </a:ext>
            </a:extLst>
          </p:cNvPr>
          <p:cNvSpPr>
            <a:spLocks xmlns:a="http://schemas.openxmlformats.org/drawingml/2006/main" noGrp="1"/>
          </p:cNvSpPr>
          <p:nvPr/>
        </p:nvSpPr>
        <p:spPr>
          <a:xfrm xmlns:a="http://schemas.openxmlformats.org/drawingml/2006/main">
            <a:off x="914400" y="4480560"/>
            <a:ext cx="10058400" cy="13716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500">
                <a:solidFill>
                  <a:srgbClr val="1A1F2E"/>
                </a:solidFill>
                <a:latin typeface="Aptos"/>
                <a:ea typeface="Aptos"/>
                <a:cs typeface="Aptos"/>
              </a:rPr>
              <a:t>If EtaCO is predicted to fall, check gas flow, permeability, burden distribution, blast temperature and PCI.</a:t>
            </a:r>
          </a:p>
          <a:p xmlns:a="http://schemas.openxmlformats.org/drawingml/2006/main">
            <a:pPr marL="152400" indent="-152400">
              <a:buChar char="•"/>
            </a:pPr>
            <a:r>
              <a:rPr sz="1500">
                <a:solidFill>
                  <a:srgbClr val="1A1F2E"/>
                </a:solidFill>
                <a:latin typeface="Aptos"/>
                <a:ea typeface="Aptos"/>
                <a:cs typeface="Aptos"/>
              </a:rPr>
              <a:t>Cross-check the HMT forecast to distinguish gas-efficiency risk from thermal drift.</a:t>
            </a:r>
          </a:p>
          <a:p xmlns:a="http://schemas.openxmlformats.org/drawingml/2006/main">
            <a:pPr marL="152400" indent="-152400">
              <a:buChar char="•"/>
            </a:pPr>
            <a:r>
              <a:rPr sz="1500">
                <a:solidFill>
                  <a:srgbClr val="1A1F2E"/>
                </a:solidFill>
                <a:latin typeface="Aptos"/>
                <a:ea typeface="Aptos"/>
                <a:cs typeface="Aptos"/>
              </a:rPr>
              <a:t>Use RIST-RAFT to evaluate blast-rate and coke-rate implications before action.</a:t>
            </a:r>
          </a:p>
        </p:txBody>
      </p:sp>
    </p:spTree>
    <p:extLst>
      <p:ext uri="{BB962C8B-B14F-4D97-AF65-F5344CB8AC3E}">
        <p14:creationId xmlns:p14="http://schemas.microsoft.com/office/powerpoint/2010/main" val="20767492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F45ECF8-19DD-4ED8-A024-6B24F086ACC3}"/>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F4F0E8"/>
          </a:solidFill>
          <a:ln xmlns:a="http://schemas.openxmlformats.org/drawingml/2006/main" w="12700">
            <a:solidFill>
              <a:srgbClr val="F4F0E8">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0EE47D03-43DC-44EB-A0E1-ECBDBED22C67}"/>
              </a:ext>
            </a:extLst>
          </p:cNvPr>
          <p:cNvSpPr>
            <a:spLocks xmlns:a="http://schemas.openxmlformats.org/drawingml/2006/main" noGrp="1"/>
          </p:cNvSpPr>
          <p:nvPr/>
        </p:nvSpPr>
        <p:spPr>
          <a:xfrm xmlns:a="http://schemas.openxmlformats.org/drawingml/2006/main">
            <a:off x="10588752" y="0"/>
            <a:ext cx="1600200" cy="201168"/>
          </a:xfrm>
          <a:prstGeom xmlns:a="http://schemas.openxmlformats.org/drawingml/2006/main" prst="rect">
            <a:avLst/>
          </a:prstGeom>
          <a:solidFill xmlns:a="http://schemas.openxmlformats.org/drawingml/2006/main">
            <a:srgbClr val="1A1F2E"/>
          </a:solidFill>
          <a:ln xmlns:a="http://schemas.openxmlformats.org/drawingml/2006/main" w="12700">
            <a:solidFill>
              <a:srgbClr val="1A1F2E">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26D0A665-CCDD-4BDB-B447-FF7B85528E2F}"/>
              </a:ext>
            </a:extLst>
          </p:cNvPr>
          <p:cNvSpPr>
            <a:spLocks xmlns:a="http://schemas.openxmlformats.org/drawingml/2006/main" noGrp="1"/>
          </p:cNvSpPr>
          <p:nvPr/>
        </p:nvSpPr>
        <p:spPr>
          <a:xfrm xmlns:a="http://schemas.openxmlformats.org/drawingml/2006/main">
            <a:off x="10835640" y="347472"/>
            <a:ext cx="1005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1F5AA6"/>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0156E86B-FE19-41F6-929E-22D12BC2C177}"/>
              </a:ext>
            </a:extLst>
          </p:cNvPr>
          <p:cNvSpPr>
            <a:spLocks xmlns:a="http://schemas.openxmlformats.org/drawingml/2006/main" noGrp="1"/>
          </p:cNvSpPr>
          <p:nvPr/>
        </p:nvSpPr>
        <p:spPr>
          <a:xfrm xmlns:a="http://schemas.openxmlformats.org/drawingml/2006/main">
            <a:off x="10561320" y="594360"/>
            <a:ext cx="1234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00">
                <a:solidFill>
                  <a:srgbClr val="B63A3B"/>
                </a:solidFill>
                <a:latin typeface="Aptos"/>
                <a:ea typeface="Aptos"/>
                <a:cs typeface="Aptos"/>
              </a:rPr>
              <a:t>Better Everyday</a:t>
            </a:r>
          </a:p>
        </p:txBody>
      </p:sp>
      <p:sp>
        <p:nvSpPr>
          <p:cNvPr id="6" name="Text 4">
            <a:extLst xmlns:a="http://schemas.openxmlformats.org/drawingml/2006/main">
              <a:ext uri="{FF2B5EF4-FFF2-40B4-BE49-F238E27FC236}">
                <a16:creationId xmlns:a16="http://schemas.microsoft.com/office/drawing/2014/main" id="{1E120E5B-747B-4EF2-B236-0BDC91FD39AD}"/>
              </a:ext>
            </a:extLst>
          </p:cNvPr>
          <p:cNvSpPr>
            <a:spLocks xmlns:a="http://schemas.openxmlformats.org/drawingml/2006/main" noGrp="1"/>
          </p:cNvSpPr>
          <p:nvPr/>
        </p:nvSpPr>
        <p:spPr>
          <a:xfrm xmlns:a="http://schemas.openxmlformats.org/drawingml/2006/main">
            <a:off x="11704320" y="6537960"/>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5F6B7A"/>
                </a:solidFill>
                <a:latin typeface="Aptos"/>
                <a:ea typeface="Aptos"/>
                <a:cs typeface="Aptos"/>
              </a:rPr>
              <a:t>18</a:t>
            </a:r>
          </a:p>
        </p:txBody>
      </p:sp>
      <p:sp>
        <p:nvSpPr>
          <p:cNvPr id="7" name="Shape 5">
            <a:extLst xmlns:a="http://schemas.openxmlformats.org/drawingml/2006/main">
              <a:ext uri="{FF2B5EF4-FFF2-40B4-BE49-F238E27FC236}">
                <a16:creationId xmlns:a16="http://schemas.microsoft.com/office/drawing/2014/main" id="{EA730373-4307-4526-97F4-D32327F0141A}"/>
              </a:ext>
            </a:extLst>
          </p:cNvPr>
          <p:cNvSpPr>
            <a:spLocks xmlns:a="http://schemas.openxmlformats.org/drawingml/2006/main" noGrp="1"/>
          </p:cNvSpPr>
          <p:nvPr/>
        </p:nvSpPr>
        <p:spPr>
          <a:xfrm xmlns:a="http://schemas.openxmlformats.org/drawingml/2006/main">
            <a:off x="658368" y="658368"/>
            <a:ext cx="292608" cy="201168"/>
          </a:xfrm>
          <a:prstGeom xmlns:a="http://schemas.openxmlformats.org/drawingml/2006/main" prst="chevron">
            <a:avLst/>
          </a:prstGeom>
          <a:solidFill xmlns:a="http://schemas.openxmlformats.org/drawingml/2006/main">
            <a:srgbClr val="9E2A2B"/>
          </a:solidFill>
          <a:ln xmlns:a="http://schemas.openxmlformats.org/drawingml/2006/main" w="12700">
            <a:solidFill>
              <a:srgbClr val="9E2A2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C9F931E5-FD3F-435F-9F2A-5D953A9A9F0B}"/>
              </a:ext>
            </a:extLst>
          </p:cNvPr>
          <p:cNvSpPr>
            <a:spLocks xmlns:a="http://schemas.openxmlformats.org/drawingml/2006/main" noGrp="1"/>
          </p:cNvSpPr>
          <p:nvPr/>
        </p:nvSpPr>
        <p:spPr>
          <a:xfrm xmlns:a="http://schemas.openxmlformats.org/drawingml/2006/main">
            <a:off x="987552" y="576072"/>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4213D"/>
                </a:solidFill>
                <a:latin typeface="Aptos Display"/>
                <a:ea typeface="Aptos Display"/>
                <a:cs typeface="Aptos Display"/>
              </a:rPr>
              <a:t>Decisions and Next Steps</a:t>
            </a:r>
          </a:p>
        </p:txBody>
      </p:sp>
      <p:sp>
        <p:nvSpPr>
          <p:cNvPr id="9" name="Shape 7">
            <a:extLst xmlns:a="http://schemas.openxmlformats.org/drawingml/2006/main">
              <a:ext uri="{FF2B5EF4-FFF2-40B4-BE49-F238E27FC236}">
                <a16:creationId xmlns:a16="http://schemas.microsoft.com/office/drawing/2014/main" id="{4C83231F-2C6C-4991-A08B-388B078A9E0B}"/>
              </a:ext>
            </a:extLst>
          </p:cNvPr>
          <p:cNvSpPr>
            <a:spLocks xmlns:a="http://schemas.openxmlformats.org/drawingml/2006/main" noGrp="1"/>
          </p:cNvSpPr>
          <p:nvPr/>
        </p:nvSpPr>
        <p:spPr>
          <a:xfrm xmlns:a="http://schemas.openxmlformats.org/drawingml/2006/main">
            <a:off x="987552" y="987552"/>
            <a:ext cx="5897880" cy="0"/>
          </a:xfrm>
          <a:prstGeom xmlns:a="http://schemas.openxmlformats.org/drawingml/2006/main" prst="line">
            <a:avLst/>
          </a:prstGeom>
          <a:noFill xmlns:a="http://schemas.openxmlformats.org/drawingml/2006/main"/>
          <a:ln xmlns:a="http://schemas.openxmlformats.org/drawingml/2006/main" w="1524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7921123D-E4E1-4EAF-B39F-D018EE64A49C}"/>
              </a:ext>
            </a:extLst>
          </p:cNvPr>
          <p:cNvSpPr>
            <a:spLocks xmlns:a="http://schemas.openxmlformats.org/drawingml/2006/main" noGrp="1"/>
          </p:cNvSpPr>
          <p:nvPr/>
        </p:nvSpPr>
        <p:spPr>
          <a:xfrm xmlns:a="http://schemas.openxmlformats.org/drawingml/2006/main">
            <a:off x="960120" y="1554480"/>
            <a:ext cx="9875520" cy="27432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lstStyle xmlns:a="http://schemas.openxmlformats.org/drawingml/2006/main"/>
          <a:p xmlns:a="http://schemas.openxmlformats.org/drawingml/2006/main">
            <a:pPr marL="152400" indent="-152400">
              <a:buChar char="•"/>
            </a:pPr>
            <a:r>
              <a:rPr sz="1700">
                <a:solidFill>
                  <a:srgbClr val="1A1F2E"/>
                </a:solidFill>
                <a:latin typeface="Aptos"/>
                <a:ea typeface="Aptos"/>
                <a:cs typeface="Aptos"/>
              </a:rPr>
              <a:t>Confirm Data_1 tag definitions, sampling frequency and sensor-quality rules.</a:t>
            </a:r>
          </a:p>
          <a:p xmlns:a="http://schemas.openxmlformats.org/drawingml/2006/main">
            <a:pPr marL="152400" indent="-152400">
              <a:buChar char="•"/>
            </a:pPr>
            <a:r>
              <a:rPr sz="1700">
                <a:solidFill>
                  <a:srgbClr val="1A1F2E"/>
                </a:solidFill>
                <a:latin typeface="Aptos"/>
                <a:ea typeface="Aptos"/>
                <a:cs typeface="Aptos"/>
              </a:rPr>
              <a:t>Agree the EtaCO forecast horizon, alert threshold and acceptable error.</a:t>
            </a:r>
          </a:p>
          <a:p xmlns:a="http://schemas.openxmlformats.org/drawingml/2006/main">
            <a:pPr marL="152400" indent="-152400">
              <a:buChar char="•"/>
            </a:pPr>
            <a:r>
              <a:rPr sz="1700">
                <a:solidFill>
                  <a:srgbClr val="1A1F2E"/>
                </a:solidFill>
                <a:latin typeface="Aptos"/>
                <a:ea typeface="Aptos"/>
                <a:cs typeface="Aptos"/>
              </a:rPr>
              <a:t>Validate the XGBoost baseline on a future time block.</a:t>
            </a:r>
          </a:p>
          <a:p xmlns:a="http://schemas.openxmlformats.org/drawingml/2006/main">
            <a:pPr marL="152400" indent="-152400">
              <a:buChar char="•"/>
            </a:pPr>
            <a:r>
              <a:rPr sz="1700">
                <a:solidFill>
                  <a:srgbClr val="1A1F2E"/>
                </a:solidFill>
                <a:latin typeface="Aptos"/>
                <a:ea typeface="Aptos"/>
                <a:cs typeface="Aptos"/>
              </a:rPr>
              <a:t>Confirm whether Recipe, Cast, HM and Slag data can be linked reliably.</a:t>
            </a:r>
          </a:p>
          <a:p xmlns:a="http://schemas.openxmlformats.org/drawingml/2006/main">
            <a:pPr marL="152400" indent="-152400">
              <a:buChar char="•"/>
            </a:pPr>
            <a:r>
              <a:rPr sz="1700">
                <a:solidFill>
                  <a:srgbClr val="1A1F2E"/>
                </a:solidFill>
                <a:latin typeface="Aptos"/>
                <a:ea typeface="Aptos"/>
                <a:cs typeface="Aptos"/>
              </a:rPr>
              <a:t>Start the lag-aware GRU phase after the baseline and horizon are approved.</a:t>
            </a:r>
          </a:p>
        </p:txBody>
      </p:sp>
      <p:sp>
        <p:nvSpPr>
          <p:cNvPr id="13" name="Text 11">
            <a:extLst xmlns:a="http://schemas.openxmlformats.org/drawingml/2006/main">
              <a:ext uri="{FF2B5EF4-FFF2-40B4-BE49-F238E27FC236}">
                <a16:creationId xmlns:a16="http://schemas.microsoft.com/office/drawing/2014/main" id="{04672C2A-5D12-4AD0-8F62-32694AE2DB62}"/>
              </a:ext>
            </a:extLst>
          </p:cNvPr>
          <p:cNvSpPr>
            <a:spLocks xmlns:a="http://schemas.openxmlformats.org/drawingml/2006/main" noGrp="1"/>
          </p:cNvSpPr>
          <p:nvPr/>
        </p:nvSpPr>
        <p:spPr>
          <a:xfrm xmlns:a="http://schemas.openxmlformats.org/drawingml/2006/main">
            <a:off x="1042416" y="5175504"/>
            <a:ext cx="431596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p>
        </p:txBody>
      </p:sp>
      <p:sp>
        <p:nvSpPr>
          <p:cNvPr id="14" name="Shape 12">
            <a:extLst xmlns:a="http://schemas.openxmlformats.org/drawingml/2006/main">
              <a:ext uri="{FF2B5EF4-FFF2-40B4-BE49-F238E27FC236}">
                <a16:creationId xmlns:a16="http://schemas.microsoft.com/office/drawing/2014/main" id="{D8444706-A8E8-46A8-9AD4-CFEEB035C4E4}"/>
              </a:ext>
            </a:extLst>
          </p:cNvPr>
          <p:cNvSpPr>
            <a:spLocks xmlns:a="http://schemas.openxmlformats.org/drawingml/2006/main" noGrp="1"/>
          </p:cNvSpPr>
          <p:nvPr/>
        </p:nvSpPr>
        <p:spPr>
          <a:xfrm xmlns:a="http://schemas.openxmlformats.org/drawingml/2006/main">
            <a:off x="950976" y="4864607"/>
            <a:ext cx="5486400" cy="1097280"/>
          </a:xfrm>
          <a:prstGeom xmlns:a="http://schemas.openxmlformats.org/drawingml/2006/main" prst="roundRect">
            <a:avLst>
              <a:gd name="adj" fmla="val 4167"/>
            </a:avLst>
          </a:prstGeom>
          <a:solidFill xmlns:a="http://schemas.openxmlformats.org/drawingml/2006/main">
            <a:srgbClr val="EAF2FF"/>
          </a:solidFill>
          <a:ln xmlns:a="http://schemas.openxmlformats.org/drawingml/2006/main" w="12700">
            <a:solidFill>
              <a:srgbClr val="D9D4CA"/>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EF1EE78D-E1B6-4DCD-A165-317EFE5F3F13}"/>
              </a:ext>
            </a:extLst>
          </p:cNvPr>
          <p:cNvSpPr>
            <a:spLocks xmlns:a="http://schemas.openxmlformats.org/drawingml/2006/main" noGrp="1"/>
          </p:cNvSpPr>
          <p:nvPr/>
        </p:nvSpPr>
        <p:spPr>
          <a:xfrm xmlns:a="http://schemas.openxmlformats.org/drawingml/2006/main">
            <a:off x="1078992" y="4956047"/>
            <a:ext cx="52303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213D"/>
                </a:solidFill>
                <a:latin typeface="Aptos Display"/>
                <a:ea typeface="Aptos Display"/>
                <a:cs typeface="Aptos Display"/>
              </a:rPr>
              <a:t>Inputs to confirm</a:t>
            </a:r>
          </a:p>
        </p:txBody>
      </p:sp>
      <p:sp>
        <p:nvSpPr>
          <p:cNvPr id="16" name="Text 14">
            <a:extLst xmlns:a="http://schemas.openxmlformats.org/drawingml/2006/main">
              <a:ext uri="{FF2B5EF4-FFF2-40B4-BE49-F238E27FC236}">
                <a16:creationId xmlns:a16="http://schemas.microsoft.com/office/drawing/2014/main" id="{C90E93DB-3D6E-46C4-BE7C-07B7589A6C16}"/>
              </a:ext>
            </a:extLst>
          </p:cNvPr>
          <p:cNvSpPr>
            <a:spLocks xmlns:a="http://schemas.openxmlformats.org/drawingml/2006/main" noGrp="1"/>
          </p:cNvSpPr>
          <p:nvPr/>
        </p:nvSpPr>
        <p:spPr>
          <a:xfrm xmlns:a="http://schemas.openxmlformats.org/drawingml/2006/main">
            <a:off x="1078992" y="5193791"/>
            <a:ext cx="523036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1A1F2E"/>
                </a:solidFill>
                <a:latin typeface="Aptos"/>
                <a:ea typeface="Aptos"/>
                <a:cs typeface="Aptos"/>
              </a:rPr>
              <a:t>Permeability / burden / gas-flow model outputs, RIST-RAFT integration, operating constraints and plant sign-off criteria.</a:t>
            </a:r>
          </a:p>
        </p:txBody>
      </p:sp>
    </p:spTree>
    <p:extLst>
      <p:ext uri="{BB962C8B-B14F-4D97-AF65-F5344CB8AC3E}">
        <p14:creationId xmlns:p14="http://schemas.microsoft.com/office/powerpoint/2010/main" val="1905171678"/>
      </p:ext>
    </p:extLst>
  </p:cSld>
</p:sld>
</file>

<file path=ppt/slides/slide19.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263A3F6-4C79-4F5C-8777-2A2EE3DD54F5}"/>
              </a:ext>
            </a:extLst>
          </p:cNvPr>
          <p:cNvSpPr>
            <a:spLocks xmlns:a="http://schemas.openxmlformats.org/drawingml/2006/main" noGrp="1"/>
          </p:cNvSpPr>
          <p:nvPr/>
        </p:nvSpPr>
        <p:spPr>
          <a:xfrm xmlns:a="http://schemas.openxmlformats.org/drawingml/2006/main">
            <a:off x="8458200" y="0"/>
            <a:ext cx="3730752" cy="1005840"/>
          </a:xfrm>
          <a:prstGeom xmlns:a="http://schemas.openxmlformats.org/drawingml/2006/main" prst="rect">
            <a:avLst/>
          </a:prstGeom>
          <a:solidFill xmlns:a="http://schemas.openxmlformats.org/drawingml/2006/main">
            <a:srgbClr val="1F5AA6">
              <a:alpha val="92000"/>
            </a:srgbClr>
          </a:solidFill>
          <a:ln xmlns:a="http://schemas.openxmlformats.org/drawingml/2006/main" w="12700">
            <a:solidFill>
              <a:srgbClr val="1F5AA6">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26EAE769-B323-4632-A4F5-5BFF37A79C21}"/>
              </a:ext>
            </a:extLst>
          </p:cNvPr>
          <p:cNvSpPr>
            <a:spLocks xmlns:a="http://schemas.openxmlformats.org/drawingml/2006/main" noGrp="1"/>
          </p:cNvSpPr>
          <p:nvPr/>
        </p:nvSpPr>
        <p:spPr>
          <a:xfrm xmlns:a="http://schemas.openxmlformats.org/drawingml/2006/main">
            <a:off x="10058400" y="0"/>
            <a:ext cx="2130552" cy="1005840"/>
          </a:xfrm>
          <a:prstGeom xmlns:a="http://schemas.openxmlformats.org/drawingml/2006/main" prst="rect">
            <a:avLst/>
          </a:prstGeom>
          <a:solidFill xmlns:a="http://schemas.openxmlformats.org/drawingml/2006/main">
            <a:srgbClr val="B63A3B">
              <a:alpha val="92000"/>
            </a:srgbClr>
          </a:solidFill>
          <a:ln xmlns:a="http://schemas.openxmlformats.org/drawingml/2006/main" w="12700">
            <a:solidFill>
              <a:srgbClr val="B63A3B">
                <a:alpha val="0"/>
              </a:srgbClr>
            </a:solidFill>
            <a:prstDash val="solid"/>
          </a:ln>
        </p:spPr>
        <p:txBody>
          <a:bodyPr xmlns:a="http://schemas.openxmlformats.org/drawingml/2006/main"/>
          <a:lstStyle xmlns:a="http://schemas.openxmlformats.org/drawingml/2006/main"/>
          <a:p xmlns:a="http://schemas.openxmlformats.org/drawingml/2006/main"/>
        </p:txBody>
      </p:sp>
      <p:sp>
        <p:nvSpPr>
          <p:cNvPr id="4" name="Text 2">
            <a:extLst xmlns:a="http://schemas.openxmlformats.org/drawingml/2006/main">
              <a:ext uri="{FF2B5EF4-FFF2-40B4-BE49-F238E27FC236}">
                <a16:creationId xmlns:a16="http://schemas.microsoft.com/office/drawing/2014/main" id="{3CBB11E4-91ED-4DCD-98F5-696C1DDD5DB6}"/>
              </a:ext>
            </a:extLst>
          </p:cNvPr>
          <p:cNvSpPr>
            <a:spLocks xmlns:a="http://schemas.openxmlformats.org/drawingml/2006/main" noGrp="1"/>
          </p:cNvSpPr>
          <p:nvPr/>
        </p:nvSpPr>
        <p:spPr>
          <a:xfrm xmlns:a="http://schemas.openxmlformats.org/drawingml/2006/main">
            <a:off x="10652760" y="320040"/>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600" b="1">
                <a:solidFill>
                  <a:srgbClr val="FFFFFF"/>
                </a:solidFill>
                <a:latin typeface="Aptos Display"/>
                <a:ea typeface="Aptos Display"/>
                <a:cs typeface="Aptos Display"/>
              </a:rPr>
              <a:t>JSW</a:t>
            </a:r>
          </a:p>
        </p:txBody>
      </p:sp>
      <p:sp>
        <p:nvSpPr>
          <p:cNvPr id="5" name="Text 3">
            <a:extLst xmlns:a="http://schemas.openxmlformats.org/drawingml/2006/main">
              <a:ext uri="{FF2B5EF4-FFF2-40B4-BE49-F238E27FC236}">
                <a16:creationId xmlns:a16="http://schemas.microsoft.com/office/drawing/2014/main" id="{DE823FC6-93AA-4B36-8853-AB619AB59C63}"/>
              </a:ext>
            </a:extLst>
          </p:cNvPr>
          <p:cNvSpPr>
            <a:spLocks xmlns:a="http://schemas.openxmlformats.org/drawingml/2006/main" noGrp="1"/>
          </p:cNvSpPr>
          <p:nvPr/>
        </p:nvSpPr>
        <p:spPr>
          <a:xfrm xmlns:a="http://schemas.openxmlformats.org/drawingml/2006/main">
            <a:off x="1192721" y="4217670"/>
            <a:ext cx="3291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FFFFFF"/>
                </a:solidFill>
                <a:latin typeface="Aptos Display"/>
                <a:ea typeface="Aptos Display"/>
                <a:cs typeface="Aptos Display"/>
              </a:rPr>
              <a:t>Thank You</a:t>
            </a:r>
          </a:p>
        </p:txBody>
      </p:sp>
    </p:spTree>
    <p:extLst>
      <p:ext uri="{BB962C8B-B14F-4D97-AF65-F5344CB8AC3E}">
        <p14:creationId xmlns:p14="http://schemas.microsoft.com/office/powerpoint/2010/main" val="10306369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2026-07-15T03:05:24.1810000Z</dcterms:created>
  <dcterms:modified xsi:type="dcterms:W3CDTF">2026-07-15T03:05:24.1810000Z</dcterms:modified>
</coreProperties>
</file>